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tma" panose="020B0604020202020204" charset="0"/>
      <p:regular r:id="rId7"/>
    </p:embeddedFont>
    <p:embeddedFont>
      <p:font typeface="Atma Medium" panose="020B0604020202020204" charset="0"/>
      <p:regular r:id="rId8"/>
    </p:embeddedFont>
    <p:embeddedFont>
      <p:font typeface="Bobby Jones" panose="020B0604020202020204" charset="0"/>
      <p:regular r:id="rId9"/>
    </p:embeddedFont>
    <p:embeddedFont>
      <p:font typeface="Glacial Indifference" panose="020B0604020202020204" charset="0"/>
      <p:regular r:id="rId10"/>
    </p:embeddedFont>
    <p:embeddedFont>
      <p:font typeface="Open Sans" panose="020B0606030504020204" pitchFamily="34" charset="0"/>
      <p:regular r:id="rId11"/>
    </p:embeddedFont>
    <p:embeddedFont>
      <p:font typeface="Open Sans Bold" panose="020B0806030504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itpn.mx/recursosisc/3semestre/estructuradedatos/Unidad%20IV.pdf" TargetMode="External"/><Relationship Id="rId2" Type="http://schemas.openxmlformats.org/officeDocument/2006/relationships/hyperlink" Target="https://estructuradedatosfimeuanl.es.tl/Unidad-5.htm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estructuradedatos10111248.blogspot.com/2015/07/estructuras-lineales-y-no-lineales.html" TargetMode="External"/><Relationship Id="rId4" Type="http://schemas.openxmlformats.org/officeDocument/2006/relationships/hyperlink" Target="https://es.slideshare.net/slideshow/estructura-de-datos-estructuras-no-lineales/6637700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3635" y="2090057"/>
            <a:ext cx="8254878" cy="7682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Instituto Tecnológico de Frontera Comalapa</a:t>
            </a:r>
          </a:p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  <a:p>
            <a:pPr algn="ctr">
              <a:lnSpc>
                <a:spcPts val="2923"/>
              </a:lnSpc>
              <a:spcBef>
                <a:spcPct val="0"/>
              </a:spcBef>
            </a:pPr>
            <a:endParaRPr lang="en-US" sz="2634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Estructura de Datos</a:t>
            </a:r>
          </a:p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Quinto semestre </a:t>
            </a:r>
          </a:p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Ingeniería en Sistemas Computacionales.</a:t>
            </a:r>
          </a:p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Numero de control:</a:t>
            </a:r>
          </a:p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231260014</a:t>
            </a:r>
          </a:p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Nombre del alumno: </a:t>
            </a:r>
          </a:p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Cynthia Jasmine Morales Torres</a:t>
            </a:r>
          </a:p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Nombre del docente: </a:t>
            </a:r>
          </a:p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Ing. Francisco Javier Mingo Velazquez</a:t>
            </a:r>
          </a:p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4.1 Mapa Mental</a:t>
            </a:r>
          </a:p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Fecha de entrega:</a:t>
            </a:r>
          </a:p>
          <a:p>
            <a:pPr algn="ctr">
              <a:lnSpc>
                <a:spcPts val="2923"/>
              </a:lnSpc>
              <a:spcBef>
                <a:spcPct val="0"/>
              </a:spcBef>
            </a:pPr>
            <a:endParaRPr lang="en-US" sz="2634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6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Frontera Comalapa, Chiapas. A 13 de diciembre de 2025</a:t>
            </a:r>
          </a:p>
        </p:txBody>
      </p:sp>
      <p:sp>
        <p:nvSpPr>
          <p:cNvPr id="3" name="Freeform 3"/>
          <p:cNvSpPr/>
          <p:nvPr/>
        </p:nvSpPr>
        <p:spPr>
          <a:xfrm>
            <a:off x="3255725" y="514350"/>
            <a:ext cx="3135296" cy="1339792"/>
          </a:xfrm>
          <a:custGeom>
            <a:avLst/>
            <a:gdLst/>
            <a:ahLst/>
            <a:cxnLst/>
            <a:rect l="l" t="t" r="r" b="b"/>
            <a:pathLst>
              <a:path w="3135296" h="1339792">
                <a:moveTo>
                  <a:pt x="0" y="0"/>
                </a:moveTo>
                <a:lnTo>
                  <a:pt x="3135296" y="0"/>
                </a:lnTo>
                <a:lnTo>
                  <a:pt x="3135296" y="1339792"/>
                </a:lnTo>
                <a:lnTo>
                  <a:pt x="0" y="1339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13197" y="514350"/>
            <a:ext cx="2019078" cy="1652713"/>
          </a:xfrm>
          <a:custGeom>
            <a:avLst/>
            <a:gdLst/>
            <a:ahLst/>
            <a:cxnLst/>
            <a:rect l="l" t="t" r="r" b="b"/>
            <a:pathLst>
              <a:path w="2019078" h="1652713">
                <a:moveTo>
                  <a:pt x="0" y="0"/>
                </a:moveTo>
                <a:lnTo>
                  <a:pt x="2019078" y="0"/>
                </a:lnTo>
                <a:lnTo>
                  <a:pt x="2019078" y="1652713"/>
                </a:lnTo>
                <a:lnTo>
                  <a:pt x="0" y="16527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285606" y="726141"/>
            <a:ext cx="4428347" cy="916210"/>
          </a:xfrm>
          <a:custGeom>
            <a:avLst/>
            <a:gdLst/>
            <a:ahLst/>
            <a:cxnLst/>
            <a:rect l="l" t="t" r="r" b="b"/>
            <a:pathLst>
              <a:path w="4428347" h="916210">
                <a:moveTo>
                  <a:pt x="0" y="0"/>
                </a:moveTo>
                <a:lnTo>
                  <a:pt x="4428347" y="0"/>
                </a:lnTo>
                <a:lnTo>
                  <a:pt x="4428347" y="916210"/>
                </a:lnTo>
                <a:lnTo>
                  <a:pt x="0" y="9162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67107" y="1672689"/>
            <a:ext cx="13753785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Introducción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el ámbito de las estructuras de datos, las no lineales superan las limitaciones secuenciales de arreglos o listas, habilitando conexiones múltiples entre elementos mediante nodos y punteros. Ideales para árboles y grafos, resuelven problemas reales como organizacional o rutas en mapas. Su estudio es fundamental en operaciones research y algoritmos.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52141">
            <a:off x="5835963" y="3086100"/>
            <a:ext cx="6616074" cy="4052346"/>
          </a:xfrm>
          <a:custGeom>
            <a:avLst/>
            <a:gdLst/>
            <a:ahLst/>
            <a:cxnLst/>
            <a:rect l="l" t="t" r="r" b="b"/>
            <a:pathLst>
              <a:path w="6616074" h="4052346">
                <a:moveTo>
                  <a:pt x="0" y="0"/>
                </a:moveTo>
                <a:lnTo>
                  <a:pt x="6616074" y="0"/>
                </a:lnTo>
                <a:lnTo>
                  <a:pt x="6616074" y="4052346"/>
                </a:lnTo>
                <a:lnTo>
                  <a:pt x="0" y="4052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517631" y="4324952"/>
            <a:ext cx="5784705" cy="1837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3"/>
              </a:lnSpc>
            </a:pPr>
            <a:r>
              <a:rPr lang="en-US" sz="7711">
                <a:solidFill>
                  <a:srgbClr val="2E2B2B"/>
                </a:solidFill>
                <a:latin typeface="Bobby Jones"/>
                <a:ea typeface="Bobby Jones"/>
                <a:cs typeface="Bobby Jones"/>
                <a:sym typeface="Bobby Jones"/>
              </a:rPr>
              <a:t>ESTRUCTURAS NO LINEALES</a:t>
            </a:r>
          </a:p>
        </p:txBody>
      </p:sp>
      <p:sp>
        <p:nvSpPr>
          <p:cNvPr id="4" name="Freeform 4"/>
          <p:cNvSpPr/>
          <p:nvPr/>
        </p:nvSpPr>
        <p:spPr>
          <a:xfrm>
            <a:off x="15443791" y="-2138029"/>
            <a:ext cx="4618653" cy="4114800"/>
          </a:xfrm>
          <a:custGeom>
            <a:avLst/>
            <a:gdLst/>
            <a:ahLst/>
            <a:cxnLst/>
            <a:rect l="l" t="t" r="r" b="b"/>
            <a:pathLst>
              <a:path w="4618653" h="4114800">
                <a:moveTo>
                  <a:pt x="0" y="0"/>
                </a:moveTo>
                <a:lnTo>
                  <a:pt x="4618654" y="0"/>
                </a:lnTo>
                <a:lnTo>
                  <a:pt x="46186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169075" y="1028700"/>
            <a:ext cx="3958175" cy="3857421"/>
          </a:xfrm>
          <a:custGeom>
            <a:avLst/>
            <a:gdLst/>
            <a:ahLst/>
            <a:cxnLst/>
            <a:rect l="l" t="t" r="r" b="b"/>
            <a:pathLst>
              <a:path w="3958175" h="3857421">
                <a:moveTo>
                  <a:pt x="0" y="0"/>
                </a:moveTo>
                <a:lnTo>
                  <a:pt x="3958174" y="0"/>
                </a:lnTo>
                <a:lnTo>
                  <a:pt x="3958174" y="3857421"/>
                </a:lnTo>
                <a:lnTo>
                  <a:pt x="0" y="3857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169075" y="5190921"/>
            <a:ext cx="4584043" cy="4467359"/>
          </a:xfrm>
          <a:custGeom>
            <a:avLst/>
            <a:gdLst/>
            <a:ahLst/>
            <a:cxnLst/>
            <a:rect l="l" t="t" r="r" b="b"/>
            <a:pathLst>
              <a:path w="4584043" h="4467359">
                <a:moveTo>
                  <a:pt x="0" y="0"/>
                </a:moveTo>
                <a:lnTo>
                  <a:pt x="4584043" y="0"/>
                </a:lnTo>
                <a:lnTo>
                  <a:pt x="4584043" y="4467359"/>
                </a:lnTo>
                <a:lnTo>
                  <a:pt x="0" y="44673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1028700"/>
            <a:ext cx="3958175" cy="3857421"/>
          </a:xfrm>
          <a:custGeom>
            <a:avLst/>
            <a:gdLst/>
            <a:ahLst/>
            <a:cxnLst/>
            <a:rect l="l" t="t" r="r" b="b"/>
            <a:pathLst>
              <a:path w="3958175" h="3857421">
                <a:moveTo>
                  <a:pt x="0" y="0"/>
                </a:moveTo>
                <a:lnTo>
                  <a:pt x="3958175" y="0"/>
                </a:lnTo>
                <a:lnTo>
                  <a:pt x="3958175" y="3857421"/>
                </a:lnTo>
                <a:lnTo>
                  <a:pt x="0" y="3857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9350505">
            <a:off x="-1043057" y="8295531"/>
            <a:ext cx="4618653" cy="4114800"/>
          </a:xfrm>
          <a:custGeom>
            <a:avLst/>
            <a:gdLst/>
            <a:ahLst/>
            <a:cxnLst/>
            <a:rect l="l" t="t" r="r" b="b"/>
            <a:pathLst>
              <a:path w="4618653" h="4114800">
                <a:moveTo>
                  <a:pt x="0" y="0"/>
                </a:moveTo>
                <a:lnTo>
                  <a:pt x="4618653" y="0"/>
                </a:lnTo>
                <a:lnTo>
                  <a:pt x="4618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28700" y="5400879"/>
            <a:ext cx="3958175" cy="3857421"/>
          </a:xfrm>
          <a:custGeom>
            <a:avLst/>
            <a:gdLst/>
            <a:ahLst/>
            <a:cxnLst/>
            <a:rect l="l" t="t" r="r" b="b"/>
            <a:pathLst>
              <a:path w="3958175" h="3857421">
                <a:moveTo>
                  <a:pt x="0" y="0"/>
                </a:moveTo>
                <a:lnTo>
                  <a:pt x="3958175" y="0"/>
                </a:lnTo>
                <a:lnTo>
                  <a:pt x="3958175" y="3857421"/>
                </a:lnTo>
                <a:lnTo>
                  <a:pt x="0" y="3857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313364" flipV="1">
            <a:off x="6918539" y="8116709"/>
            <a:ext cx="4462676" cy="1939236"/>
          </a:xfrm>
          <a:custGeom>
            <a:avLst/>
            <a:gdLst/>
            <a:ahLst/>
            <a:cxnLst/>
            <a:rect l="l" t="t" r="r" b="b"/>
            <a:pathLst>
              <a:path w="4462676" h="1939236">
                <a:moveTo>
                  <a:pt x="0" y="1939236"/>
                </a:moveTo>
                <a:lnTo>
                  <a:pt x="4462676" y="1939236"/>
                </a:lnTo>
                <a:lnTo>
                  <a:pt x="4462676" y="0"/>
                </a:lnTo>
                <a:lnTo>
                  <a:pt x="0" y="0"/>
                </a:lnTo>
                <a:lnTo>
                  <a:pt x="0" y="193923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313364" flipV="1">
            <a:off x="6748278" y="382363"/>
            <a:ext cx="5196093" cy="2257939"/>
          </a:xfrm>
          <a:custGeom>
            <a:avLst/>
            <a:gdLst/>
            <a:ahLst/>
            <a:cxnLst/>
            <a:rect l="l" t="t" r="r" b="b"/>
            <a:pathLst>
              <a:path w="5196093" h="2257939">
                <a:moveTo>
                  <a:pt x="0" y="2257938"/>
                </a:moveTo>
                <a:lnTo>
                  <a:pt x="5196093" y="2257938"/>
                </a:lnTo>
                <a:lnTo>
                  <a:pt x="5196093" y="0"/>
                </a:lnTo>
                <a:lnTo>
                  <a:pt x="0" y="0"/>
                </a:lnTo>
                <a:lnTo>
                  <a:pt x="0" y="225793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033153">
            <a:off x="5278873" y="2872010"/>
            <a:ext cx="1590813" cy="846259"/>
          </a:xfrm>
          <a:custGeom>
            <a:avLst/>
            <a:gdLst/>
            <a:ahLst/>
            <a:cxnLst/>
            <a:rect l="l" t="t" r="r" b="b"/>
            <a:pathLst>
              <a:path w="1590813" h="846259">
                <a:moveTo>
                  <a:pt x="0" y="0"/>
                </a:moveTo>
                <a:lnTo>
                  <a:pt x="1590814" y="0"/>
                </a:lnTo>
                <a:lnTo>
                  <a:pt x="1590814" y="846259"/>
                </a:lnTo>
                <a:lnTo>
                  <a:pt x="0" y="8462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0137810">
            <a:off x="11285693" y="7107481"/>
            <a:ext cx="1590813" cy="846259"/>
          </a:xfrm>
          <a:custGeom>
            <a:avLst/>
            <a:gdLst/>
            <a:ahLst/>
            <a:cxnLst/>
            <a:rect l="l" t="t" r="r" b="b"/>
            <a:pathLst>
              <a:path w="1590813" h="846259">
                <a:moveTo>
                  <a:pt x="0" y="0"/>
                </a:moveTo>
                <a:lnTo>
                  <a:pt x="1590813" y="0"/>
                </a:lnTo>
                <a:lnTo>
                  <a:pt x="1590813" y="846259"/>
                </a:lnTo>
                <a:lnTo>
                  <a:pt x="0" y="8462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8963147" flipV="1">
            <a:off x="11445073" y="2828146"/>
            <a:ext cx="1590813" cy="846259"/>
          </a:xfrm>
          <a:custGeom>
            <a:avLst/>
            <a:gdLst/>
            <a:ahLst/>
            <a:cxnLst/>
            <a:rect l="l" t="t" r="r" b="b"/>
            <a:pathLst>
              <a:path w="1590813" h="846259">
                <a:moveTo>
                  <a:pt x="0" y="846259"/>
                </a:moveTo>
                <a:lnTo>
                  <a:pt x="1590813" y="846259"/>
                </a:lnTo>
                <a:lnTo>
                  <a:pt x="1590813" y="0"/>
                </a:lnTo>
                <a:lnTo>
                  <a:pt x="0" y="0"/>
                </a:lnTo>
                <a:lnTo>
                  <a:pt x="0" y="846259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2250462" flipV="1">
            <a:off x="5080072" y="7218266"/>
            <a:ext cx="1590813" cy="846259"/>
          </a:xfrm>
          <a:custGeom>
            <a:avLst/>
            <a:gdLst/>
            <a:ahLst/>
            <a:cxnLst/>
            <a:rect l="l" t="t" r="r" b="b"/>
            <a:pathLst>
              <a:path w="1590813" h="846259">
                <a:moveTo>
                  <a:pt x="0" y="846259"/>
                </a:moveTo>
                <a:lnTo>
                  <a:pt x="1590813" y="846259"/>
                </a:lnTo>
                <a:lnTo>
                  <a:pt x="1590813" y="0"/>
                </a:lnTo>
                <a:lnTo>
                  <a:pt x="0" y="0"/>
                </a:lnTo>
                <a:lnTo>
                  <a:pt x="0" y="846259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4931732">
            <a:off x="8412673" y="2670300"/>
            <a:ext cx="1474408" cy="403619"/>
          </a:xfrm>
          <a:custGeom>
            <a:avLst/>
            <a:gdLst/>
            <a:ahLst/>
            <a:cxnLst/>
            <a:rect l="l" t="t" r="r" b="b"/>
            <a:pathLst>
              <a:path w="1474408" h="403619">
                <a:moveTo>
                  <a:pt x="0" y="0"/>
                </a:moveTo>
                <a:lnTo>
                  <a:pt x="1474408" y="0"/>
                </a:lnTo>
                <a:lnTo>
                  <a:pt x="1474408" y="403619"/>
                </a:lnTo>
                <a:lnTo>
                  <a:pt x="0" y="4036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4931732" flipH="1">
            <a:off x="8406796" y="7309751"/>
            <a:ext cx="1474408" cy="403619"/>
          </a:xfrm>
          <a:custGeom>
            <a:avLst/>
            <a:gdLst/>
            <a:ahLst/>
            <a:cxnLst/>
            <a:rect l="l" t="t" r="r" b="b"/>
            <a:pathLst>
              <a:path w="1474408" h="403619">
                <a:moveTo>
                  <a:pt x="1474408" y="0"/>
                </a:moveTo>
                <a:lnTo>
                  <a:pt x="0" y="0"/>
                </a:lnTo>
                <a:lnTo>
                  <a:pt x="0" y="403619"/>
                </a:lnTo>
                <a:lnTo>
                  <a:pt x="1474408" y="403619"/>
                </a:lnTo>
                <a:lnTo>
                  <a:pt x="1474408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635080">
            <a:off x="5530454" y="4020742"/>
            <a:ext cx="690049" cy="990933"/>
          </a:xfrm>
          <a:custGeom>
            <a:avLst/>
            <a:gdLst/>
            <a:ahLst/>
            <a:cxnLst/>
            <a:rect l="l" t="t" r="r" b="b"/>
            <a:pathLst>
              <a:path w="690049" h="990933">
                <a:moveTo>
                  <a:pt x="0" y="0"/>
                </a:moveTo>
                <a:lnTo>
                  <a:pt x="690049" y="0"/>
                </a:lnTo>
                <a:lnTo>
                  <a:pt x="690049" y="990933"/>
                </a:lnTo>
                <a:lnTo>
                  <a:pt x="0" y="99093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478477" y="1636728"/>
            <a:ext cx="3058620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B68E9D"/>
                </a:solidFill>
                <a:latin typeface="Bobby Jones"/>
                <a:ea typeface="Bobby Jones"/>
                <a:cs typeface="Bobby Jones"/>
                <a:sym typeface="Bobby Jones"/>
              </a:rPr>
              <a:t>ventajas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01878" y="1627203"/>
            <a:ext cx="3292567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B68E9D"/>
                </a:solidFill>
                <a:latin typeface="Bobby Jones"/>
                <a:ea typeface="Bobby Jones"/>
                <a:cs typeface="Bobby Jones"/>
                <a:sym typeface="Bobby Jones"/>
              </a:rPr>
              <a:t>desventajas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33663" y="1000125"/>
            <a:ext cx="4814800" cy="120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2"/>
              </a:lnSpc>
              <a:spcBef>
                <a:spcPct val="0"/>
              </a:spcBef>
            </a:pPr>
            <a:r>
              <a:rPr lang="en-US" sz="1751">
                <a:solidFill>
                  <a:srgbClr val="000000"/>
                </a:solidFill>
                <a:latin typeface="Atma"/>
                <a:ea typeface="Atma"/>
                <a:cs typeface="Atma"/>
                <a:sym typeface="Atma"/>
              </a:rPr>
              <a:t>Las estructuras no lineales son tipos de estructuras de datos donde los elementos no siguen un orden secuencial único, permitiendo relaciones jerárquicas o complejas entre ellos, como en árboles o grafos.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19803" y="8375625"/>
            <a:ext cx="3448394" cy="1564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Atma"/>
                <a:ea typeface="Atma"/>
                <a:cs typeface="Atma"/>
                <a:sym typeface="Atma"/>
              </a:rPr>
              <a:t>Consisten en colecciones de nodos o vértices conectados por enlaces (aristas o punteros), sin una secuencia lineal fija, lo que habilita múltiples caminos de acceso.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2506950"/>
            <a:ext cx="3958175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Atma Medium"/>
                <a:ea typeface="Atma Medium"/>
                <a:cs typeface="Atma Medium"/>
                <a:sym typeface="Atma Medium"/>
              </a:rPr>
              <a:t>Manejan datos desordenados o crecientes dinámicamente; eficientes para búsquedas complejas (O(log n) en árboles balanceados).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Atma Medium"/>
              <a:ea typeface="Atma Medium"/>
              <a:cs typeface="Atma Medium"/>
              <a:sym typeface="Atma Mediu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492925" y="2506950"/>
            <a:ext cx="3301521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Atma Medium"/>
                <a:ea typeface="Atma Medium"/>
                <a:cs typeface="Atma Medium"/>
                <a:sym typeface="Atma Medium"/>
              </a:rPr>
              <a:t>Requieren punteros y más memoria; algoritmos de recorrido (preorden, DFS) son complejos y propensos a errores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59551" y="5868836"/>
            <a:ext cx="3074899" cy="348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Atma Medium"/>
                <a:ea typeface="Atma Medium"/>
                <a:cs typeface="Atma Medium"/>
                <a:sym typeface="Atma Medium"/>
              </a:rPr>
              <a:t>Árboles: Estructura jerárquica con un nodo raíz y subárboles; cada nodo tiene un padre único pero múltiples hijos (ej. binarios: máximo 2 hijos).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Atma Medium"/>
              <a:ea typeface="Atma Medium"/>
              <a:cs typeface="Atma Medium"/>
              <a:sym typeface="Atma Medium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295222" y="5762135"/>
            <a:ext cx="4199389" cy="436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Atma Medium"/>
                <a:ea typeface="Atma Medium"/>
                <a:cs typeface="Atma Medium"/>
                <a:sym typeface="Atma Medium"/>
              </a:rPr>
              <a:t>Grafos: Conjunto de vértices y aristas que representan conexiones arbitrarias, dirigidas o no, con posibles ciclos.</a:t>
            </a:r>
          </a:p>
          <a:p>
            <a:pPr marL="539749" lvl="1" indent="-269875" algn="ctr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Atma Medium"/>
                <a:ea typeface="Atma Medium"/>
                <a:cs typeface="Atma Medium"/>
                <a:sym typeface="Atma Medium"/>
              </a:rPr>
              <a:t>Tablas hash: Acceso no secuencial vía funciones de dispersión para búsquedas rápidas.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Atma Medium"/>
              <a:ea typeface="Atma Medium"/>
              <a:cs typeface="Atma Medium"/>
              <a:sym typeface="Atma Medium"/>
            </a:endParaRPr>
          </a:p>
        </p:txBody>
      </p:sp>
      <p:sp>
        <p:nvSpPr>
          <p:cNvPr id="27" name="Freeform 27"/>
          <p:cNvSpPr/>
          <p:nvPr/>
        </p:nvSpPr>
        <p:spPr>
          <a:xfrm rot="-10156883">
            <a:off x="11957312" y="5971986"/>
            <a:ext cx="690049" cy="990933"/>
          </a:xfrm>
          <a:custGeom>
            <a:avLst/>
            <a:gdLst/>
            <a:ahLst/>
            <a:cxnLst/>
            <a:rect l="l" t="t" r="r" b="b"/>
            <a:pathLst>
              <a:path w="690049" h="990933">
                <a:moveTo>
                  <a:pt x="0" y="0"/>
                </a:moveTo>
                <a:lnTo>
                  <a:pt x="690049" y="0"/>
                </a:lnTo>
                <a:lnTo>
                  <a:pt x="690049" y="990932"/>
                </a:lnTo>
                <a:lnTo>
                  <a:pt x="0" y="9909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20373" y="2686219"/>
            <a:ext cx="14447253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Conclusión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estructuras no lineales ofrecen flexibilidad para datos dinámicos, aunque demandan manejo cuidadoso de memoria y recorridos. Su implementación eficiente optimiza búsquedas y modelado en software moderno. Dominarlas fortalece el diseño de sistemas robustos en entornos computacionales.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32551" y="2373257"/>
            <a:ext cx="14022898" cy="5495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sz="269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fuentes de informacion</a:t>
            </a:r>
          </a:p>
          <a:p>
            <a:pPr marL="559859" lvl="1" indent="-279929" algn="l">
              <a:lnSpc>
                <a:spcPts val="3630"/>
              </a:lnSpc>
              <a:buFont typeface="Arial"/>
              <a:buChar char="•"/>
            </a:pPr>
            <a:r>
              <a:rPr lang="en-US" sz="259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de Datos FIME UANL. (2011, 18 de junio). Estructuras dinámicas no lineales. </a:t>
            </a:r>
            <a:r>
              <a:rPr lang="en-US" sz="2593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2" tooltip="https://estructuradedatosfimeuanl.es.tl/Unidad-5.htm"/>
              </a:rPr>
              <a:t>https://estructuradedatosfimeuanl.es.tl/Unidad-5.htm</a:t>
            </a:r>
            <a:r>
              <a:rPr lang="en-US" sz="259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​</a:t>
            </a:r>
          </a:p>
          <a:p>
            <a:pPr marL="559859" lvl="1" indent="-279929" algn="l">
              <a:lnSpc>
                <a:spcPts val="3630"/>
              </a:lnSpc>
              <a:buFont typeface="Arial"/>
              <a:buChar char="•"/>
            </a:pPr>
            <a:r>
              <a:rPr lang="en-US" sz="259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ITPN. (s. f.). Unidad IV: Estructuras no lineales. </a:t>
            </a:r>
            <a:r>
              <a:rPr lang="en-US" sz="2593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" tooltip="http://itpn.mx/recursosisc/3semestre/estructuradedatos/Unidad%20IV.pdf"/>
              </a:rPr>
              <a:t>http://itpn.mx/recursosisc/3semestre/estructuradedatos/Unidad%20IV.pdf</a:t>
            </a:r>
            <a:r>
              <a:rPr lang="en-US" sz="259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​</a:t>
            </a:r>
          </a:p>
          <a:p>
            <a:pPr marL="559859" lvl="1" indent="-279929" algn="l">
              <a:lnSpc>
                <a:spcPts val="3630"/>
              </a:lnSpc>
              <a:buFont typeface="Arial"/>
              <a:buChar char="•"/>
            </a:pPr>
            <a:r>
              <a:rPr lang="en-US" sz="259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Slideshare. (2016, 23 de septiembre). Estructura de datos - Unidad 4 Estructuras no lineales. </a:t>
            </a:r>
            <a:r>
              <a:rPr lang="en-US" sz="2593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4" tooltip="https://es.slideshare.net/slideshow/estructura-de-datos-estructuras-no-lineales/66377003"/>
              </a:rPr>
              <a:t>https://es.slideshare.net/slideshow/estructura-de-datos-estructuras-no-lineales/66377003</a:t>
            </a:r>
            <a:r>
              <a:rPr lang="en-US" sz="259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​</a:t>
            </a:r>
          </a:p>
          <a:p>
            <a:pPr marL="559859" lvl="1" indent="-279929" algn="l">
              <a:lnSpc>
                <a:spcPts val="3630"/>
              </a:lnSpc>
              <a:buFont typeface="Arial"/>
              <a:buChar char="•"/>
            </a:pPr>
            <a:r>
              <a:rPr lang="en-US" sz="259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de Datos 10111248. (2015, 1 de julio). Estructuras lineales y no lineales. </a:t>
            </a:r>
            <a:r>
              <a:rPr lang="en-US" sz="2593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5" tooltip="http://estructuradedatos10111248.blogspot.com/2015/07/estructuras-lineales-y-no-lineales.html"/>
              </a:rPr>
              <a:t>http://estructuradedatos10111248.blogspot.com/2015/07/estructuras-lineales-y-no-lineales.html</a:t>
            </a:r>
          </a:p>
          <a:p>
            <a:pPr algn="l">
              <a:lnSpc>
                <a:spcPts val="3630"/>
              </a:lnSpc>
            </a:pPr>
            <a:endParaRPr lang="en-US" sz="2593" u="sng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  <a:hlinkClick r:id="rId5" tooltip="http://estructuradedatos10111248.blogspot.com/2015/07/estructuras-lineales-y-no-lineales.htm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Microsoft Office PowerPoint</Application>
  <PresentationFormat>Personalizado</PresentationFormat>
  <Paragraphs>40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4" baseType="lpstr">
      <vt:lpstr>Bobby Jones</vt:lpstr>
      <vt:lpstr>Open Sans</vt:lpstr>
      <vt:lpstr>Calibri</vt:lpstr>
      <vt:lpstr>Atma</vt:lpstr>
      <vt:lpstr>Glacial Indifference</vt:lpstr>
      <vt:lpstr>Open Sans Bold</vt:lpstr>
      <vt:lpstr>Atma Medium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4.1 Mapa Mental_Cynthia Jasmine Morales Torres</dc:title>
  <cp:lastModifiedBy>HP 840 G5</cp:lastModifiedBy>
  <cp:revision>1</cp:revision>
  <dcterms:created xsi:type="dcterms:W3CDTF">2006-08-16T00:00:00Z</dcterms:created>
  <dcterms:modified xsi:type="dcterms:W3CDTF">2025-12-11T21:36:32Z</dcterms:modified>
  <dc:identifier>DAG7PR05Td8</dc:identifier>
</cp:coreProperties>
</file>