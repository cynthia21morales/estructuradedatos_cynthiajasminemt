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4" r:id="rId6"/>
    <p:sldId id="259" r:id="rId7"/>
    <p:sldId id="262" r:id="rId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CBBDAF-C7D8-E540-335B-E4259344441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B0FF0828-739B-C601-C30B-7777B24A36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FFAF7CB3-AA46-A6AF-F35D-CBE8D543177B}"/>
              </a:ext>
            </a:extLst>
          </p:cNvPr>
          <p:cNvSpPr>
            <a:spLocks noGrp="1"/>
          </p:cNvSpPr>
          <p:nvPr>
            <p:ph type="dt" sz="half" idx="10"/>
          </p:nvPr>
        </p:nvSpPr>
        <p:spPr/>
        <p:txBody>
          <a:bodyPr/>
          <a:lstStyle/>
          <a:p>
            <a:fld id="{EFAC9756-930A-4FAB-896B-7171E694E195}" type="datetimeFigureOut">
              <a:rPr lang="es-MX" smtClean="0"/>
              <a:t>14/12/2025</a:t>
            </a:fld>
            <a:endParaRPr lang="es-MX"/>
          </a:p>
        </p:txBody>
      </p:sp>
      <p:sp>
        <p:nvSpPr>
          <p:cNvPr id="5" name="Marcador de pie de página 4">
            <a:extLst>
              <a:ext uri="{FF2B5EF4-FFF2-40B4-BE49-F238E27FC236}">
                <a16:creationId xmlns:a16="http://schemas.microsoft.com/office/drawing/2014/main" id="{49DDFEA7-6E72-03B4-3919-5745BBFDF73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916FD74-9AFF-C09D-3A35-DF2D83344F62}"/>
              </a:ext>
            </a:extLst>
          </p:cNvPr>
          <p:cNvSpPr>
            <a:spLocks noGrp="1"/>
          </p:cNvSpPr>
          <p:nvPr>
            <p:ph type="sldNum" sz="quarter" idx="12"/>
          </p:nvPr>
        </p:nvSpPr>
        <p:spPr/>
        <p:txBody>
          <a:bodyPr/>
          <a:lstStyle/>
          <a:p>
            <a:fld id="{12DDB682-EF7D-4F31-8874-84126B9158C9}" type="slidenum">
              <a:rPr lang="es-MX" smtClean="0"/>
              <a:t>‹Nº›</a:t>
            </a:fld>
            <a:endParaRPr lang="es-MX"/>
          </a:p>
        </p:txBody>
      </p:sp>
    </p:spTree>
    <p:extLst>
      <p:ext uri="{BB962C8B-B14F-4D97-AF65-F5344CB8AC3E}">
        <p14:creationId xmlns:p14="http://schemas.microsoft.com/office/powerpoint/2010/main" val="1236701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981511-25A4-7080-99A1-EFF15A310D8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1DC9BC1-9AE7-7C6E-E289-C3F0F97F1F9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F578092-3BF1-2085-785D-09B102113E09}"/>
              </a:ext>
            </a:extLst>
          </p:cNvPr>
          <p:cNvSpPr>
            <a:spLocks noGrp="1"/>
          </p:cNvSpPr>
          <p:nvPr>
            <p:ph type="dt" sz="half" idx="10"/>
          </p:nvPr>
        </p:nvSpPr>
        <p:spPr/>
        <p:txBody>
          <a:bodyPr/>
          <a:lstStyle/>
          <a:p>
            <a:fld id="{EFAC9756-930A-4FAB-896B-7171E694E195}" type="datetimeFigureOut">
              <a:rPr lang="es-MX" smtClean="0"/>
              <a:t>14/12/2025</a:t>
            </a:fld>
            <a:endParaRPr lang="es-MX"/>
          </a:p>
        </p:txBody>
      </p:sp>
      <p:sp>
        <p:nvSpPr>
          <p:cNvPr id="5" name="Marcador de pie de página 4">
            <a:extLst>
              <a:ext uri="{FF2B5EF4-FFF2-40B4-BE49-F238E27FC236}">
                <a16:creationId xmlns:a16="http://schemas.microsoft.com/office/drawing/2014/main" id="{9056C048-E5C4-A956-2834-CB8D050E5C5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7905A49-C127-DB92-1857-239B0B36B6D8}"/>
              </a:ext>
            </a:extLst>
          </p:cNvPr>
          <p:cNvSpPr>
            <a:spLocks noGrp="1"/>
          </p:cNvSpPr>
          <p:nvPr>
            <p:ph type="sldNum" sz="quarter" idx="12"/>
          </p:nvPr>
        </p:nvSpPr>
        <p:spPr/>
        <p:txBody>
          <a:bodyPr/>
          <a:lstStyle/>
          <a:p>
            <a:fld id="{12DDB682-EF7D-4F31-8874-84126B9158C9}" type="slidenum">
              <a:rPr lang="es-MX" smtClean="0"/>
              <a:t>‹Nº›</a:t>
            </a:fld>
            <a:endParaRPr lang="es-MX"/>
          </a:p>
        </p:txBody>
      </p:sp>
    </p:spTree>
    <p:extLst>
      <p:ext uri="{BB962C8B-B14F-4D97-AF65-F5344CB8AC3E}">
        <p14:creationId xmlns:p14="http://schemas.microsoft.com/office/powerpoint/2010/main" val="2971980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5A7E4E-9A9D-B9D9-4C2A-47532804F37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E0C9B8C-0179-6A95-2F52-536ED5A3F2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7AEE293-BC1D-13A5-523B-33638C714BB0}"/>
              </a:ext>
            </a:extLst>
          </p:cNvPr>
          <p:cNvSpPr>
            <a:spLocks noGrp="1"/>
          </p:cNvSpPr>
          <p:nvPr>
            <p:ph type="dt" sz="half" idx="10"/>
          </p:nvPr>
        </p:nvSpPr>
        <p:spPr/>
        <p:txBody>
          <a:bodyPr/>
          <a:lstStyle/>
          <a:p>
            <a:fld id="{EFAC9756-930A-4FAB-896B-7171E694E195}" type="datetimeFigureOut">
              <a:rPr lang="es-MX" smtClean="0"/>
              <a:t>14/12/2025</a:t>
            </a:fld>
            <a:endParaRPr lang="es-MX"/>
          </a:p>
        </p:txBody>
      </p:sp>
      <p:sp>
        <p:nvSpPr>
          <p:cNvPr id="5" name="Marcador de pie de página 4">
            <a:extLst>
              <a:ext uri="{FF2B5EF4-FFF2-40B4-BE49-F238E27FC236}">
                <a16:creationId xmlns:a16="http://schemas.microsoft.com/office/drawing/2014/main" id="{0649C764-4F95-D3F2-0FA2-FE5E45E2F04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163B5CF-1E49-04BD-7EE5-765BC5569DFA}"/>
              </a:ext>
            </a:extLst>
          </p:cNvPr>
          <p:cNvSpPr>
            <a:spLocks noGrp="1"/>
          </p:cNvSpPr>
          <p:nvPr>
            <p:ph type="sldNum" sz="quarter" idx="12"/>
          </p:nvPr>
        </p:nvSpPr>
        <p:spPr/>
        <p:txBody>
          <a:bodyPr/>
          <a:lstStyle/>
          <a:p>
            <a:fld id="{12DDB682-EF7D-4F31-8874-84126B9158C9}" type="slidenum">
              <a:rPr lang="es-MX" smtClean="0"/>
              <a:t>‹Nº›</a:t>
            </a:fld>
            <a:endParaRPr lang="es-MX"/>
          </a:p>
        </p:txBody>
      </p:sp>
    </p:spTree>
    <p:extLst>
      <p:ext uri="{BB962C8B-B14F-4D97-AF65-F5344CB8AC3E}">
        <p14:creationId xmlns:p14="http://schemas.microsoft.com/office/powerpoint/2010/main" val="3765103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4A6E77-D3EF-7913-5F23-3694C9FB6AA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0049868-1B18-645C-4102-5C20519C453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2609014D-0768-469C-1DAB-4D433E0FD1A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7CCCF09A-EED3-A68E-DE0A-FE91CD6164B5}"/>
              </a:ext>
            </a:extLst>
          </p:cNvPr>
          <p:cNvSpPr>
            <a:spLocks noGrp="1"/>
          </p:cNvSpPr>
          <p:nvPr>
            <p:ph type="dt" sz="half" idx="10"/>
          </p:nvPr>
        </p:nvSpPr>
        <p:spPr/>
        <p:txBody>
          <a:bodyPr/>
          <a:lstStyle/>
          <a:p>
            <a:fld id="{EFAC9756-930A-4FAB-896B-7171E694E195}" type="datetimeFigureOut">
              <a:rPr lang="es-MX" smtClean="0"/>
              <a:t>14/12/2025</a:t>
            </a:fld>
            <a:endParaRPr lang="es-MX"/>
          </a:p>
        </p:txBody>
      </p:sp>
      <p:sp>
        <p:nvSpPr>
          <p:cNvPr id="6" name="Marcador de pie de página 5">
            <a:extLst>
              <a:ext uri="{FF2B5EF4-FFF2-40B4-BE49-F238E27FC236}">
                <a16:creationId xmlns:a16="http://schemas.microsoft.com/office/drawing/2014/main" id="{EABA68E9-7735-6049-F538-59498E9BC7B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50420FF-FD91-AC7B-F158-8171DE90CC69}"/>
              </a:ext>
            </a:extLst>
          </p:cNvPr>
          <p:cNvSpPr>
            <a:spLocks noGrp="1"/>
          </p:cNvSpPr>
          <p:nvPr>
            <p:ph type="sldNum" sz="quarter" idx="12"/>
          </p:nvPr>
        </p:nvSpPr>
        <p:spPr/>
        <p:txBody>
          <a:bodyPr/>
          <a:lstStyle/>
          <a:p>
            <a:fld id="{12DDB682-EF7D-4F31-8874-84126B9158C9}" type="slidenum">
              <a:rPr lang="es-MX" smtClean="0"/>
              <a:t>‹Nº›</a:t>
            </a:fld>
            <a:endParaRPr lang="es-MX"/>
          </a:p>
        </p:txBody>
      </p:sp>
    </p:spTree>
    <p:extLst>
      <p:ext uri="{BB962C8B-B14F-4D97-AF65-F5344CB8AC3E}">
        <p14:creationId xmlns:p14="http://schemas.microsoft.com/office/powerpoint/2010/main" val="4279388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416EDF-7EBB-5C9E-64F3-FD47173C782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80C6DA2-F549-AE59-0A89-4D9196B6E2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8862347-3F72-35F7-E2CE-5D13B5A8C5F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EF3C0F2F-4FBF-8AAF-D5AE-B259583A44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3A29436-BBC4-5092-2076-F63AB58A03C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49B612AE-6DDD-51E7-C02C-B710DF8907C9}"/>
              </a:ext>
            </a:extLst>
          </p:cNvPr>
          <p:cNvSpPr>
            <a:spLocks noGrp="1"/>
          </p:cNvSpPr>
          <p:nvPr>
            <p:ph type="dt" sz="half" idx="10"/>
          </p:nvPr>
        </p:nvSpPr>
        <p:spPr/>
        <p:txBody>
          <a:bodyPr/>
          <a:lstStyle/>
          <a:p>
            <a:fld id="{EFAC9756-930A-4FAB-896B-7171E694E195}" type="datetimeFigureOut">
              <a:rPr lang="es-MX" smtClean="0"/>
              <a:t>14/12/2025</a:t>
            </a:fld>
            <a:endParaRPr lang="es-MX"/>
          </a:p>
        </p:txBody>
      </p:sp>
      <p:sp>
        <p:nvSpPr>
          <p:cNvPr id="8" name="Marcador de pie de página 7">
            <a:extLst>
              <a:ext uri="{FF2B5EF4-FFF2-40B4-BE49-F238E27FC236}">
                <a16:creationId xmlns:a16="http://schemas.microsoft.com/office/drawing/2014/main" id="{6D069EA1-20CE-F5CB-8D20-0A094525400B}"/>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A68BBDE5-674C-D5D6-BBCA-C63863AB6050}"/>
              </a:ext>
            </a:extLst>
          </p:cNvPr>
          <p:cNvSpPr>
            <a:spLocks noGrp="1"/>
          </p:cNvSpPr>
          <p:nvPr>
            <p:ph type="sldNum" sz="quarter" idx="12"/>
          </p:nvPr>
        </p:nvSpPr>
        <p:spPr/>
        <p:txBody>
          <a:bodyPr/>
          <a:lstStyle/>
          <a:p>
            <a:fld id="{12DDB682-EF7D-4F31-8874-84126B9158C9}" type="slidenum">
              <a:rPr lang="es-MX" smtClean="0"/>
              <a:t>‹Nº›</a:t>
            </a:fld>
            <a:endParaRPr lang="es-MX"/>
          </a:p>
        </p:txBody>
      </p:sp>
    </p:spTree>
    <p:extLst>
      <p:ext uri="{BB962C8B-B14F-4D97-AF65-F5344CB8AC3E}">
        <p14:creationId xmlns:p14="http://schemas.microsoft.com/office/powerpoint/2010/main" val="1186752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E66289-068F-1DF3-5420-4DBCE23BB58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417C217D-BE13-9991-2A51-1BE10ADDF743}"/>
              </a:ext>
            </a:extLst>
          </p:cNvPr>
          <p:cNvSpPr>
            <a:spLocks noGrp="1"/>
          </p:cNvSpPr>
          <p:nvPr>
            <p:ph type="dt" sz="half" idx="10"/>
          </p:nvPr>
        </p:nvSpPr>
        <p:spPr/>
        <p:txBody>
          <a:bodyPr/>
          <a:lstStyle/>
          <a:p>
            <a:fld id="{EFAC9756-930A-4FAB-896B-7171E694E195}" type="datetimeFigureOut">
              <a:rPr lang="es-MX" smtClean="0"/>
              <a:t>14/12/2025</a:t>
            </a:fld>
            <a:endParaRPr lang="es-MX"/>
          </a:p>
        </p:txBody>
      </p:sp>
      <p:sp>
        <p:nvSpPr>
          <p:cNvPr id="4" name="Marcador de pie de página 3">
            <a:extLst>
              <a:ext uri="{FF2B5EF4-FFF2-40B4-BE49-F238E27FC236}">
                <a16:creationId xmlns:a16="http://schemas.microsoft.com/office/drawing/2014/main" id="{10CCBE52-57D6-718D-2E03-85B8F708D5C8}"/>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F467648-0EE6-9196-2531-54D50418EF91}"/>
              </a:ext>
            </a:extLst>
          </p:cNvPr>
          <p:cNvSpPr>
            <a:spLocks noGrp="1"/>
          </p:cNvSpPr>
          <p:nvPr>
            <p:ph type="sldNum" sz="quarter" idx="12"/>
          </p:nvPr>
        </p:nvSpPr>
        <p:spPr/>
        <p:txBody>
          <a:bodyPr/>
          <a:lstStyle/>
          <a:p>
            <a:fld id="{12DDB682-EF7D-4F31-8874-84126B9158C9}" type="slidenum">
              <a:rPr lang="es-MX" smtClean="0"/>
              <a:t>‹Nº›</a:t>
            </a:fld>
            <a:endParaRPr lang="es-MX"/>
          </a:p>
        </p:txBody>
      </p:sp>
    </p:spTree>
    <p:extLst>
      <p:ext uri="{BB962C8B-B14F-4D97-AF65-F5344CB8AC3E}">
        <p14:creationId xmlns:p14="http://schemas.microsoft.com/office/powerpoint/2010/main" val="1412805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DD2AD05-F8B2-B558-0EAE-88D4703E6D35}"/>
              </a:ext>
            </a:extLst>
          </p:cNvPr>
          <p:cNvSpPr>
            <a:spLocks noGrp="1"/>
          </p:cNvSpPr>
          <p:nvPr>
            <p:ph type="dt" sz="half" idx="10"/>
          </p:nvPr>
        </p:nvSpPr>
        <p:spPr/>
        <p:txBody>
          <a:bodyPr/>
          <a:lstStyle/>
          <a:p>
            <a:fld id="{EFAC9756-930A-4FAB-896B-7171E694E195}" type="datetimeFigureOut">
              <a:rPr lang="es-MX" smtClean="0"/>
              <a:t>14/12/2025</a:t>
            </a:fld>
            <a:endParaRPr lang="es-MX"/>
          </a:p>
        </p:txBody>
      </p:sp>
      <p:sp>
        <p:nvSpPr>
          <p:cNvPr id="3" name="Marcador de pie de página 2">
            <a:extLst>
              <a:ext uri="{FF2B5EF4-FFF2-40B4-BE49-F238E27FC236}">
                <a16:creationId xmlns:a16="http://schemas.microsoft.com/office/drawing/2014/main" id="{010DCF24-D4F6-E555-A137-1191B5A6F237}"/>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7DA5D419-1943-EC7C-F939-0E26280D6C3D}"/>
              </a:ext>
            </a:extLst>
          </p:cNvPr>
          <p:cNvSpPr>
            <a:spLocks noGrp="1"/>
          </p:cNvSpPr>
          <p:nvPr>
            <p:ph type="sldNum" sz="quarter" idx="12"/>
          </p:nvPr>
        </p:nvSpPr>
        <p:spPr/>
        <p:txBody>
          <a:bodyPr/>
          <a:lstStyle/>
          <a:p>
            <a:fld id="{12DDB682-EF7D-4F31-8874-84126B9158C9}" type="slidenum">
              <a:rPr lang="es-MX" smtClean="0"/>
              <a:t>‹Nº›</a:t>
            </a:fld>
            <a:endParaRPr lang="es-MX"/>
          </a:p>
        </p:txBody>
      </p:sp>
    </p:spTree>
    <p:extLst>
      <p:ext uri="{BB962C8B-B14F-4D97-AF65-F5344CB8AC3E}">
        <p14:creationId xmlns:p14="http://schemas.microsoft.com/office/powerpoint/2010/main" val="3160467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BBA817-38E1-6118-F9B5-05B8518C7AB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C11AB6F-431F-8A05-3594-C3BD88B40D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5E65418-B663-E87A-095E-6F6BBE0B1B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EBE7D1F-F16C-05F4-6427-B76E068C3B0F}"/>
              </a:ext>
            </a:extLst>
          </p:cNvPr>
          <p:cNvSpPr>
            <a:spLocks noGrp="1"/>
          </p:cNvSpPr>
          <p:nvPr>
            <p:ph type="dt" sz="half" idx="10"/>
          </p:nvPr>
        </p:nvSpPr>
        <p:spPr/>
        <p:txBody>
          <a:bodyPr/>
          <a:lstStyle/>
          <a:p>
            <a:fld id="{EFAC9756-930A-4FAB-896B-7171E694E195}" type="datetimeFigureOut">
              <a:rPr lang="es-MX" smtClean="0"/>
              <a:t>14/12/2025</a:t>
            </a:fld>
            <a:endParaRPr lang="es-MX"/>
          </a:p>
        </p:txBody>
      </p:sp>
      <p:sp>
        <p:nvSpPr>
          <p:cNvPr id="6" name="Marcador de pie de página 5">
            <a:extLst>
              <a:ext uri="{FF2B5EF4-FFF2-40B4-BE49-F238E27FC236}">
                <a16:creationId xmlns:a16="http://schemas.microsoft.com/office/drawing/2014/main" id="{3E6BB594-B507-94E5-4055-CB0FFE85137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A372CD8-9C1A-B570-6E85-1B20780E9507}"/>
              </a:ext>
            </a:extLst>
          </p:cNvPr>
          <p:cNvSpPr>
            <a:spLocks noGrp="1"/>
          </p:cNvSpPr>
          <p:nvPr>
            <p:ph type="sldNum" sz="quarter" idx="12"/>
          </p:nvPr>
        </p:nvSpPr>
        <p:spPr/>
        <p:txBody>
          <a:bodyPr/>
          <a:lstStyle/>
          <a:p>
            <a:fld id="{12DDB682-EF7D-4F31-8874-84126B9158C9}" type="slidenum">
              <a:rPr lang="es-MX" smtClean="0"/>
              <a:t>‹Nº›</a:t>
            </a:fld>
            <a:endParaRPr lang="es-MX"/>
          </a:p>
        </p:txBody>
      </p:sp>
    </p:spTree>
    <p:extLst>
      <p:ext uri="{BB962C8B-B14F-4D97-AF65-F5344CB8AC3E}">
        <p14:creationId xmlns:p14="http://schemas.microsoft.com/office/powerpoint/2010/main" val="2234768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8E0157-2842-D2DB-25F7-BE2AB486A1C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2CA326AC-F579-BC4B-6A68-E916703C04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A0BABCC9-D830-FA2E-BFA6-C578ABF186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E21BBE5-342F-FE6A-2ECE-CD8F949A860F}"/>
              </a:ext>
            </a:extLst>
          </p:cNvPr>
          <p:cNvSpPr>
            <a:spLocks noGrp="1"/>
          </p:cNvSpPr>
          <p:nvPr>
            <p:ph type="dt" sz="half" idx="10"/>
          </p:nvPr>
        </p:nvSpPr>
        <p:spPr/>
        <p:txBody>
          <a:bodyPr/>
          <a:lstStyle/>
          <a:p>
            <a:fld id="{EFAC9756-930A-4FAB-896B-7171E694E195}" type="datetimeFigureOut">
              <a:rPr lang="es-MX" smtClean="0"/>
              <a:t>14/12/2025</a:t>
            </a:fld>
            <a:endParaRPr lang="es-MX"/>
          </a:p>
        </p:txBody>
      </p:sp>
      <p:sp>
        <p:nvSpPr>
          <p:cNvPr id="6" name="Marcador de pie de página 5">
            <a:extLst>
              <a:ext uri="{FF2B5EF4-FFF2-40B4-BE49-F238E27FC236}">
                <a16:creationId xmlns:a16="http://schemas.microsoft.com/office/drawing/2014/main" id="{D0B0E193-F13F-F25A-08A6-77D57B2BDA2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EF0DEF3-7C54-5C16-217B-BC56682988A8}"/>
              </a:ext>
            </a:extLst>
          </p:cNvPr>
          <p:cNvSpPr>
            <a:spLocks noGrp="1"/>
          </p:cNvSpPr>
          <p:nvPr>
            <p:ph type="sldNum" sz="quarter" idx="12"/>
          </p:nvPr>
        </p:nvSpPr>
        <p:spPr/>
        <p:txBody>
          <a:bodyPr/>
          <a:lstStyle/>
          <a:p>
            <a:fld id="{12DDB682-EF7D-4F31-8874-84126B9158C9}" type="slidenum">
              <a:rPr lang="es-MX" smtClean="0"/>
              <a:t>‹Nº›</a:t>
            </a:fld>
            <a:endParaRPr lang="es-MX"/>
          </a:p>
        </p:txBody>
      </p:sp>
    </p:spTree>
    <p:extLst>
      <p:ext uri="{BB962C8B-B14F-4D97-AF65-F5344CB8AC3E}">
        <p14:creationId xmlns:p14="http://schemas.microsoft.com/office/powerpoint/2010/main" val="2259441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BC3955-2116-19F3-D7CD-208EC54D5FD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9241429-BBF4-D4CB-7132-262B1A3F21B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95BB8CD-709C-56C2-314D-2D984C7CEC5D}"/>
              </a:ext>
            </a:extLst>
          </p:cNvPr>
          <p:cNvSpPr>
            <a:spLocks noGrp="1"/>
          </p:cNvSpPr>
          <p:nvPr>
            <p:ph type="dt" sz="half" idx="10"/>
          </p:nvPr>
        </p:nvSpPr>
        <p:spPr/>
        <p:txBody>
          <a:bodyPr/>
          <a:lstStyle/>
          <a:p>
            <a:fld id="{EFAC9756-930A-4FAB-896B-7171E694E195}" type="datetimeFigureOut">
              <a:rPr lang="es-MX" smtClean="0"/>
              <a:t>14/12/2025</a:t>
            </a:fld>
            <a:endParaRPr lang="es-MX"/>
          </a:p>
        </p:txBody>
      </p:sp>
      <p:sp>
        <p:nvSpPr>
          <p:cNvPr id="5" name="Marcador de pie de página 4">
            <a:extLst>
              <a:ext uri="{FF2B5EF4-FFF2-40B4-BE49-F238E27FC236}">
                <a16:creationId xmlns:a16="http://schemas.microsoft.com/office/drawing/2014/main" id="{AA423CD2-852A-AC8A-047B-77E5167FD7D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24AFEDB-4E63-0B82-4ACA-88CB3EB24D3C}"/>
              </a:ext>
            </a:extLst>
          </p:cNvPr>
          <p:cNvSpPr>
            <a:spLocks noGrp="1"/>
          </p:cNvSpPr>
          <p:nvPr>
            <p:ph type="sldNum" sz="quarter" idx="12"/>
          </p:nvPr>
        </p:nvSpPr>
        <p:spPr/>
        <p:txBody>
          <a:bodyPr/>
          <a:lstStyle/>
          <a:p>
            <a:fld id="{12DDB682-EF7D-4F31-8874-84126B9158C9}" type="slidenum">
              <a:rPr lang="es-MX" smtClean="0"/>
              <a:t>‹Nº›</a:t>
            </a:fld>
            <a:endParaRPr lang="es-MX"/>
          </a:p>
        </p:txBody>
      </p:sp>
    </p:spTree>
    <p:extLst>
      <p:ext uri="{BB962C8B-B14F-4D97-AF65-F5344CB8AC3E}">
        <p14:creationId xmlns:p14="http://schemas.microsoft.com/office/powerpoint/2010/main" val="3661301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416689E-0A92-CC45-75DE-F6A403FA702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C2CD2472-CC5C-76CB-577B-0800CF2F306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16ACDF1-C3CE-2F5D-DCDD-055A75F12A52}"/>
              </a:ext>
            </a:extLst>
          </p:cNvPr>
          <p:cNvSpPr>
            <a:spLocks noGrp="1"/>
          </p:cNvSpPr>
          <p:nvPr>
            <p:ph type="dt" sz="half" idx="10"/>
          </p:nvPr>
        </p:nvSpPr>
        <p:spPr/>
        <p:txBody>
          <a:bodyPr/>
          <a:lstStyle/>
          <a:p>
            <a:fld id="{EFAC9756-930A-4FAB-896B-7171E694E195}" type="datetimeFigureOut">
              <a:rPr lang="es-MX" smtClean="0"/>
              <a:t>14/12/2025</a:t>
            </a:fld>
            <a:endParaRPr lang="es-MX"/>
          </a:p>
        </p:txBody>
      </p:sp>
      <p:sp>
        <p:nvSpPr>
          <p:cNvPr id="5" name="Marcador de pie de página 4">
            <a:extLst>
              <a:ext uri="{FF2B5EF4-FFF2-40B4-BE49-F238E27FC236}">
                <a16:creationId xmlns:a16="http://schemas.microsoft.com/office/drawing/2014/main" id="{6F7DAB6B-8D20-54B3-5CAF-8FE58DD8643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4F16D94-E720-F945-D127-DAA6E44E37A1}"/>
              </a:ext>
            </a:extLst>
          </p:cNvPr>
          <p:cNvSpPr>
            <a:spLocks noGrp="1"/>
          </p:cNvSpPr>
          <p:nvPr>
            <p:ph type="sldNum" sz="quarter" idx="12"/>
          </p:nvPr>
        </p:nvSpPr>
        <p:spPr/>
        <p:txBody>
          <a:bodyPr/>
          <a:lstStyle/>
          <a:p>
            <a:fld id="{12DDB682-EF7D-4F31-8874-84126B9158C9}" type="slidenum">
              <a:rPr lang="es-MX" smtClean="0"/>
              <a:t>‹Nº›</a:t>
            </a:fld>
            <a:endParaRPr lang="es-MX"/>
          </a:p>
        </p:txBody>
      </p:sp>
    </p:spTree>
    <p:extLst>
      <p:ext uri="{BB962C8B-B14F-4D97-AF65-F5344CB8AC3E}">
        <p14:creationId xmlns:p14="http://schemas.microsoft.com/office/powerpoint/2010/main" val="4073998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EB18A8D-715A-04B0-2678-4C830E8301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4B910F7-5AEF-EF6D-EBCC-DEA62AD215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E8E1DC5-4560-C7BB-22EA-7BF75F4D87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C9756-930A-4FAB-896B-7171E694E195}" type="datetimeFigureOut">
              <a:rPr lang="es-MX" smtClean="0"/>
              <a:t>14/12/2025</a:t>
            </a:fld>
            <a:endParaRPr lang="es-MX"/>
          </a:p>
        </p:txBody>
      </p:sp>
      <p:sp>
        <p:nvSpPr>
          <p:cNvPr id="5" name="Marcador de pie de página 4">
            <a:extLst>
              <a:ext uri="{FF2B5EF4-FFF2-40B4-BE49-F238E27FC236}">
                <a16:creationId xmlns:a16="http://schemas.microsoft.com/office/drawing/2014/main" id="{06838DBE-1D2A-2618-CEA0-3D5DA3859F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7965C6FD-35F2-65D0-B0D1-D790EC8AED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DDB682-EF7D-4F31-8874-84126B9158C9}" type="slidenum">
              <a:rPr lang="es-MX" smtClean="0"/>
              <a:t>‹Nº›</a:t>
            </a:fld>
            <a:endParaRPr lang="es-MX"/>
          </a:p>
        </p:txBody>
      </p:sp>
    </p:spTree>
    <p:extLst>
      <p:ext uri="{BB962C8B-B14F-4D97-AF65-F5344CB8AC3E}">
        <p14:creationId xmlns:p14="http://schemas.microsoft.com/office/powerpoint/2010/main" val="65034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Cynthia21Morales/EstructuraDeDatos_CynthiaJasmineMT/tree/main/ED-Tema-4/EstructurasNoLineale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06F80EAE-B5AC-B80A-BFD0-34FDA5F52DEF}"/>
              </a:ext>
            </a:extLst>
          </p:cNvPr>
          <p:cNvSpPr txBox="1"/>
          <p:nvPr/>
        </p:nvSpPr>
        <p:spPr>
          <a:xfrm>
            <a:off x="3073400" y="863472"/>
            <a:ext cx="6045200" cy="5504327"/>
          </a:xfrm>
          <a:prstGeom prst="rect">
            <a:avLst/>
          </a:prstGeom>
        </p:spPr>
        <p:txBody>
          <a:bodyPr wrap="square" lIns="0" tIns="0" rIns="0" bIns="0" rtlCol="0" anchor="t">
            <a:spAutoFit/>
          </a:bodyPr>
          <a:lstStyle/>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Instituto </a:t>
            </a:r>
            <a:r>
              <a:rPr lang="en-US" sz="1200" b="1" dirty="0" err="1">
                <a:solidFill>
                  <a:srgbClr val="000000"/>
                </a:solidFill>
                <a:latin typeface="Century Gothic" panose="020B0502020202020204" pitchFamily="34" charset="0"/>
                <a:ea typeface="Glacial Indifference"/>
                <a:cs typeface="Glacial Indifference"/>
                <a:sym typeface="Glacial Indifference"/>
              </a:rPr>
              <a:t>Tecnológico</a:t>
            </a:r>
            <a:r>
              <a:rPr lang="en-US" sz="1200" b="1" dirty="0">
                <a:solidFill>
                  <a:srgbClr val="000000"/>
                </a:solidFill>
                <a:latin typeface="Century Gothic" panose="020B0502020202020204" pitchFamily="34" charset="0"/>
                <a:ea typeface="Glacial Indifference"/>
                <a:cs typeface="Glacial Indifference"/>
                <a:sym typeface="Glacial Indifference"/>
              </a:rPr>
              <a:t> de Frontera </a:t>
            </a:r>
            <a:r>
              <a:rPr lang="en-US" sz="1200" b="1" dirty="0" err="1">
                <a:solidFill>
                  <a:srgbClr val="000000"/>
                </a:solidFill>
                <a:latin typeface="Century Gothic" panose="020B0502020202020204" pitchFamily="34" charset="0"/>
                <a:ea typeface="Glacial Indifference"/>
                <a:cs typeface="Glacial Indifference"/>
                <a:sym typeface="Glacial Indifference"/>
              </a:rPr>
              <a:t>Comalapa</a:t>
            </a:r>
            <a:endParaRPr lang="en-US" sz="1200" b="1" dirty="0">
              <a:solidFill>
                <a:srgbClr val="000000"/>
              </a:solidFill>
              <a:latin typeface="Century Gothic" panose="020B0502020202020204" pitchFamily="34" charset="0"/>
              <a:ea typeface="Glacial Indifference"/>
              <a:cs typeface="Glacial Indifference"/>
              <a:sym typeface="Glacial Indifference"/>
            </a:endParaRP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Modalidad</a:t>
            </a:r>
            <a:r>
              <a:rPr lang="en-US" sz="1200" b="1" dirty="0">
                <a:solidFill>
                  <a:srgbClr val="000000"/>
                </a:solidFill>
                <a:latin typeface="Century Gothic" panose="020B0502020202020204" pitchFamily="34" charset="0"/>
                <a:ea typeface="Glacial Indifference"/>
                <a:cs typeface="Glacial Indifference"/>
                <a:sym typeface="Glacial Indifference"/>
              </a:rPr>
              <a:t> Mixta</a:t>
            </a:r>
          </a:p>
          <a:p>
            <a:pPr algn="ctr">
              <a:lnSpc>
                <a:spcPct val="150000"/>
              </a:lnSpc>
              <a:spcBef>
                <a:spcPct val="0"/>
              </a:spcBef>
            </a:pPr>
            <a:endParaRPr lang="en-US" sz="1200" b="1" dirty="0">
              <a:solidFill>
                <a:srgbClr val="000000"/>
              </a:solidFill>
              <a:latin typeface="Century Gothic" panose="020B0502020202020204" pitchFamily="34" charset="0"/>
              <a:ea typeface="Glacial Indifference"/>
              <a:cs typeface="Glacial Indifference"/>
              <a:sym typeface="Glacial Indifference"/>
            </a:endParaRP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Materia:</a:t>
            </a: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Estructura</a:t>
            </a:r>
            <a:r>
              <a:rPr lang="en-US" sz="1200" b="1" dirty="0">
                <a:solidFill>
                  <a:srgbClr val="000000"/>
                </a:solidFill>
                <a:latin typeface="Century Gothic" panose="020B0502020202020204" pitchFamily="34" charset="0"/>
                <a:ea typeface="Glacial Indifference"/>
                <a:cs typeface="Glacial Indifference"/>
                <a:sym typeface="Glacial Indifference"/>
              </a:rPr>
              <a:t> de Datos</a:t>
            </a: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Semestre</a:t>
            </a:r>
            <a:r>
              <a:rPr lang="en-US" sz="1200" b="1" dirty="0">
                <a:solidFill>
                  <a:srgbClr val="000000"/>
                </a:solidFill>
                <a:latin typeface="Century Gothic" panose="020B0502020202020204" pitchFamily="34" charset="0"/>
                <a:ea typeface="Glacial Indifference"/>
                <a:cs typeface="Glacial Indifference"/>
                <a:sym typeface="Glacial Indifference"/>
              </a:rPr>
              <a:t>: </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Quinto </a:t>
            </a:r>
            <a:r>
              <a:rPr lang="en-US" sz="1200" b="1" dirty="0" err="1">
                <a:solidFill>
                  <a:srgbClr val="000000"/>
                </a:solidFill>
                <a:latin typeface="Century Gothic" panose="020B0502020202020204" pitchFamily="34" charset="0"/>
                <a:ea typeface="Glacial Indifference"/>
                <a:cs typeface="Glacial Indifference"/>
                <a:sym typeface="Glacial Indifference"/>
              </a:rPr>
              <a:t>semestre</a:t>
            </a:r>
            <a:r>
              <a:rPr lang="en-US" sz="1200" b="1" dirty="0">
                <a:solidFill>
                  <a:srgbClr val="000000"/>
                </a:solidFill>
                <a:latin typeface="Century Gothic" panose="020B0502020202020204" pitchFamily="34" charset="0"/>
                <a:ea typeface="Glacial Indifference"/>
                <a:cs typeface="Glacial Indifference"/>
                <a:sym typeface="Glacial Indifference"/>
              </a:rPr>
              <a:t> </a:t>
            </a: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Especialidad</a:t>
            </a:r>
            <a:r>
              <a:rPr lang="en-US" sz="1200" b="1" dirty="0">
                <a:solidFill>
                  <a:srgbClr val="000000"/>
                </a:solidFill>
                <a:latin typeface="Century Gothic" panose="020B0502020202020204" pitchFamily="34" charset="0"/>
                <a:ea typeface="Glacial Indifference"/>
                <a:cs typeface="Glacial Indifference"/>
                <a:sym typeface="Glacial Indifference"/>
              </a:rPr>
              <a:t>:</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Ingeniería </a:t>
            </a:r>
            <a:r>
              <a:rPr lang="en-US" sz="1200" b="1" dirty="0" err="1">
                <a:solidFill>
                  <a:srgbClr val="000000"/>
                </a:solidFill>
                <a:latin typeface="Century Gothic" panose="020B0502020202020204" pitchFamily="34" charset="0"/>
                <a:ea typeface="Glacial Indifference"/>
                <a:cs typeface="Glacial Indifference"/>
                <a:sym typeface="Glacial Indifference"/>
              </a:rPr>
              <a:t>en</a:t>
            </a:r>
            <a:r>
              <a:rPr lang="en-US" sz="1200" b="1" dirty="0">
                <a:solidFill>
                  <a:srgbClr val="000000"/>
                </a:solidFill>
                <a:latin typeface="Century Gothic" panose="020B0502020202020204" pitchFamily="34" charset="0"/>
                <a:ea typeface="Glacial Indifference"/>
                <a:cs typeface="Glacial Indifference"/>
                <a:sym typeface="Glacial Indifference"/>
              </a:rPr>
              <a:t> Sistemas </a:t>
            </a:r>
            <a:r>
              <a:rPr lang="en-US" sz="1200" b="1" dirty="0" err="1">
                <a:solidFill>
                  <a:srgbClr val="000000"/>
                </a:solidFill>
                <a:latin typeface="Century Gothic" panose="020B0502020202020204" pitchFamily="34" charset="0"/>
                <a:ea typeface="Glacial Indifference"/>
                <a:cs typeface="Glacial Indifference"/>
                <a:sym typeface="Glacial Indifference"/>
              </a:rPr>
              <a:t>Computacionales</a:t>
            </a:r>
            <a:r>
              <a:rPr lang="en-US" sz="1200" b="1" dirty="0">
                <a:solidFill>
                  <a:srgbClr val="000000"/>
                </a:solidFill>
                <a:latin typeface="Century Gothic" panose="020B0502020202020204" pitchFamily="34" charset="0"/>
                <a:ea typeface="Glacial Indifference"/>
                <a:cs typeface="Glacial Indifference"/>
                <a:sym typeface="Glacial Indifference"/>
              </a:rPr>
              <a:t>.</a:t>
            </a: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Numero</a:t>
            </a:r>
            <a:r>
              <a:rPr lang="en-US" sz="1200" b="1" dirty="0">
                <a:solidFill>
                  <a:srgbClr val="000000"/>
                </a:solidFill>
                <a:latin typeface="Century Gothic" panose="020B0502020202020204" pitchFamily="34" charset="0"/>
                <a:ea typeface="Glacial Indifference"/>
                <a:cs typeface="Glacial Indifference"/>
                <a:sym typeface="Glacial Indifference"/>
              </a:rPr>
              <a:t> de control:</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231260014</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Nombre del </a:t>
            </a:r>
            <a:r>
              <a:rPr lang="en-US" sz="1200" b="1" dirty="0" err="1">
                <a:solidFill>
                  <a:srgbClr val="000000"/>
                </a:solidFill>
                <a:latin typeface="Century Gothic" panose="020B0502020202020204" pitchFamily="34" charset="0"/>
                <a:ea typeface="Glacial Indifference"/>
                <a:cs typeface="Glacial Indifference"/>
                <a:sym typeface="Glacial Indifference"/>
              </a:rPr>
              <a:t>alumno</a:t>
            </a:r>
            <a:r>
              <a:rPr lang="en-US" sz="1200" b="1" dirty="0">
                <a:solidFill>
                  <a:srgbClr val="000000"/>
                </a:solidFill>
                <a:latin typeface="Century Gothic" panose="020B0502020202020204" pitchFamily="34" charset="0"/>
                <a:ea typeface="Glacial Indifference"/>
                <a:cs typeface="Glacial Indifference"/>
                <a:sym typeface="Glacial Indifference"/>
              </a:rPr>
              <a:t>: </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Cynthia Jasmine Morales Torres</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Nombre del </a:t>
            </a:r>
            <a:r>
              <a:rPr lang="en-US" sz="1200" b="1" dirty="0" err="1">
                <a:solidFill>
                  <a:srgbClr val="000000"/>
                </a:solidFill>
                <a:latin typeface="Century Gothic" panose="020B0502020202020204" pitchFamily="34" charset="0"/>
                <a:ea typeface="Glacial Indifference"/>
                <a:cs typeface="Glacial Indifference"/>
                <a:sym typeface="Glacial Indifference"/>
              </a:rPr>
              <a:t>docente</a:t>
            </a:r>
            <a:r>
              <a:rPr lang="en-US" sz="1200" b="1" dirty="0">
                <a:solidFill>
                  <a:srgbClr val="000000"/>
                </a:solidFill>
                <a:latin typeface="Century Gothic" panose="020B0502020202020204" pitchFamily="34" charset="0"/>
                <a:ea typeface="Glacial Indifference"/>
                <a:cs typeface="Glacial Indifference"/>
                <a:sym typeface="Glacial Indifference"/>
              </a:rPr>
              <a:t>: </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Ing. Francisco Javier Mingo Velazquez</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Nombre del </a:t>
            </a:r>
            <a:r>
              <a:rPr lang="en-US" sz="1200" b="1" dirty="0" err="1">
                <a:solidFill>
                  <a:srgbClr val="000000"/>
                </a:solidFill>
                <a:latin typeface="Century Gothic" panose="020B0502020202020204" pitchFamily="34" charset="0"/>
                <a:ea typeface="Glacial Indifference"/>
                <a:cs typeface="Glacial Indifference"/>
                <a:sym typeface="Glacial Indifference"/>
              </a:rPr>
              <a:t>trabajo</a:t>
            </a:r>
            <a:r>
              <a:rPr lang="en-US" sz="1200" b="1" dirty="0">
                <a:solidFill>
                  <a:srgbClr val="000000"/>
                </a:solidFill>
                <a:latin typeface="Century Gothic" panose="020B0502020202020204" pitchFamily="34" charset="0"/>
                <a:ea typeface="Glacial Indifference"/>
                <a:cs typeface="Glacial Indifference"/>
                <a:sym typeface="Glacial Indifference"/>
              </a:rPr>
              <a:t>:</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4.3 </a:t>
            </a:r>
            <a:r>
              <a:rPr lang="en-US" sz="1200" b="1" dirty="0" err="1">
                <a:solidFill>
                  <a:srgbClr val="000000"/>
                </a:solidFill>
                <a:latin typeface="Century Gothic" panose="020B0502020202020204" pitchFamily="34" charset="0"/>
                <a:ea typeface="Glacial Indifference"/>
                <a:cs typeface="Glacial Indifference"/>
                <a:sym typeface="Glacial Indifference"/>
              </a:rPr>
              <a:t>Ejercicio</a:t>
            </a:r>
            <a:r>
              <a:rPr lang="en-US" sz="1200" b="1" dirty="0">
                <a:solidFill>
                  <a:srgbClr val="000000"/>
                </a:solidFill>
                <a:latin typeface="Century Gothic" panose="020B0502020202020204" pitchFamily="34" charset="0"/>
                <a:ea typeface="Glacial Indifference"/>
                <a:cs typeface="Glacial Indifference"/>
                <a:sym typeface="Glacial Indifference"/>
              </a:rPr>
              <a:t> de Arbol </a:t>
            </a:r>
            <a:r>
              <a:rPr lang="en-US" sz="1200" b="1" dirty="0" err="1">
                <a:solidFill>
                  <a:srgbClr val="000000"/>
                </a:solidFill>
                <a:latin typeface="Century Gothic" panose="020B0502020202020204" pitchFamily="34" charset="0"/>
                <a:ea typeface="Glacial Indifference"/>
                <a:cs typeface="Glacial Indifference"/>
                <a:sym typeface="Glacial Indifference"/>
              </a:rPr>
              <a:t>binario</a:t>
            </a:r>
            <a:r>
              <a:rPr lang="en-US" sz="1200" b="1" dirty="0">
                <a:solidFill>
                  <a:srgbClr val="000000"/>
                </a:solidFill>
                <a:latin typeface="Century Gothic" panose="020B0502020202020204" pitchFamily="34" charset="0"/>
                <a:ea typeface="Glacial Indifference"/>
                <a:cs typeface="Glacial Indifference"/>
                <a:sym typeface="Glacial Indifference"/>
              </a:rPr>
              <a:t> y </a:t>
            </a:r>
            <a:r>
              <a:rPr lang="en-US" sz="1200" b="1" dirty="0" err="1">
                <a:solidFill>
                  <a:srgbClr val="000000"/>
                </a:solidFill>
                <a:latin typeface="Century Gothic" panose="020B0502020202020204" pitchFamily="34" charset="0"/>
                <a:ea typeface="Glacial Indifference"/>
                <a:cs typeface="Glacial Indifference"/>
                <a:sym typeface="Glacial Indifference"/>
              </a:rPr>
              <a:t>grafo</a:t>
            </a:r>
            <a:endParaRPr lang="en-US" sz="1200" b="1" dirty="0">
              <a:solidFill>
                <a:srgbClr val="000000"/>
              </a:solidFill>
              <a:latin typeface="Century Gothic" panose="020B0502020202020204" pitchFamily="34" charset="0"/>
              <a:ea typeface="Glacial Indifference"/>
              <a:cs typeface="Glacial Indifference"/>
              <a:sym typeface="Glacial Indifference"/>
            </a:endParaRP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Fecha</a:t>
            </a:r>
            <a:r>
              <a:rPr lang="en-US" sz="1200" b="1" dirty="0">
                <a:solidFill>
                  <a:srgbClr val="000000"/>
                </a:solidFill>
                <a:latin typeface="Century Gothic" panose="020B0502020202020204" pitchFamily="34" charset="0"/>
                <a:ea typeface="Glacial Indifference"/>
                <a:cs typeface="Glacial Indifference"/>
                <a:sym typeface="Glacial Indifference"/>
              </a:rPr>
              <a:t> de </a:t>
            </a:r>
            <a:r>
              <a:rPr lang="en-US" sz="1200" b="1" dirty="0" err="1">
                <a:solidFill>
                  <a:srgbClr val="000000"/>
                </a:solidFill>
                <a:latin typeface="Century Gothic" panose="020B0502020202020204" pitchFamily="34" charset="0"/>
                <a:ea typeface="Glacial Indifference"/>
                <a:cs typeface="Glacial Indifference"/>
                <a:sym typeface="Glacial Indifference"/>
              </a:rPr>
              <a:t>entrega</a:t>
            </a:r>
            <a:r>
              <a:rPr lang="en-US" sz="1200" b="1" dirty="0">
                <a:solidFill>
                  <a:srgbClr val="000000"/>
                </a:solidFill>
                <a:latin typeface="Century Gothic" panose="020B0502020202020204" pitchFamily="34" charset="0"/>
                <a:ea typeface="Glacial Indifference"/>
                <a:cs typeface="Glacial Indifference"/>
                <a:sym typeface="Glacial Indifference"/>
              </a:rPr>
              <a:t>:</a:t>
            </a:r>
          </a:p>
          <a:p>
            <a:pPr algn="ctr">
              <a:lnSpc>
                <a:spcPct val="150000"/>
              </a:lnSpc>
              <a:spcBef>
                <a:spcPct val="0"/>
              </a:spcBef>
            </a:pPr>
            <a:endParaRPr lang="en-US" sz="1200" b="1" dirty="0">
              <a:solidFill>
                <a:srgbClr val="000000"/>
              </a:solidFill>
              <a:latin typeface="Century Gothic" panose="020B0502020202020204" pitchFamily="34" charset="0"/>
              <a:ea typeface="Glacial Indifference"/>
              <a:cs typeface="Glacial Indifference"/>
              <a:sym typeface="Glacial Indifference"/>
            </a:endParaRP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Frontera </a:t>
            </a:r>
            <a:r>
              <a:rPr lang="en-US" sz="1200" b="1" dirty="0" err="1">
                <a:solidFill>
                  <a:srgbClr val="000000"/>
                </a:solidFill>
                <a:latin typeface="Century Gothic" panose="020B0502020202020204" pitchFamily="34" charset="0"/>
                <a:ea typeface="Glacial Indifference"/>
                <a:cs typeface="Glacial Indifference"/>
                <a:sym typeface="Glacial Indifference"/>
              </a:rPr>
              <a:t>Comalapa</a:t>
            </a:r>
            <a:r>
              <a:rPr lang="en-US" sz="1200" b="1" dirty="0">
                <a:solidFill>
                  <a:srgbClr val="000000"/>
                </a:solidFill>
                <a:latin typeface="Century Gothic" panose="020B0502020202020204" pitchFamily="34" charset="0"/>
                <a:ea typeface="Glacial Indifference"/>
                <a:cs typeface="Glacial Indifference"/>
                <a:sym typeface="Glacial Indifference"/>
              </a:rPr>
              <a:t>, Chiapas. A 29 de </a:t>
            </a:r>
            <a:r>
              <a:rPr lang="en-US" sz="1200" b="1" dirty="0" err="1">
                <a:solidFill>
                  <a:srgbClr val="000000"/>
                </a:solidFill>
                <a:latin typeface="Century Gothic" panose="020B0502020202020204" pitchFamily="34" charset="0"/>
                <a:ea typeface="Glacial Indifference"/>
                <a:cs typeface="Glacial Indifference"/>
                <a:sym typeface="Glacial Indifference"/>
              </a:rPr>
              <a:t>noviembre</a:t>
            </a:r>
            <a:r>
              <a:rPr lang="en-US" sz="1200" b="1" dirty="0">
                <a:solidFill>
                  <a:srgbClr val="000000"/>
                </a:solidFill>
                <a:latin typeface="Century Gothic" panose="020B0502020202020204" pitchFamily="34" charset="0"/>
                <a:ea typeface="Glacial Indifference"/>
                <a:cs typeface="Glacial Indifference"/>
                <a:sym typeface="Glacial Indifference"/>
              </a:rPr>
              <a:t> de 2025</a:t>
            </a:r>
          </a:p>
        </p:txBody>
      </p:sp>
      <p:sp>
        <p:nvSpPr>
          <p:cNvPr id="5" name="Freeform 3">
            <a:extLst>
              <a:ext uri="{FF2B5EF4-FFF2-40B4-BE49-F238E27FC236}">
                <a16:creationId xmlns:a16="http://schemas.microsoft.com/office/drawing/2014/main" id="{02E52FAA-A5E0-BE8E-5DD2-24BE6B1C4F46}"/>
              </a:ext>
            </a:extLst>
          </p:cNvPr>
          <p:cNvSpPr/>
          <p:nvPr/>
        </p:nvSpPr>
        <p:spPr>
          <a:xfrm>
            <a:off x="1835071" y="130506"/>
            <a:ext cx="1985447" cy="917245"/>
          </a:xfrm>
          <a:custGeom>
            <a:avLst/>
            <a:gdLst/>
            <a:ahLst/>
            <a:cxnLst/>
            <a:rect l="l" t="t" r="r" b="b"/>
            <a:pathLst>
              <a:path w="3135296" h="1339792">
                <a:moveTo>
                  <a:pt x="0" y="0"/>
                </a:moveTo>
                <a:lnTo>
                  <a:pt x="3135296" y="0"/>
                </a:lnTo>
                <a:lnTo>
                  <a:pt x="3135296" y="1339792"/>
                </a:lnTo>
                <a:lnTo>
                  <a:pt x="0" y="1339792"/>
                </a:lnTo>
                <a:lnTo>
                  <a:pt x="0" y="0"/>
                </a:lnTo>
                <a:close/>
              </a:path>
            </a:pathLst>
          </a:custGeom>
          <a:blipFill>
            <a:blip r:embed="rId2"/>
            <a:stretch>
              <a:fillRect/>
            </a:stretch>
          </a:blipFill>
        </p:spPr>
      </p:sp>
      <p:sp>
        <p:nvSpPr>
          <p:cNvPr id="6" name="Freeform 4">
            <a:extLst>
              <a:ext uri="{FF2B5EF4-FFF2-40B4-BE49-F238E27FC236}">
                <a16:creationId xmlns:a16="http://schemas.microsoft.com/office/drawing/2014/main" id="{7D732417-D419-7D2A-EDBA-0BC415DD9D1A}"/>
              </a:ext>
            </a:extLst>
          </p:cNvPr>
          <p:cNvSpPr/>
          <p:nvPr/>
        </p:nvSpPr>
        <p:spPr>
          <a:xfrm>
            <a:off x="8907659" y="203069"/>
            <a:ext cx="1385614" cy="844682"/>
          </a:xfrm>
          <a:custGeom>
            <a:avLst/>
            <a:gdLst/>
            <a:ahLst/>
            <a:cxnLst/>
            <a:rect l="l" t="t" r="r" b="b"/>
            <a:pathLst>
              <a:path w="2019078" h="1652713">
                <a:moveTo>
                  <a:pt x="0" y="0"/>
                </a:moveTo>
                <a:lnTo>
                  <a:pt x="2019078" y="0"/>
                </a:lnTo>
                <a:lnTo>
                  <a:pt x="2019078" y="1652713"/>
                </a:lnTo>
                <a:lnTo>
                  <a:pt x="0" y="1652713"/>
                </a:lnTo>
                <a:lnTo>
                  <a:pt x="0" y="0"/>
                </a:lnTo>
                <a:close/>
              </a:path>
            </a:pathLst>
          </a:custGeom>
          <a:blipFill>
            <a:blip r:embed="rId3"/>
            <a:stretch>
              <a:fillRect/>
            </a:stretch>
          </a:blipFill>
        </p:spPr>
      </p:sp>
      <p:sp>
        <p:nvSpPr>
          <p:cNvPr id="7" name="Freeform 5">
            <a:extLst>
              <a:ext uri="{FF2B5EF4-FFF2-40B4-BE49-F238E27FC236}">
                <a16:creationId xmlns:a16="http://schemas.microsoft.com/office/drawing/2014/main" id="{9B5DCDE8-6288-A4FA-1517-62A8063C68C5}"/>
              </a:ext>
            </a:extLst>
          </p:cNvPr>
          <p:cNvSpPr/>
          <p:nvPr/>
        </p:nvSpPr>
        <p:spPr>
          <a:xfrm>
            <a:off x="4694917" y="181027"/>
            <a:ext cx="2802166" cy="584341"/>
          </a:xfrm>
          <a:custGeom>
            <a:avLst/>
            <a:gdLst/>
            <a:ahLst/>
            <a:cxnLst/>
            <a:rect l="l" t="t" r="r" b="b"/>
            <a:pathLst>
              <a:path w="4428347" h="916210">
                <a:moveTo>
                  <a:pt x="0" y="0"/>
                </a:moveTo>
                <a:lnTo>
                  <a:pt x="4428347" y="0"/>
                </a:lnTo>
                <a:lnTo>
                  <a:pt x="4428347" y="916210"/>
                </a:lnTo>
                <a:lnTo>
                  <a:pt x="0" y="916210"/>
                </a:lnTo>
                <a:lnTo>
                  <a:pt x="0" y="0"/>
                </a:lnTo>
                <a:close/>
              </a:path>
            </a:pathLst>
          </a:custGeom>
          <a:blipFill>
            <a:blip r:embed="rId4"/>
            <a:stretch>
              <a:fillRect/>
            </a:stretch>
          </a:blipFill>
        </p:spPr>
      </p:sp>
    </p:spTree>
    <p:extLst>
      <p:ext uri="{BB962C8B-B14F-4D97-AF65-F5344CB8AC3E}">
        <p14:creationId xmlns:p14="http://schemas.microsoft.com/office/powerpoint/2010/main" val="3744355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1B1010-37C6-A55C-2CBA-D1178D8E95EC}"/>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77B6B000-9EB0-8676-C4AD-ACDFBA4CB58D}"/>
              </a:ext>
            </a:extLst>
          </p:cNvPr>
          <p:cNvSpPr>
            <a:spLocks noGrp="1"/>
          </p:cNvSpPr>
          <p:nvPr>
            <p:ph idx="1"/>
          </p:nvPr>
        </p:nvSpPr>
        <p:spPr/>
        <p:txBody>
          <a:bodyPr>
            <a:normAutofit lnSpcReduction="10000"/>
          </a:bodyPr>
          <a:lstStyle/>
          <a:p>
            <a:pPr marL="0" indent="0">
              <a:buNone/>
            </a:pPr>
            <a:r>
              <a:rPr lang="es-MX" dirty="0"/>
              <a:t>Las estructuras de datos no lineales son fundamentales en el desarrollo de software, ya que permiten representar relaciones complejas entre los datos que no pueden organizarse de forma secuencial. Entre estas estructuras destacan los árboles y los grafos, los cuales se utilizan para modelar jerarquías, conexiones y redes en distintos sistemas computacionales.</a:t>
            </a:r>
          </a:p>
          <a:p>
            <a:pPr marL="0" indent="0">
              <a:buNone/>
            </a:pPr>
            <a:r>
              <a:rPr lang="es-MX" dirty="0"/>
              <a:t>En el presente trabajo se implementan diversos programas en Java, apoyados con interfaces gráficas en </a:t>
            </a:r>
            <a:r>
              <a:rPr lang="es-MX" dirty="0" err="1"/>
              <a:t>JavaFX</a:t>
            </a:r>
            <a:r>
              <a:rPr lang="es-MX" dirty="0"/>
              <a:t>, con el propósito de analizar el comportamiento de las estructuras no lineales mediante la inserción de nodos, la creación de relaciones y la ejecución de recorridos que facilitan la exploración de la información.</a:t>
            </a:r>
          </a:p>
          <a:p>
            <a:pPr marL="0" indent="0">
              <a:buNone/>
            </a:pPr>
            <a:endParaRPr lang="es-MX" dirty="0"/>
          </a:p>
        </p:txBody>
      </p:sp>
    </p:spTree>
    <p:extLst>
      <p:ext uri="{BB962C8B-B14F-4D97-AF65-F5344CB8AC3E}">
        <p14:creationId xmlns:p14="http://schemas.microsoft.com/office/powerpoint/2010/main" val="3689088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11A170-6A78-317B-5C2C-1C79924E3BDD}"/>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A9F10557-8722-9E8C-2592-5121B7A83BAA}"/>
              </a:ext>
            </a:extLst>
          </p:cNvPr>
          <p:cNvSpPr>
            <a:spLocks noGrp="1"/>
          </p:cNvSpPr>
          <p:nvPr>
            <p:ph idx="1"/>
          </p:nvPr>
        </p:nvSpPr>
        <p:spPr/>
        <p:txBody>
          <a:bodyPr>
            <a:normAutofit lnSpcReduction="10000"/>
          </a:bodyPr>
          <a:lstStyle/>
          <a:p>
            <a:pPr marL="0" indent="0">
              <a:buNone/>
            </a:pPr>
            <a:r>
              <a:rPr lang="es-MX" dirty="0"/>
              <a:t>El aprendizaje de las estructuras no lineales es esencial para comprender cómo se organizan y manipulan grandes volúmenes de información en aplicaciones reales. Los árboles permiten estructurar datos de manera jerárquica, mientras que los grafos representan relaciones entre múltiples elementos, como ocurre en redes de computadoras y sistemas de comunicación.</a:t>
            </a:r>
          </a:p>
          <a:p>
            <a:pPr marL="0" indent="0">
              <a:buNone/>
            </a:pPr>
            <a:r>
              <a:rPr lang="es-MX" dirty="0"/>
              <a:t>La realización de estos ejercicios prácticos fortalece los conocimientos teóricos adquiridos en clase, ya que permite observar de forma directa el funcionamiento de dichas estructuras. Además, el uso de </a:t>
            </a:r>
            <a:r>
              <a:rPr lang="es-MX" dirty="0" err="1"/>
              <a:t>JavaFX</a:t>
            </a:r>
            <a:r>
              <a:rPr lang="es-MX" dirty="0"/>
              <a:t> mejora la interacción con el usuario, haciendo más comprensible el proceso de inserción de datos y la ejecución de los algoritmos.</a:t>
            </a:r>
          </a:p>
          <a:p>
            <a:pPr marL="0" indent="0">
              <a:buNone/>
            </a:pPr>
            <a:endParaRPr lang="es-MX" dirty="0"/>
          </a:p>
        </p:txBody>
      </p:sp>
    </p:spTree>
    <p:extLst>
      <p:ext uri="{BB962C8B-B14F-4D97-AF65-F5344CB8AC3E}">
        <p14:creationId xmlns:p14="http://schemas.microsoft.com/office/powerpoint/2010/main" val="4210626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59B604-401F-1D79-DB3B-6C273D9AAC77}"/>
              </a:ext>
            </a:extLst>
          </p:cNvPr>
          <p:cNvSpPr>
            <a:spLocks noGrp="1"/>
          </p:cNvSpPr>
          <p:nvPr>
            <p:ph type="title"/>
          </p:nvPr>
        </p:nvSpPr>
        <p:spPr/>
        <p:txBody>
          <a:bodyPr/>
          <a:lstStyle/>
          <a:p>
            <a:r>
              <a:rPr lang="es-MX" dirty="0"/>
              <a:t>ESTRUCTURAS NO LINEALES</a:t>
            </a:r>
          </a:p>
        </p:txBody>
      </p:sp>
      <p:pic>
        <p:nvPicPr>
          <p:cNvPr id="5" name="Marcador de contenido 4">
            <a:extLst>
              <a:ext uri="{FF2B5EF4-FFF2-40B4-BE49-F238E27FC236}">
                <a16:creationId xmlns:a16="http://schemas.microsoft.com/office/drawing/2014/main" id="{EA9213EC-5461-F94C-7F6A-3EE3BA61E38F}"/>
              </a:ext>
            </a:extLst>
          </p:cNvPr>
          <p:cNvPicPr>
            <a:picLocks noGrp="1" noChangeAspect="1"/>
          </p:cNvPicPr>
          <p:nvPr>
            <p:ph idx="1"/>
          </p:nvPr>
        </p:nvPicPr>
        <p:blipFill>
          <a:blip r:embed="rId2"/>
          <a:stretch>
            <a:fillRect/>
          </a:stretch>
        </p:blipFill>
        <p:spPr>
          <a:xfrm>
            <a:off x="2507262" y="1476305"/>
            <a:ext cx="4900406" cy="3049437"/>
          </a:xfrm>
        </p:spPr>
      </p:pic>
      <p:pic>
        <p:nvPicPr>
          <p:cNvPr id="6" name="Marcador de contenido 4">
            <a:extLst>
              <a:ext uri="{FF2B5EF4-FFF2-40B4-BE49-F238E27FC236}">
                <a16:creationId xmlns:a16="http://schemas.microsoft.com/office/drawing/2014/main" id="{82347EFE-ED14-EE79-37A7-A1479B8E5FFF}"/>
              </a:ext>
            </a:extLst>
          </p:cNvPr>
          <p:cNvPicPr>
            <a:picLocks noChangeAspect="1"/>
          </p:cNvPicPr>
          <p:nvPr/>
        </p:nvPicPr>
        <p:blipFill>
          <a:blip r:embed="rId3"/>
          <a:stretch>
            <a:fillRect/>
          </a:stretch>
        </p:blipFill>
        <p:spPr>
          <a:xfrm>
            <a:off x="7895178" y="617312"/>
            <a:ext cx="3621125" cy="3908430"/>
          </a:xfrm>
          <a:prstGeom prst="rect">
            <a:avLst/>
          </a:prstGeom>
        </p:spPr>
      </p:pic>
      <p:sp>
        <p:nvSpPr>
          <p:cNvPr id="8" name="CuadroTexto 7">
            <a:extLst>
              <a:ext uri="{FF2B5EF4-FFF2-40B4-BE49-F238E27FC236}">
                <a16:creationId xmlns:a16="http://schemas.microsoft.com/office/drawing/2014/main" id="{1D09C7D3-C0A1-DE49-B1AD-41042F5EED71}"/>
              </a:ext>
            </a:extLst>
          </p:cNvPr>
          <p:cNvSpPr txBox="1"/>
          <p:nvPr/>
        </p:nvSpPr>
        <p:spPr>
          <a:xfrm>
            <a:off x="969456" y="4732838"/>
            <a:ext cx="7825221" cy="2031325"/>
          </a:xfrm>
          <a:prstGeom prst="rect">
            <a:avLst/>
          </a:prstGeom>
          <a:noFill/>
        </p:spPr>
        <p:txBody>
          <a:bodyPr wrap="square">
            <a:spAutoFit/>
          </a:bodyPr>
          <a:lstStyle/>
          <a:p>
            <a:pPr algn="just"/>
            <a:r>
              <a:rPr lang="es-MX" dirty="0">
                <a:latin typeface="Century Gothic" panose="020B0502020202020204" pitchFamily="34" charset="0"/>
              </a:rPr>
              <a:t>El proyecto consiste en una aplicación </a:t>
            </a:r>
            <a:r>
              <a:rPr lang="es-MX" dirty="0" err="1">
                <a:latin typeface="Century Gothic" panose="020B0502020202020204" pitchFamily="34" charset="0"/>
              </a:rPr>
              <a:t>JavaFX</a:t>
            </a:r>
            <a:r>
              <a:rPr lang="es-MX" dirty="0">
                <a:latin typeface="Century Gothic" panose="020B0502020202020204" pitchFamily="34" charset="0"/>
              </a:rPr>
              <a:t> que permite </a:t>
            </a:r>
            <a:r>
              <a:rPr lang="es-MX" b="1" dirty="0">
                <a:latin typeface="Century Gothic" panose="020B0502020202020204" pitchFamily="34" charset="0"/>
              </a:rPr>
              <a:t>manipular estructuras no lineales</a:t>
            </a:r>
            <a:r>
              <a:rPr lang="es-MX" dirty="0">
                <a:latin typeface="Century Gothic" panose="020B0502020202020204" pitchFamily="34" charset="0"/>
              </a:rPr>
              <a:t>, específicamente </a:t>
            </a:r>
            <a:r>
              <a:rPr lang="es-MX" b="1" dirty="0">
                <a:latin typeface="Century Gothic" panose="020B0502020202020204" pitchFamily="34" charset="0"/>
              </a:rPr>
              <a:t>árboles binarios y grafos</a:t>
            </a:r>
            <a:r>
              <a:rPr lang="es-MX" dirty="0">
                <a:latin typeface="Century Gothic" panose="020B0502020202020204" pitchFamily="34" charset="0"/>
              </a:rPr>
              <a:t>. La aplicación tiene una interfaz gráfica que facilita: insertar y recorrer datos en un árbol, así como agregar vértices y aristas en un grafo, mostrando los resultados de forma interactiva. Todo esto se gestiona desde un menú principal que permite navegar entre las secciones.</a:t>
            </a:r>
          </a:p>
        </p:txBody>
      </p:sp>
    </p:spTree>
    <p:extLst>
      <p:ext uri="{BB962C8B-B14F-4D97-AF65-F5344CB8AC3E}">
        <p14:creationId xmlns:p14="http://schemas.microsoft.com/office/powerpoint/2010/main" val="2227890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A03F44-E9A2-09C4-2F94-2C755CF5B51E}"/>
              </a:ext>
            </a:extLst>
          </p:cNvPr>
          <p:cNvSpPr>
            <a:spLocks noGrp="1"/>
          </p:cNvSpPr>
          <p:nvPr>
            <p:ph type="title"/>
          </p:nvPr>
        </p:nvSpPr>
        <p:spPr/>
        <p:txBody>
          <a:bodyPr/>
          <a:lstStyle/>
          <a:p>
            <a:r>
              <a:rPr lang="es-MX" dirty="0"/>
              <a:t>Pantallas finales</a:t>
            </a:r>
          </a:p>
        </p:txBody>
      </p:sp>
      <p:pic>
        <p:nvPicPr>
          <p:cNvPr id="4" name="Marcador de contenido 3">
            <a:extLst>
              <a:ext uri="{FF2B5EF4-FFF2-40B4-BE49-F238E27FC236}">
                <a16:creationId xmlns:a16="http://schemas.microsoft.com/office/drawing/2014/main" id="{56C85FEA-2C3C-5B2C-477B-DF77D8D63C12}"/>
              </a:ext>
            </a:extLst>
          </p:cNvPr>
          <p:cNvPicPr>
            <a:picLocks noGrp="1" noChangeAspect="1"/>
          </p:cNvPicPr>
          <p:nvPr>
            <p:ph idx="1"/>
          </p:nvPr>
        </p:nvPicPr>
        <p:blipFill>
          <a:blip r:embed="rId2"/>
          <a:stretch>
            <a:fillRect/>
          </a:stretch>
        </p:blipFill>
        <p:spPr>
          <a:xfrm>
            <a:off x="1028070" y="1690688"/>
            <a:ext cx="2782733" cy="2957174"/>
          </a:xfrm>
          <a:prstGeom prst="rect">
            <a:avLst/>
          </a:prstGeom>
        </p:spPr>
      </p:pic>
      <p:pic>
        <p:nvPicPr>
          <p:cNvPr id="5" name="Marcador de contenido 4">
            <a:extLst>
              <a:ext uri="{FF2B5EF4-FFF2-40B4-BE49-F238E27FC236}">
                <a16:creationId xmlns:a16="http://schemas.microsoft.com/office/drawing/2014/main" id="{A824EB64-8AA5-C8B4-083C-7D0CFBFF2733}"/>
              </a:ext>
            </a:extLst>
          </p:cNvPr>
          <p:cNvPicPr>
            <a:picLocks noChangeAspect="1"/>
          </p:cNvPicPr>
          <p:nvPr/>
        </p:nvPicPr>
        <p:blipFill>
          <a:blip r:embed="rId3"/>
          <a:stretch>
            <a:fillRect/>
          </a:stretch>
        </p:blipFill>
        <p:spPr>
          <a:xfrm>
            <a:off x="6294508" y="1716443"/>
            <a:ext cx="2782733" cy="2948619"/>
          </a:xfrm>
          <a:prstGeom prst="rect">
            <a:avLst/>
          </a:prstGeom>
        </p:spPr>
      </p:pic>
      <p:sp>
        <p:nvSpPr>
          <p:cNvPr id="6" name="Rectangle 1">
            <a:extLst>
              <a:ext uri="{FF2B5EF4-FFF2-40B4-BE49-F238E27FC236}">
                <a16:creationId xmlns:a16="http://schemas.microsoft.com/office/drawing/2014/main" id="{3B783613-D71E-03FC-E41A-D23C00B8F49E}"/>
              </a:ext>
            </a:extLst>
          </p:cNvPr>
          <p:cNvSpPr>
            <a:spLocks noChangeArrowheads="1"/>
          </p:cNvSpPr>
          <p:nvPr/>
        </p:nvSpPr>
        <p:spPr bwMode="auto">
          <a:xfrm>
            <a:off x="360704" y="4778148"/>
            <a:ext cx="562932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latin typeface="Century Gothic" panose="020B0502020202020204" pitchFamily="34" charset="0"/>
              </a:rPr>
              <a:t>Permite insertar números en un árbol binario.</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latin typeface="Century Gothic" panose="020B0502020202020204" pitchFamily="34" charset="0"/>
              </a:rPr>
              <a:t>Muestra el recorrido </a:t>
            </a:r>
            <a:r>
              <a:rPr lang="es-MX" altLang="es-MX" dirty="0" err="1">
                <a:latin typeface="Century Gothic" panose="020B0502020202020204" pitchFamily="34" charset="0"/>
              </a:rPr>
              <a:t>inorden</a:t>
            </a:r>
            <a:r>
              <a:rPr lang="es-MX" altLang="es-MX" dirty="0">
                <a:latin typeface="Century Gothic" panose="020B0502020202020204" pitchFamily="34" charset="0"/>
              </a:rPr>
              <a:t> del árbol.</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latin typeface="Century Gothic" panose="020B0502020202020204" pitchFamily="34" charset="0"/>
              </a:rPr>
              <a:t>Tiene un botón para regresar al menú.</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dirty="0">
                <a:latin typeface="Century Gothic" panose="020B0502020202020204" pitchFamily="34" charset="0"/>
              </a:rPr>
              <a:t>Funciona mediante un </a:t>
            </a:r>
            <a:r>
              <a:rPr lang="es-MX" altLang="es-MX" dirty="0" err="1">
                <a:latin typeface="Century Gothic" panose="020B0502020202020204" pitchFamily="34" charset="0"/>
              </a:rPr>
              <a:t>ArbolController</a:t>
            </a:r>
            <a:r>
              <a:rPr lang="es-MX" altLang="es-MX" dirty="0">
                <a:latin typeface="Century Gothic" panose="020B0502020202020204" pitchFamily="34" charset="0"/>
              </a:rPr>
              <a:t> que gestiona la estructura </a:t>
            </a:r>
            <a:r>
              <a:rPr lang="es-MX" altLang="es-MX" dirty="0" err="1">
                <a:latin typeface="Century Gothic" panose="020B0502020202020204" pitchFamily="34" charset="0"/>
              </a:rPr>
              <a:t>ArbolBinario</a:t>
            </a:r>
            <a:r>
              <a:rPr lang="es-MX" altLang="es-MX" dirty="0">
                <a:latin typeface="Century Gothic" panose="020B0502020202020204" pitchFamily="34" charset="0"/>
              </a:rPr>
              <a:t> y actualiza los resultados en la interfaz.</a:t>
            </a:r>
          </a:p>
        </p:txBody>
      </p:sp>
      <p:sp>
        <p:nvSpPr>
          <p:cNvPr id="7" name="Rectangle 2">
            <a:extLst>
              <a:ext uri="{FF2B5EF4-FFF2-40B4-BE49-F238E27FC236}">
                <a16:creationId xmlns:a16="http://schemas.microsoft.com/office/drawing/2014/main" id="{9D313D65-D2A0-1AB8-CDBA-6DB0D0AF6C13}"/>
              </a:ext>
            </a:extLst>
          </p:cNvPr>
          <p:cNvSpPr>
            <a:spLocks noChangeArrowheads="1"/>
          </p:cNvSpPr>
          <p:nvPr/>
        </p:nvSpPr>
        <p:spPr bwMode="auto">
          <a:xfrm>
            <a:off x="6201969" y="4639648"/>
            <a:ext cx="575054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a:latin typeface="Century Gothic" panose="020B0502020202020204" pitchFamily="34" charset="0"/>
              </a:rPr>
              <a:t>Permite agregar vértices y crear aristas entre ellos.</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a:latin typeface="Century Gothic" panose="020B0502020202020204" pitchFamily="34" charset="0"/>
              </a:rPr>
              <a:t>Muestra el grafo completo en forma de texto.</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a:latin typeface="Century Gothic" panose="020B0502020202020204" pitchFamily="34" charset="0"/>
              </a:rPr>
              <a:t>Incluye un botón para regresar al menú.</a:t>
            </a:r>
          </a:p>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a:latin typeface="Century Gothic" panose="020B0502020202020204" pitchFamily="34" charset="0"/>
              </a:rPr>
              <a:t>Funciona mediante un GrafoController que gestiona la estructura Grafo usando un mapa de vértices y listas de conexiones.</a:t>
            </a:r>
          </a:p>
        </p:txBody>
      </p:sp>
    </p:spTree>
    <p:extLst>
      <p:ext uri="{BB962C8B-B14F-4D97-AF65-F5344CB8AC3E}">
        <p14:creationId xmlns:p14="http://schemas.microsoft.com/office/powerpoint/2010/main" val="3195292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6EBB7F-8BF8-C9DC-529A-329C3E21D38F}"/>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457DF424-BFE6-EC7F-CB57-4C288375CCD7}"/>
              </a:ext>
            </a:extLst>
          </p:cNvPr>
          <p:cNvSpPr>
            <a:spLocks noGrp="1"/>
          </p:cNvSpPr>
          <p:nvPr>
            <p:ph idx="1"/>
          </p:nvPr>
        </p:nvSpPr>
        <p:spPr/>
        <p:txBody>
          <a:bodyPr>
            <a:normAutofit lnSpcReduction="10000"/>
          </a:bodyPr>
          <a:lstStyle/>
          <a:p>
            <a:pPr marL="0" indent="0">
              <a:buNone/>
            </a:pPr>
            <a:r>
              <a:rPr lang="es-MX" dirty="0"/>
              <a:t>Los ejercicios desarrollados demuestran la importancia de las estructuras de datos no lineales en la programación y en la solución de problemas complejos. Mediante la implementación de árboles y grafos, fue posible comprender cómo se almacenan los datos, cómo se establecen relaciones entre ellos y cómo se recorren utilizando distintos algoritmos.</a:t>
            </a:r>
          </a:p>
          <a:p>
            <a:pPr marL="0" indent="0">
              <a:buNone/>
            </a:pPr>
            <a:r>
              <a:rPr lang="es-MX" dirty="0"/>
              <a:t>El uso de Java y </a:t>
            </a:r>
            <a:r>
              <a:rPr lang="es-MX" dirty="0" err="1"/>
              <a:t>JavaFX</a:t>
            </a:r>
            <a:r>
              <a:rPr lang="es-MX" dirty="0"/>
              <a:t> permitió integrar la lógica de programación con interfaces gráficas funcionales, facilitando la visualización de resultados y reforzando el aprendizaje práctico. En conclusión, este trabajo contribuye al desarrollo de habilidades fundamentales para el diseño y análisis de estructuras de datos en el ámbito de la ingeniería en sistemas.</a:t>
            </a:r>
          </a:p>
          <a:p>
            <a:pPr marL="0" indent="0">
              <a:buNone/>
            </a:pPr>
            <a:endParaRPr lang="es-MX" dirty="0"/>
          </a:p>
        </p:txBody>
      </p:sp>
    </p:spTree>
    <p:extLst>
      <p:ext uri="{BB962C8B-B14F-4D97-AF65-F5344CB8AC3E}">
        <p14:creationId xmlns:p14="http://schemas.microsoft.com/office/powerpoint/2010/main" val="2119066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CDB8E8-E97C-D8E5-B3EF-86C4914E262B}"/>
              </a:ext>
            </a:extLst>
          </p:cNvPr>
          <p:cNvSpPr>
            <a:spLocks noGrp="1"/>
          </p:cNvSpPr>
          <p:nvPr>
            <p:ph type="title"/>
          </p:nvPr>
        </p:nvSpPr>
        <p:spPr/>
        <p:txBody>
          <a:bodyPr/>
          <a:lstStyle/>
          <a:p>
            <a:r>
              <a:rPr lang="es-MX" dirty="0"/>
              <a:t>Anexo link de los ejercicios solicitados en </a:t>
            </a:r>
            <a:r>
              <a:rPr lang="es-MX" dirty="0" err="1"/>
              <a:t>Intelji</a:t>
            </a:r>
            <a:r>
              <a:rPr lang="es-MX" dirty="0"/>
              <a:t> y enviados en GitHub</a:t>
            </a:r>
          </a:p>
        </p:txBody>
      </p:sp>
      <p:sp>
        <p:nvSpPr>
          <p:cNvPr id="5" name="Marcador de contenido 4">
            <a:extLst>
              <a:ext uri="{FF2B5EF4-FFF2-40B4-BE49-F238E27FC236}">
                <a16:creationId xmlns:a16="http://schemas.microsoft.com/office/drawing/2014/main" id="{B2815B7F-54CD-9466-E0C1-B1FD19773391}"/>
              </a:ext>
            </a:extLst>
          </p:cNvPr>
          <p:cNvSpPr>
            <a:spLocks noGrp="1"/>
          </p:cNvSpPr>
          <p:nvPr>
            <p:ph idx="1"/>
          </p:nvPr>
        </p:nvSpPr>
        <p:spPr>
          <a:xfrm>
            <a:off x="838200" y="1825625"/>
            <a:ext cx="10515600" cy="917575"/>
          </a:xfrm>
        </p:spPr>
        <p:txBody>
          <a:bodyPr/>
          <a:lstStyle/>
          <a:p>
            <a:pPr marL="0" indent="0">
              <a:buNone/>
            </a:pPr>
            <a:r>
              <a:rPr lang="es-MX" dirty="0">
                <a:hlinkClick r:id="rId2"/>
              </a:rPr>
              <a:t>https://github.com/Cynthia21Morales/EstructuraDeDatos_CynthiaJasmineMT/tree/main/ED-Tema-4/EstructurasNoLineales</a:t>
            </a:r>
          </a:p>
        </p:txBody>
      </p:sp>
    </p:spTree>
    <p:extLst>
      <p:ext uri="{BB962C8B-B14F-4D97-AF65-F5344CB8AC3E}">
        <p14:creationId xmlns:p14="http://schemas.microsoft.com/office/powerpoint/2010/main" val="29663006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597</Words>
  <Application>Microsoft Office PowerPoint</Application>
  <PresentationFormat>Panorámica</PresentationFormat>
  <Paragraphs>42</Paragraphs>
  <Slides>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Arial</vt:lpstr>
      <vt:lpstr>Calibri</vt:lpstr>
      <vt:lpstr>Calibri Light</vt:lpstr>
      <vt:lpstr>Century Gothic</vt:lpstr>
      <vt:lpstr>Tema de Office</vt:lpstr>
      <vt:lpstr>Presentación de PowerPoint</vt:lpstr>
      <vt:lpstr>Introducción </vt:lpstr>
      <vt:lpstr>Justificación </vt:lpstr>
      <vt:lpstr>ESTRUCTURAS NO LINEALES</vt:lpstr>
      <vt:lpstr>Pantallas finales</vt:lpstr>
      <vt:lpstr>Conclusión </vt:lpstr>
      <vt:lpstr>Anexo link de los ejercicios solicitados en Intelji y enviados en GitHub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3</cp:revision>
  <dcterms:created xsi:type="dcterms:W3CDTF">2025-12-13T18:47:10Z</dcterms:created>
  <dcterms:modified xsi:type="dcterms:W3CDTF">2025-12-15T00:59:51Z</dcterms:modified>
</cp:coreProperties>
</file>