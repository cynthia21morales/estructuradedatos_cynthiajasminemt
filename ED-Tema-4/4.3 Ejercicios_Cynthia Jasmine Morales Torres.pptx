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0" r:id="rId5"/>
    <p:sldId id="261" r:id="rId6"/>
    <p:sldId id="264" r:id="rId7"/>
    <p:sldId id="263" r:id="rId8"/>
    <p:sldId id="259" r:id="rId9"/>
    <p:sldId id="262" r:id="rId10"/>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80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9CBBDAF-C7D8-E540-335B-E4259344441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B0FF0828-739B-C601-C30B-7777B24A36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FFAF7CB3-AA46-A6AF-F35D-CBE8D543177B}"/>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5" name="Marcador de pie de página 4">
            <a:extLst>
              <a:ext uri="{FF2B5EF4-FFF2-40B4-BE49-F238E27FC236}">
                <a16:creationId xmlns:a16="http://schemas.microsoft.com/office/drawing/2014/main" id="{49DDFEA7-6E72-03B4-3919-5745BBFDF739}"/>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F916FD74-9AFF-C09D-3A35-DF2D83344F62}"/>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1236701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981511-25A4-7080-99A1-EFF15A310D82}"/>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F1DC9BC1-9AE7-7C6E-E289-C3F0F97F1F9E}"/>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9F578092-3BF1-2085-785D-09B102113E09}"/>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5" name="Marcador de pie de página 4">
            <a:extLst>
              <a:ext uri="{FF2B5EF4-FFF2-40B4-BE49-F238E27FC236}">
                <a16:creationId xmlns:a16="http://schemas.microsoft.com/office/drawing/2014/main" id="{9056C048-E5C4-A956-2834-CB8D050E5C5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7905A49-C127-DB92-1857-239B0B36B6D8}"/>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2971980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5A7E4E-9A9D-B9D9-4C2A-47532804F374}"/>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0E0C9B8C-0179-6A95-2F52-536ED5A3F2A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7AEE293-BC1D-13A5-523B-33638C714BB0}"/>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5" name="Marcador de pie de página 4">
            <a:extLst>
              <a:ext uri="{FF2B5EF4-FFF2-40B4-BE49-F238E27FC236}">
                <a16:creationId xmlns:a16="http://schemas.microsoft.com/office/drawing/2014/main" id="{0649C764-4F95-D3F2-0FA2-FE5E45E2F04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8163B5CF-1E49-04BD-7EE5-765BC5569DFA}"/>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3765103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4A6E77-D3EF-7913-5F23-3694C9FB6AA4}"/>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40049868-1B18-645C-4102-5C20519C453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2609014D-0768-469C-1DAB-4D433E0FD1A3}"/>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7CCCF09A-EED3-A68E-DE0A-FE91CD6164B5}"/>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6" name="Marcador de pie de página 5">
            <a:extLst>
              <a:ext uri="{FF2B5EF4-FFF2-40B4-BE49-F238E27FC236}">
                <a16:creationId xmlns:a16="http://schemas.microsoft.com/office/drawing/2014/main" id="{EABA68E9-7735-6049-F538-59498E9BC7B6}"/>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950420FF-FD91-AC7B-F158-8171DE90CC69}"/>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4279388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416EDF-7EBB-5C9E-64F3-FD47173C782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680C6DA2-F549-AE59-0A89-4D9196B6E2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8862347-3F72-35F7-E2CE-5D13B5A8C5F6}"/>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EF3C0F2F-4FBF-8AAF-D5AE-B259583A44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3A29436-BBC4-5092-2076-F63AB58A03C0}"/>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9B612AE-6DDD-51E7-C02C-B710DF8907C9}"/>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8" name="Marcador de pie de página 7">
            <a:extLst>
              <a:ext uri="{FF2B5EF4-FFF2-40B4-BE49-F238E27FC236}">
                <a16:creationId xmlns:a16="http://schemas.microsoft.com/office/drawing/2014/main" id="{6D069EA1-20CE-F5CB-8D20-0A094525400B}"/>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A68BBDE5-674C-D5D6-BBCA-C63863AB6050}"/>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1186752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E66289-068F-1DF3-5420-4DBCE23BB586}"/>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417C217D-BE13-9991-2A51-1BE10ADDF743}"/>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4" name="Marcador de pie de página 3">
            <a:extLst>
              <a:ext uri="{FF2B5EF4-FFF2-40B4-BE49-F238E27FC236}">
                <a16:creationId xmlns:a16="http://schemas.microsoft.com/office/drawing/2014/main" id="{10CCBE52-57D6-718D-2E03-85B8F708D5C8}"/>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F467648-0EE6-9196-2531-54D50418EF91}"/>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14128050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2DD2AD05-F8B2-B558-0EAE-88D4703E6D35}"/>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3" name="Marcador de pie de página 2">
            <a:extLst>
              <a:ext uri="{FF2B5EF4-FFF2-40B4-BE49-F238E27FC236}">
                <a16:creationId xmlns:a16="http://schemas.microsoft.com/office/drawing/2014/main" id="{010DCF24-D4F6-E555-A137-1191B5A6F237}"/>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DA5D419-1943-EC7C-F939-0E26280D6C3D}"/>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31604674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BBA817-38E1-6118-F9B5-05B8518C7ABC}"/>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FC11AB6F-431F-8A05-3594-C3BD88B40D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D5E65418-B663-E87A-095E-6F6BBE0B1B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DEBE7D1F-F16C-05F4-6427-B76E068C3B0F}"/>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6" name="Marcador de pie de página 5">
            <a:extLst>
              <a:ext uri="{FF2B5EF4-FFF2-40B4-BE49-F238E27FC236}">
                <a16:creationId xmlns:a16="http://schemas.microsoft.com/office/drawing/2014/main" id="{3E6BB594-B507-94E5-4055-CB0FFE85137E}"/>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5A372CD8-9C1A-B570-6E85-1B20780E9507}"/>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22347680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8E0157-2842-D2DB-25F7-BE2AB486A1C6}"/>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2CA326AC-F579-BC4B-6A68-E916703C04B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0BABCC9-D830-FA2E-BFA6-C578ABF186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E21BBE5-342F-FE6A-2ECE-CD8F949A860F}"/>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6" name="Marcador de pie de página 5">
            <a:extLst>
              <a:ext uri="{FF2B5EF4-FFF2-40B4-BE49-F238E27FC236}">
                <a16:creationId xmlns:a16="http://schemas.microsoft.com/office/drawing/2014/main" id="{D0B0E193-F13F-F25A-08A6-77D57B2BDA23}"/>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4EF0DEF3-7C54-5C16-217B-BC56682988A8}"/>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2259441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6BC3955-2116-19F3-D7CD-208EC54D5FDC}"/>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D9241429-BBF4-D4CB-7132-262B1A3F21B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695BB8CD-709C-56C2-314D-2D984C7CEC5D}"/>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5" name="Marcador de pie de página 4">
            <a:extLst>
              <a:ext uri="{FF2B5EF4-FFF2-40B4-BE49-F238E27FC236}">
                <a16:creationId xmlns:a16="http://schemas.microsoft.com/office/drawing/2014/main" id="{AA423CD2-852A-AC8A-047B-77E5167FD7D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A24AFEDB-4E63-0B82-4ACA-88CB3EB24D3C}"/>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3661301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8416689E-0A92-CC45-75DE-F6A403FA702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2CD2472-CC5C-76CB-577B-0800CF2F306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316ACDF1-C3CE-2F5D-DCDD-055A75F12A52}"/>
              </a:ext>
            </a:extLst>
          </p:cNvPr>
          <p:cNvSpPr>
            <a:spLocks noGrp="1"/>
          </p:cNvSpPr>
          <p:nvPr>
            <p:ph type="dt" sz="half" idx="10"/>
          </p:nvPr>
        </p:nvSpPr>
        <p:spPr/>
        <p:txBody>
          <a:bodyPr/>
          <a:lstStyle/>
          <a:p>
            <a:fld id="{EFAC9756-930A-4FAB-896B-7171E694E195}" type="datetimeFigureOut">
              <a:rPr lang="es-MX" smtClean="0"/>
              <a:t>13/12/2025</a:t>
            </a:fld>
            <a:endParaRPr lang="es-MX"/>
          </a:p>
        </p:txBody>
      </p:sp>
      <p:sp>
        <p:nvSpPr>
          <p:cNvPr id="5" name="Marcador de pie de página 4">
            <a:extLst>
              <a:ext uri="{FF2B5EF4-FFF2-40B4-BE49-F238E27FC236}">
                <a16:creationId xmlns:a16="http://schemas.microsoft.com/office/drawing/2014/main" id="{6F7DAB6B-8D20-54B3-5CAF-8FE58DD86434}"/>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4F16D94-E720-F945-D127-DAA6E44E37A1}"/>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4073998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2">
                <a:lumMod val="5000"/>
                <a:lumOff val="95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EB18A8D-715A-04B0-2678-4C830E8301C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4B910F7-5AEF-EF6D-EBCC-DEA62AD215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9E8E1DC5-4560-C7BB-22EA-7BF75F4D87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AC9756-930A-4FAB-896B-7171E694E195}" type="datetimeFigureOut">
              <a:rPr lang="es-MX" smtClean="0"/>
              <a:t>13/12/2025</a:t>
            </a:fld>
            <a:endParaRPr lang="es-MX"/>
          </a:p>
        </p:txBody>
      </p:sp>
      <p:sp>
        <p:nvSpPr>
          <p:cNvPr id="5" name="Marcador de pie de página 4">
            <a:extLst>
              <a:ext uri="{FF2B5EF4-FFF2-40B4-BE49-F238E27FC236}">
                <a16:creationId xmlns:a16="http://schemas.microsoft.com/office/drawing/2014/main" id="{06838DBE-1D2A-2618-CEA0-3D5DA3859F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7965C6FD-35F2-65D0-B0D1-D790EC8AED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DDB682-EF7D-4F31-8874-84126B9158C9}" type="slidenum">
              <a:rPr lang="es-MX" smtClean="0"/>
              <a:t>‹Nº›</a:t>
            </a:fld>
            <a:endParaRPr lang="es-MX"/>
          </a:p>
        </p:txBody>
      </p:sp>
    </p:spTree>
    <p:extLst>
      <p:ext uri="{BB962C8B-B14F-4D97-AF65-F5344CB8AC3E}">
        <p14:creationId xmlns:p14="http://schemas.microsoft.com/office/powerpoint/2010/main" val="650344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Cynthia21Morales/EstructuraDeDatos_CynthiaJasmineMT/tree/main/ED-Tema-4/Codigos_Arboles%20y%20Grafo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2">
            <a:extLst>
              <a:ext uri="{FF2B5EF4-FFF2-40B4-BE49-F238E27FC236}">
                <a16:creationId xmlns:a16="http://schemas.microsoft.com/office/drawing/2014/main" id="{06F80EAE-B5AC-B80A-BFD0-34FDA5F52DEF}"/>
              </a:ext>
            </a:extLst>
          </p:cNvPr>
          <p:cNvSpPr txBox="1"/>
          <p:nvPr/>
        </p:nvSpPr>
        <p:spPr>
          <a:xfrm>
            <a:off x="3073400" y="863472"/>
            <a:ext cx="6045200" cy="5504327"/>
          </a:xfrm>
          <a:prstGeom prst="rect">
            <a:avLst/>
          </a:prstGeom>
        </p:spPr>
        <p:txBody>
          <a:bodyPr wrap="square" lIns="0" tIns="0" rIns="0" bIns="0" rtlCol="0" anchor="t">
            <a:spAutoFit/>
          </a:bodyPr>
          <a:lstStyle/>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Instituto </a:t>
            </a:r>
            <a:r>
              <a:rPr lang="en-US" sz="1200" b="1" dirty="0" err="1">
                <a:solidFill>
                  <a:srgbClr val="000000"/>
                </a:solidFill>
                <a:latin typeface="Century Gothic" panose="020B0502020202020204" pitchFamily="34" charset="0"/>
                <a:ea typeface="Glacial Indifference"/>
                <a:cs typeface="Glacial Indifference"/>
                <a:sym typeface="Glacial Indifference"/>
              </a:rPr>
              <a:t>Tecnológico</a:t>
            </a:r>
            <a:r>
              <a:rPr lang="en-US" sz="1200" b="1" dirty="0">
                <a:solidFill>
                  <a:srgbClr val="000000"/>
                </a:solidFill>
                <a:latin typeface="Century Gothic" panose="020B0502020202020204" pitchFamily="34" charset="0"/>
                <a:ea typeface="Glacial Indifference"/>
                <a:cs typeface="Glacial Indifference"/>
                <a:sym typeface="Glacial Indifference"/>
              </a:rPr>
              <a:t> de 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Modalidad</a:t>
            </a:r>
            <a:r>
              <a:rPr lang="en-US" sz="1200" b="1" dirty="0">
                <a:solidFill>
                  <a:srgbClr val="000000"/>
                </a:solidFill>
                <a:latin typeface="Century Gothic" panose="020B0502020202020204" pitchFamily="34" charset="0"/>
                <a:ea typeface="Glacial Indifference"/>
                <a:cs typeface="Glacial Indifference"/>
                <a:sym typeface="Glacial Indifference"/>
              </a:rPr>
              <a:t> Mixta</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Materia:</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Estructura</a:t>
            </a:r>
            <a:r>
              <a:rPr lang="en-US" sz="1200" b="1" dirty="0">
                <a:solidFill>
                  <a:srgbClr val="000000"/>
                </a:solidFill>
                <a:latin typeface="Century Gothic" panose="020B0502020202020204" pitchFamily="34" charset="0"/>
                <a:ea typeface="Glacial Indifference"/>
                <a:cs typeface="Glacial Indifference"/>
                <a:sym typeface="Glacial Indifference"/>
              </a:rPr>
              <a:t> de Datos</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Quinto </a:t>
            </a: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Especialidad</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Ingeniería </a:t>
            </a:r>
            <a:r>
              <a:rPr lang="en-US" sz="1200" b="1" dirty="0" err="1">
                <a:solidFill>
                  <a:srgbClr val="000000"/>
                </a:solidFill>
                <a:latin typeface="Century Gothic" panose="020B0502020202020204" pitchFamily="34" charset="0"/>
                <a:ea typeface="Glacial Indifference"/>
                <a:cs typeface="Glacial Indifference"/>
                <a:sym typeface="Glacial Indifference"/>
              </a:rPr>
              <a:t>en</a:t>
            </a:r>
            <a:r>
              <a:rPr lang="en-US" sz="1200" b="1" dirty="0">
                <a:solidFill>
                  <a:srgbClr val="000000"/>
                </a:solidFill>
                <a:latin typeface="Century Gothic" panose="020B0502020202020204" pitchFamily="34" charset="0"/>
                <a:ea typeface="Glacial Indifference"/>
                <a:cs typeface="Glacial Indifference"/>
                <a:sym typeface="Glacial Indifference"/>
              </a:rPr>
              <a:t> Sistemas </a:t>
            </a:r>
            <a:r>
              <a:rPr lang="en-US" sz="1200" b="1" dirty="0" err="1">
                <a:solidFill>
                  <a:srgbClr val="000000"/>
                </a:solidFill>
                <a:latin typeface="Century Gothic" panose="020B0502020202020204" pitchFamily="34" charset="0"/>
                <a:ea typeface="Glacial Indifference"/>
                <a:cs typeface="Glacial Indifference"/>
                <a:sym typeface="Glacial Indifference"/>
              </a:rPr>
              <a:t>Computacionales</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Numero</a:t>
            </a:r>
            <a:r>
              <a:rPr lang="en-US" sz="1200" b="1" dirty="0">
                <a:solidFill>
                  <a:srgbClr val="000000"/>
                </a:solidFill>
                <a:latin typeface="Century Gothic" panose="020B0502020202020204" pitchFamily="34" charset="0"/>
                <a:ea typeface="Glacial Indifference"/>
                <a:cs typeface="Glacial Indifference"/>
                <a:sym typeface="Glacial Indifference"/>
              </a:rPr>
              <a:t> de control:</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231260014</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alumno</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Cynthia Jasmine Morales Torres</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docente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 Francisco Javier Mingo Velazquez</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trabajo</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4.3 </a:t>
            </a:r>
            <a:r>
              <a:rPr lang="en-US" sz="1200" b="1" dirty="0" err="1">
                <a:solidFill>
                  <a:srgbClr val="000000"/>
                </a:solidFill>
                <a:latin typeface="Century Gothic" panose="020B0502020202020204" pitchFamily="34" charset="0"/>
                <a:ea typeface="Glacial Indifference"/>
                <a:cs typeface="Glacial Indifference"/>
                <a:sym typeface="Glacial Indifference"/>
              </a:rPr>
              <a:t>Ejercicios</a:t>
            </a:r>
            <a:r>
              <a:rPr lang="en-US" sz="1200" b="1" dirty="0">
                <a:solidFill>
                  <a:srgbClr val="000000"/>
                </a:solidFill>
                <a:latin typeface="Century Gothic" panose="020B0502020202020204" pitchFamily="34" charset="0"/>
                <a:ea typeface="Glacial Indifference"/>
                <a:cs typeface="Glacial Indifference"/>
                <a:sym typeface="Glacial Indifference"/>
              </a:rPr>
              <a:t> de Arbol </a:t>
            </a:r>
            <a:r>
              <a:rPr lang="en-US" sz="1200" b="1" dirty="0" err="1">
                <a:solidFill>
                  <a:srgbClr val="000000"/>
                </a:solidFill>
                <a:latin typeface="Century Gothic" panose="020B0502020202020204" pitchFamily="34" charset="0"/>
                <a:ea typeface="Glacial Indifference"/>
                <a:cs typeface="Glacial Indifference"/>
                <a:sym typeface="Glacial Indifference"/>
              </a:rPr>
              <a:t>binario</a:t>
            </a:r>
            <a:r>
              <a:rPr lang="en-US" sz="1200" b="1" dirty="0">
                <a:solidFill>
                  <a:srgbClr val="000000"/>
                </a:solidFill>
                <a:latin typeface="Century Gothic" panose="020B0502020202020204" pitchFamily="34" charset="0"/>
                <a:ea typeface="Glacial Indifference"/>
                <a:cs typeface="Glacial Indifference"/>
                <a:sym typeface="Glacial Indifference"/>
              </a:rPr>
              <a:t> y </a:t>
            </a:r>
            <a:r>
              <a:rPr lang="en-US" sz="1200" b="1" dirty="0" err="1">
                <a:solidFill>
                  <a:srgbClr val="000000"/>
                </a:solidFill>
                <a:latin typeface="Century Gothic" panose="020B0502020202020204" pitchFamily="34" charset="0"/>
                <a:ea typeface="Glacial Indifference"/>
                <a:cs typeface="Glacial Indifference"/>
                <a:sym typeface="Glacial Indifference"/>
              </a:rPr>
              <a:t>grafo</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Fecha</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entrega</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r>
              <a:rPr lang="en-US" sz="1200" b="1" dirty="0">
                <a:solidFill>
                  <a:srgbClr val="000000"/>
                </a:solidFill>
                <a:latin typeface="Century Gothic" panose="020B0502020202020204" pitchFamily="34" charset="0"/>
                <a:ea typeface="Glacial Indifference"/>
                <a:cs typeface="Glacial Indifference"/>
                <a:sym typeface="Glacial Indifference"/>
              </a:rPr>
              <a:t>, Chiapas. A 13 de </a:t>
            </a:r>
            <a:r>
              <a:rPr lang="en-US" sz="1200" b="1" dirty="0" err="1">
                <a:solidFill>
                  <a:srgbClr val="000000"/>
                </a:solidFill>
                <a:latin typeface="Century Gothic" panose="020B0502020202020204" pitchFamily="34" charset="0"/>
                <a:ea typeface="Glacial Indifference"/>
                <a:cs typeface="Glacial Indifference"/>
                <a:sym typeface="Glacial Indifference"/>
              </a:rPr>
              <a:t>diciembre</a:t>
            </a:r>
            <a:r>
              <a:rPr lang="en-US" sz="1200" b="1" dirty="0">
                <a:solidFill>
                  <a:srgbClr val="000000"/>
                </a:solidFill>
                <a:latin typeface="Century Gothic" panose="020B0502020202020204" pitchFamily="34" charset="0"/>
                <a:ea typeface="Glacial Indifference"/>
                <a:cs typeface="Glacial Indifference"/>
                <a:sym typeface="Glacial Indifference"/>
              </a:rPr>
              <a:t> de 2025</a:t>
            </a:r>
          </a:p>
        </p:txBody>
      </p:sp>
      <p:sp>
        <p:nvSpPr>
          <p:cNvPr id="5" name="Freeform 3">
            <a:extLst>
              <a:ext uri="{FF2B5EF4-FFF2-40B4-BE49-F238E27FC236}">
                <a16:creationId xmlns:a16="http://schemas.microsoft.com/office/drawing/2014/main" id="{02E52FAA-A5E0-BE8E-5DD2-24BE6B1C4F46}"/>
              </a:ext>
            </a:extLst>
          </p:cNvPr>
          <p:cNvSpPr/>
          <p:nvPr/>
        </p:nvSpPr>
        <p:spPr>
          <a:xfrm>
            <a:off x="1835071" y="130506"/>
            <a:ext cx="1985447" cy="917245"/>
          </a:xfrm>
          <a:custGeom>
            <a:avLst/>
            <a:gdLst/>
            <a:ahLst/>
            <a:cxnLst/>
            <a:rect l="l" t="t" r="r" b="b"/>
            <a:pathLst>
              <a:path w="3135296" h="1339792">
                <a:moveTo>
                  <a:pt x="0" y="0"/>
                </a:moveTo>
                <a:lnTo>
                  <a:pt x="3135296" y="0"/>
                </a:lnTo>
                <a:lnTo>
                  <a:pt x="3135296" y="1339792"/>
                </a:lnTo>
                <a:lnTo>
                  <a:pt x="0" y="1339792"/>
                </a:lnTo>
                <a:lnTo>
                  <a:pt x="0" y="0"/>
                </a:lnTo>
                <a:close/>
              </a:path>
            </a:pathLst>
          </a:custGeom>
          <a:blipFill>
            <a:blip r:embed="rId2"/>
            <a:stretch>
              <a:fillRect/>
            </a:stretch>
          </a:blipFill>
        </p:spPr>
      </p:sp>
      <p:sp>
        <p:nvSpPr>
          <p:cNvPr id="6" name="Freeform 4">
            <a:extLst>
              <a:ext uri="{FF2B5EF4-FFF2-40B4-BE49-F238E27FC236}">
                <a16:creationId xmlns:a16="http://schemas.microsoft.com/office/drawing/2014/main" id="{7D732417-D419-7D2A-EDBA-0BC415DD9D1A}"/>
              </a:ext>
            </a:extLst>
          </p:cNvPr>
          <p:cNvSpPr/>
          <p:nvPr/>
        </p:nvSpPr>
        <p:spPr>
          <a:xfrm>
            <a:off x="8907659" y="203069"/>
            <a:ext cx="1385614" cy="844682"/>
          </a:xfrm>
          <a:custGeom>
            <a:avLst/>
            <a:gdLst/>
            <a:ahLst/>
            <a:cxnLst/>
            <a:rect l="l" t="t" r="r" b="b"/>
            <a:pathLst>
              <a:path w="2019078" h="1652713">
                <a:moveTo>
                  <a:pt x="0" y="0"/>
                </a:moveTo>
                <a:lnTo>
                  <a:pt x="2019078" y="0"/>
                </a:lnTo>
                <a:lnTo>
                  <a:pt x="2019078" y="1652713"/>
                </a:lnTo>
                <a:lnTo>
                  <a:pt x="0" y="1652713"/>
                </a:lnTo>
                <a:lnTo>
                  <a:pt x="0" y="0"/>
                </a:lnTo>
                <a:close/>
              </a:path>
            </a:pathLst>
          </a:custGeom>
          <a:blipFill>
            <a:blip r:embed="rId3"/>
            <a:stretch>
              <a:fillRect/>
            </a:stretch>
          </a:blipFill>
        </p:spPr>
      </p:sp>
      <p:sp>
        <p:nvSpPr>
          <p:cNvPr id="7" name="Freeform 5">
            <a:extLst>
              <a:ext uri="{FF2B5EF4-FFF2-40B4-BE49-F238E27FC236}">
                <a16:creationId xmlns:a16="http://schemas.microsoft.com/office/drawing/2014/main" id="{9B5DCDE8-6288-A4FA-1517-62A8063C68C5}"/>
              </a:ext>
            </a:extLst>
          </p:cNvPr>
          <p:cNvSpPr/>
          <p:nvPr/>
        </p:nvSpPr>
        <p:spPr>
          <a:xfrm>
            <a:off x="4694917" y="181027"/>
            <a:ext cx="2802166" cy="584341"/>
          </a:xfrm>
          <a:custGeom>
            <a:avLst/>
            <a:gdLst/>
            <a:ahLst/>
            <a:cxnLst/>
            <a:rect l="l" t="t" r="r" b="b"/>
            <a:pathLst>
              <a:path w="4428347" h="916210">
                <a:moveTo>
                  <a:pt x="0" y="0"/>
                </a:moveTo>
                <a:lnTo>
                  <a:pt x="4428347" y="0"/>
                </a:lnTo>
                <a:lnTo>
                  <a:pt x="4428347" y="916210"/>
                </a:lnTo>
                <a:lnTo>
                  <a:pt x="0" y="916210"/>
                </a:lnTo>
                <a:lnTo>
                  <a:pt x="0" y="0"/>
                </a:lnTo>
                <a:close/>
              </a:path>
            </a:pathLst>
          </a:custGeom>
          <a:blipFill>
            <a:blip r:embed="rId4"/>
            <a:stretch>
              <a:fillRect/>
            </a:stretch>
          </a:blipFill>
        </p:spPr>
      </p:sp>
    </p:spTree>
    <p:extLst>
      <p:ext uri="{BB962C8B-B14F-4D97-AF65-F5344CB8AC3E}">
        <p14:creationId xmlns:p14="http://schemas.microsoft.com/office/powerpoint/2010/main" val="3744355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1B1010-37C6-A55C-2CBA-D1178D8E95EC}"/>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77B6B000-9EB0-8676-C4AD-ACDFBA4CB58D}"/>
              </a:ext>
            </a:extLst>
          </p:cNvPr>
          <p:cNvSpPr>
            <a:spLocks noGrp="1"/>
          </p:cNvSpPr>
          <p:nvPr>
            <p:ph idx="1"/>
          </p:nvPr>
        </p:nvSpPr>
        <p:spPr/>
        <p:txBody>
          <a:bodyPr>
            <a:normAutofit lnSpcReduction="10000"/>
          </a:bodyPr>
          <a:lstStyle/>
          <a:p>
            <a:pPr marL="0" indent="0">
              <a:buNone/>
            </a:pPr>
            <a:r>
              <a:rPr lang="es-MX" dirty="0"/>
              <a:t>Las estructuras de datos no lineales son fundamentales en el desarrollo de software, ya que permiten representar relaciones complejas entre los datos que no pueden organizarse de forma secuencial. Entre estas estructuras destacan los árboles y los grafos, los cuales se utilizan para modelar jerarquías, conexiones y redes en distintos sistemas computacionales.</a:t>
            </a:r>
          </a:p>
          <a:p>
            <a:pPr marL="0" indent="0">
              <a:buNone/>
            </a:pPr>
            <a:r>
              <a:rPr lang="es-MX" dirty="0"/>
              <a:t>En el presente trabajo se implementan diversos programas en Java, apoyados con interfaces gráficas en </a:t>
            </a:r>
            <a:r>
              <a:rPr lang="es-MX" dirty="0" err="1"/>
              <a:t>JavaFX</a:t>
            </a:r>
            <a:r>
              <a:rPr lang="es-MX" dirty="0"/>
              <a:t>, con el propósito de analizar el comportamiento de las estructuras no lineales mediante la inserción de nodos, la creación de relaciones y la ejecución de recorridos que facilitan la exploración de la información.</a:t>
            </a:r>
          </a:p>
          <a:p>
            <a:pPr marL="0" indent="0">
              <a:buNone/>
            </a:pPr>
            <a:endParaRPr lang="es-MX" dirty="0"/>
          </a:p>
        </p:txBody>
      </p:sp>
    </p:spTree>
    <p:extLst>
      <p:ext uri="{BB962C8B-B14F-4D97-AF65-F5344CB8AC3E}">
        <p14:creationId xmlns:p14="http://schemas.microsoft.com/office/powerpoint/2010/main" val="36890880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11A170-6A78-317B-5C2C-1C79924E3BDD}"/>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A9F10557-8722-9E8C-2592-5121B7A83BAA}"/>
              </a:ext>
            </a:extLst>
          </p:cNvPr>
          <p:cNvSpPr>
            <a:spLocks noGrp="1"/>
          </p:cNvSpPr>
          <p:nvPr>
            <p:ph idx="1"/>
          </p:nvPr>
        </p:nvSpPr>
        <p:spPr/>
        <p:txBody>
          <a:bodyPr>
            <a:normAutofit lnSpcReduction="10000"/>
          </a:bodyPr>
          <a:lstStyle/>
          <a:p>
            <a:pPr marL="0" indent="0">
              <a:buNone/>
            </a:pPr>
            <a:r>
              <a:rPr lang="es-MX" dirty="0"/>
              <a:t>El aprendizaje de las estructuras no lineales es esencial para comprender cómo se organizan y manipulan grandes volúmenes de información en aplicaciones reales. Los árboles permiten estructurar datos de manera jerárquica, mientras que los grafos representan relaciones entre múltiples elementos, como ocurre en redes de computadoras y sistemas de comunicación.</a:t>
            </a:r>
          </a:p>
          <a:p>
            <a:pPr marL="0" indent="0">
              <a:buNone/>
            </a:pPr>
            <a:r>
              <a:rPr lang="es-MX" dirty="0"/>
              <a:t>La realización de estos ejercicios prácticos fortalece los conocimientos teóricos adquiridos en clase, ya que permite observar de forma directa el funcionamiento de dichas estructuras. Además, el uso de </a:t>
            </a:r>
            <a:r>
              <a:rPr lang="es-MX" dirty="0" err="1"/>
              <a:t>JavaFX</a:t>
            </a:r>
            <a:r>
              <a:rPr lang="es-MX" dirty="0"/>
              <a:t> mejora la interacción con el usuario, haciendo más comprensible el proceso de inserción de datos y la ejecución de los algoritmos.</a:t>
            </a:r>
          </a:p>
          <a:p>
            <a:pPr marL="0" indent="0">
              <a:buNone/>
            </a:pPr>
            <a:endParaRPr lang="es-MX" dirty="0"/>
          </a:p>
        </p:txBody>
      </p:sp>
    </p:spTree>
    <p:extLst>
      <p:ext uri="{BB962C8B-B14F-4D97-AF65-F5344CB8AC3E}">
        <p14:creationId xmlns:p14="http://schemas.microsoft.com/office/powerpoint/2010/main" val="4210626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D731C4-060D-A035-721D-5A8672740C47}"/>
              </a:ext>
            </a:extLst>
          </p:cNvPr>
          <p:cNvSpPr>
            <a:spLocks noGrp="1"/>
          </p:cNvSpPr>
          <p:nvPr>
            <p:ph type="title"/>
          </p:nvPr>
        </p:nvSpPr>
        <p:spPr>
          <a:xfrm>
            <a:off x="838199" y="365125"/>
            <a:ext cx="11090097" cy="1083531"/>
          </a:xfrm>
        </p:spPr>
        <p:txBody>
          <a:bodyPr>
            <a:normAutofit/>
          </a:bodyPr>
          <a:lstStyle/>
          <a:p>
            <a:r>
              <a:rPr lang="es-MX" sz="3600" dirty="0">
                <a:latin typeface="Century Gothic" panose="020B0502020202020204" pitchFamily="34" charset="0"/>
              </a:rPr>
              <a:t>ESTRUCTURAS NO LINEALES: ARBOL BINARIO</a:t>
            </a:r>
          </a:p>
        </p:txBody>
      </p:sp>
      <p:pic>
        <p:nvPicPr>
          <p:cNvPr id="5" name="Marcador de contenido 4">
            <a:extLst>
              <a:ext uri="{FF2B5EF4-FFF2-40B4-BE49-F238E27FC236}">
                <a16:creationId xmlns:a16="http://schemas.microsoft.com/office/drawing/2014/main" id="{8BD7C0F9-7E23-4725-DA81-E89DF0F6F49F}"/>
              </a:ext>
            </a:extLst>
          </p:cNvPr>
          <p:cNvPicPr>
            <a:picLocks noGrp="1" noChangeAspect="1"/>
          </p:cNvPicPr>
          <p:nvPr>
            <p:ph idx="1"/>
          </p:nvPr>
        </p:nvPicPr>
        <p:blipFill>
          <a:blip r:embed="rId2"/>
          <a:stretch>
            <a:fillRect/>
          </a:stretch>
        </p:blipFill>
        <p:spPr>
          <a:xfrm>
            <a:off x="838199" y="1448656"/>
            <a:ext cx="3268802" cy="2818294"/>
          </a:xfrm>
        </p:spPr>
      </p:pic>
      <p:pic>
        <p:nvPicPr>
          <p:cNvPr id="7" name="Imagen 6">
            <a:extLst>
              <a:ext uri="{FF2B5EF4-FFF2-40B4-BE49-F238E27FC236}">
                <a16:creationId xmlns:a16="http://schemas.microsoft.com/office/drawing/2014/main" id="{E2D45F27-3BE2-CE0C-173B-AC1D6C313465}"/>
              </a:ext>
            </a:extLst>
          </p:cNvPr>
          <p:cNvPicPr>
            <a:picLocks noChangeAspect="1"/>
          </p:cNvPicPr>
          <p:nvPr/>
        </p:nvPicPr>
        <p:blipFill>
          <a:blip r:embed="rId3"/>
          <a:stretch>
            <a:fillRect/>
          </a:stretch>
        </p:blipFill>
        <p:spPr>
          <a:xfrm>
            <a:off x="755381" y="4386284"/>
            <a:ext cx="3647360" cy="2312467"/>
          </a:xfrm>
          <a:prstGeom prst="rect">
            <a:avLst/>
          </a:prstGeom>
        </p:spPr>
      </p:pic>
      <p:pic>
        <p:nvPicPr>
          <p:cNvPr id="9" name="Imagen 8">
            <a:extLst>
              <a:ext uri="{FF2B5EF4-FFF2-40B4-BE49-F238E27FC236}">
                <a16:creationId xmlns:a16="http://schemas.microsoft.com/office/drawing/2014/main" id="{2DC81F2F-DEA9-BBA3-7F96-3F85C9F09F4A}"/>
              </a:ext>
            </a:extLst>
          </p:cNvPr>
          <p:cNvPicPr>
            <a:picLocks noChangeAspect="1"/>
          </p:cNvPicPr>
          <p:nvPr/>
        </p:nvPicPr>
        <p:blipFill>
          <a:blip r:embed="rId4"/>
          <a:stretch>
            <a:fillRect/>
          </a:stretch>
        </p:blipFill>
        <p:spPr>
          <a:xfrm>
            <a:off x="4556331" y="1712277"/>
            <a:ext cx="3653832" cy="2291052"/>
          </a:xfrm>
          <a:prstGeom prst="rect">
            <a:avLst/>
          </a:prstGeom>
        </p:spPr>
      </p:pic>
      <p:pic>
        <p:nvPicPr>
          <p:cNvPr id="11" name="Imagen 10">
            <a:extLst>
              <a:ext uri="{FF2B5EF4-FFF2-40B4-BE49-F238E27FC236}">
                <a16:creationId xmlns:a16="http://schemas.microsoft.com/office/drawing/2014/main" id="{1F8999FA-3DAF-8902-AB9A-0A550ADE18E8}"/>
              </a:ext>
            </a:extLst>
          </p:cNvPr>
          <p:cNvPicPr>
            <a:picLocks noChangeAspect="1"/>
          </p:cNvPicPr>
          <p:nvPr/>
        </p:nvPicPr>
        <p:blipFill>
          <a:blip r:embed="rId5"/>
          <a:stretch>
            <a:fillRect/>
          </a:stretch>
        </p:blipFill>
        <p:spPr>
          <a:xfrm>
            <a:off x="4712798" y="4266950"/>
            <a:ext cx="3647361" cy="2466750"/>
          </a:xfrm>
          <a:prstGeom prst="rect">
            <a:avLst/>
          </a:prstGeom>
        </p:spPr>
      </p:pic>
      <p:sp>
        <p:nvSpPr>
          <p:cNvPr id="13" name="CuadroTexto 12">
            <a:extLst>
              <a:ext uri="{FF2B5EF4-FFF2-40B4-BE49-F238E27FC236}">
                <a16:creationId xmlns:a16="http://schemas.microsoft.com/office/drawing/2014/main" id="{D7E1DA72-6C31-A11C-39E5-560F281F7CD6}"/>
              </a:ext>
            </a:extLst>
          </p:cNvPr>
          <p:cNvSpPr txBox="1"/>
          <p:nvPr/>
        </p:nvSpPr>
        <p:spPr>
          <a:xfrm>
            <a:off x="8360159" y="1729233"/>
            <a:ext cx="3547153" cy="1754326"/>
          </a:xfrm>
          <a:prstGeom prst="rect">
            <a:avLst/>
          </a:prstGeom>
          <a:noFill/>
        </p:spPr>
        <p:txBody>
          <a:bodyPr wrap="square">
            <a:spAutoFit/>
          </a:bodyPr>
          <a:lstStyle/>
          <a:p>
            <a:pPr algn="just"/>
            <a:r>
              <a:rPr lang="es-MX" dirty="0">
                <a:latin typeface="Century Gothic" panose="020B0502020202020204" pitchFamily="34" charset="0"/>
              </a:rPr>
              <a:t>Este código implementa un </a:t>
            </a:r>
            <a:r>
              <a:rPr lang="es-MX" b="1" dirty="0">
                <a:latin typeface="Century Gothic" panose="020B0502020202020204" pitchFamily="34" charset="0"/>
              </a:rPr>
              <a:t>árbol binario de búsqueda</a:t>
            </a:r>
            <a:r>
              <a:rPr lang="es-MX" dirty="0">
                <a:latin typeface="Century Gothic" panose="020B0502020202020204" pitchFamily="34" charset="0"/>
              </a:rPr>
              <a:t>, una estructura de datos no lineal en la que cada nodo puede tener hasta dos hijos: uno izquierdo y uno derecho.</a:t>
            </a:r>
          </a:p>
        </p:txBody>
      </p:sp>
      <p:sp>
        <p:nvSpPr>
          <p:cNvPr id="15" name="CuadroTexto 14">
            <a:extLst>
              <a:ext uri="{FF2B5EF4-FFF2-40B4-BE49-F238E27FC236}">
                <a16:creationId xmlns:a16="http://schemas.microsoft.com/office/drawing/2014/main" id="{344B38CC-2FBA-CCAF-3BFD-D5EA521C9221}"/>
              </a:ext>
            </a:extLst>
          </p:cNvPr>
          <p:cNvSpPr txBox="1"/>
          <p:nvPr/>
        </p:nvSpPr>
        <p:spPr>
          <a:xfrm>
            <a:off x="8638510" y="3922309"/>
            <a:ext cx="3268802" cy="2308324"/>
          </a:xfrm>
          <a:prstGeom prst="rect">
            <a:avLst/>
          </a:prstGeom>
          <a:noFill/>
        </p:spPr>
        <p:txBody>
          <a:bodyPr wrap="square">
            <a:spAutoFit/>
          </a:bodyPr>
          <a:lstStyle/>
          <a:p>
            <a:pPr algn="just"/>
            <a:r>
              <a:rPr lang="es-MX" dirty="0">
                <a:latin typeface="Century Gothic" panose="020B0502020202020204" pitchFamily="34" charset="0"/>
              </a:rPr>
              <a:t>Este código permite crear y manipular un árbol binario de búsqueda, insertar valores manteniendo el orden y recorrer la estructura de distintas formas para analizar su contenido.</a:t>
            </a:r>
          </a:p>
        </p:txBody>
      </p:sp>
    </p:spTree>
    <p:extLst>
      <p:ext uri="{BB962C8B-B14F-4D97-AF65-F5344CB8AC3E}">
        <p14:creationId xmlns:p14="http://schemas.microsoft.com/office/powerpoint/2010/main" val="21630091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644AA3-5010-875B-4182-61E352E8A00D}"/>
              </a:ext>
            </a:extLst>
          </p:cNvPr>
          <p:cNvSpPr>
            <a:spLocks noGrp="1"/>
          </p:cNvSpPr>
          <p:nvPr>
            <p:ph type="title"/>
          </p:nvPr>
        </p:nvSpPr>
        <p:spPr/>
        <p:txBody>
          <a:bodyPr/>
          <a:lstStyle/>
          <a:p>
            <a:r>
              <a:rPr lang="es-MX" dirty="0"/>
              <a:t>Resultado del árbol binario </a:t>
            </a:r>
          </a:p>
        </p:txBody>
      </p:sp>
      <p:pic>
        <p:nvPicPr>
          <p:cNvPr id="5" name="Marcador de contenido 4">
            <a:extLst>
              <a:ext uri="{FF2B5EF4-FFF2-40B4-BE49-F238E27FC236}">
                <a16:creationId xmlns:a16="http://schemas.microsoft.com/office/drawing/2014/main" id="{5566C1AE-95A4-045C-E457-B2BB4EC66287}"/>
              </a:ext>
            </a:extLst>
          </p:cNvPr>
          <p:cNvPicPr>
            <a:picLocks noGrp="1" noChangeAspect="1"/>
          </p:cNvPicPr>
          <p:nvPr>
            <p:ph idx="1"/>
          </p:nvPr>
        </p:nvPicPr>
        <p:blipFill>
          <a:blip r:embed="rId2"/>
          <a:stretch>
            <a:fillRect/>
          </a:stretch>
        </p:blipFill>
        <p:spPr>
          <a:xfrm>
            <a:off x="185950" y="1813437"/>
            <a:ext cx="5566266" cy="2619419"/>
          </a:xfrm>
        </p:spPr>
      </p:pic>
      <p:pic>
        <p:nvPicPr>
          <p:cNvPr id="7" name="Imagen 6">
            <a:extLst>
              <a:ext uri="{FF2B5EF4-FFF2-40B4-BE49-F238E27FC236}">
                <a16:creationId xmlns:a16="http://schemas.microsoft.com/office/drawing/2014/main" id="{7396C603-3C9F-493C-2A53-6E1A10AC1D7F}"/>
              </a:ext>
            </a:extLst>
          </p:cNvPr>
          <p:cNvPicPr>
            <a:picLocks noChangeAspect="1"/>
          </p:cNvPicPr>
          <p:nvPr/>
        </p:nvPicPr>
        <p:blipFill>
          <a:blip r:embed="rId3"/>
          <a:stretch>
            <a:fillRect/>
          </a:stretch>
        </p:blipFill>
        <p:spPr>
          <a:xfrm>
            <a:off x="6306313" y="1813437"/>
            <a:ext cx="5187639" cy="3693877"/>
          </a:xfrm>
          <a:prstGeom prst="rect">
            <a:avLst/>
          </a:prstGeom>
        </p:spPr>
      </p:pic>
    </p:spTree>
    <p:extLst>
      <p:ext uri="{BB962C8B-B14F-4D97-AF65-F5344CB8AC3E}">
        <p14:creationId xmlns:p14="http://schemas.microsoft.com/office/powerpoint/2010/main" val="30302343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453BF6-9084-43A7-9F86-350C114E7DF5}"/>
              </a:ext>
            </a:extLst>
          </p:cNvPr>
          <p:cNvSpPr>
            <a:spLocks noGrp="1"/>
          </p:cNvSpPr>
          <p:nvPr>
            <p:ph type="title"/>
          </p:nvPr>
        </p:nvSpPr>
        <p:spPr/>
        <p:txBody>
          <a:bodyPr/>
          <a:lstStyle/>
          <a:p>
            <a:r>
              <a:rPr lang="es-MX" dirty="0"/>
              <a:t>ESTRUCTURAS NO LINEALES: GRAFO</a:t>
            </a:r>
          </a:p>
        </p:txBody>
      </p:sp>
      <p:pic>
        <p:nvPicPr>
          <p:cNvPr id="5" name="Marcador de contenido 4">
            <a:extLst>
              <a:ext uri="{FF2B5EF4-FFF2-40B4-BE49-F238E27FC236}">
                <a16:creationId xmlns:a16="http://schemas.microsoft.com/office/drawing/2014/main" id="{FB5930B9-0FDF-706D-391E-0E4821C27DF3}"/>
              </a:ext>
            </a:extLst>
          </p:cNvPr>
          <p:cNvPicPr>
            <a:picLocks noGrp="1" noChangeAspect="1"/>
          </p:cNvPicPr>
          <p:nvPr>
            <p:ph idx="1"/>
          </p:nvPr>
        </p:nvPicPr>
        <p:blipFill>
          <a:blip r:embed="rId2"/>
          <a:stretch>
            <a:fillRect/>
          </a:stretch>
        </p:blipFill>
        <p:spPr>
          <a:xfrm>
            <a:off x="108734" y="1548464"/>
            <a:ext cx="5200711" cy="4882537"/>
          </a:xfrm>
        </p:spPr>
      </p:pic>
      <p:pic>
        <p:nvPicPr>
          <p:cNvPr id="7" name="Imagen 6">
            <a:extLst>
              <a:ext uri="{FF2B5EF4-FFF2-40B4-BE49-F238E27FC236}">
                <a16:creationId xmlns:a16="http://schemas.microsoft.com/office/drawing/2014/main" id="{8670801C-3A99-3FC8-AA53-1A5BAC72BDC3}"/>
              </a:ext>
            </a:extLst>
          </p:cNvPr>
          <p:cNvPicPr>
            <a:picLocks noChangeAspect="1"/>
          </p:cNvPicPr>
          <p:nvPr/>
        </p:nvPicPr>
        <p:blipFill>
          <a:blip r:embed="rId3"/>
          <a:stretch>
            <a:fillRect/>
          </a:stretch>
        </p:blipFill>
        <p:spPr>
          <a:xfrm>
            <a:off x="5409006" y="1548463"/>
            <a:ext cx="4002122" cy="2811349"/>
          </a:xfrm>
          <a:prstGeom prst="rect">
            <a:avLst/>
          </a:prstGeom>
        </p:spPr>
      </p:pic>
      <p:sp>
        <p:nvSpPr>
          <p:cNvPr id="9" name="CuadroTexto 8">
            <a:extLst>
              <a:ext uri="{FF2B5EF4-FFF2-40B4-BE49-F238E27FC236}">
                <a16:creationId xmlns:a16="http://schemas.microsoft.com/office/drawing/2014/main" id="{25430C58-F2E6-7514-9F2A-61A608996A94}"/>
              </a:ext>
            </a:extLst>
          </p:cNvPr>
          <p:cNvSpPr txBox="1"/>
          <p:nvPr/>
        </p:nvSpPr>
        <p:spPr>
          <a:xfrm>
            <a:off x="5494877" y="4414027"/>
            <a:ext cx="6474515" cy="2308324"/>
          </a:xfrm>
          <a:prstGeom prst="rect">
            <a:avLst/>
          </a:prstGeom>
          <a:noFill/>
        </p:spPr>
        <p:txBody>
          <a:bodyPr wrap="square">
            <a:spAutoFit/>
          </a:bodyPr>
          <a:lstStyle/>
          <a:p>
            <a:r>
              <a:rPr lang="es-MX" sz="2400" dirty="0"/>
              <a:t>Este código sirve para </a:t>
            </a:r>
            <a:r>
              <a:rPr lang="es-MX" sz="2400" b="1" dirty="0"/>
              <a:t>recorrer un grafo usando el algoritmo DFS (Depth </a:t>
            </a:r>
            <a:r>
              <a:rPr lang="es-MX" sz="2400" b="1" dirty="0" err="1"/>
              <a:t>First</a:t>
            </a:r>
            <a:r>
              <a:rPr lang="es-MX" sz="2400" b="1" dirty="0"/>
              <a:t> </a:t>
            </a:r>
            <a:r>
              <a:rPr lang="es-MX" sz="2400" b="1" dirty="0" err="1"/>
              <a:t>Search</a:t>
            </a:r>
            <a:r>
              <a:rPr lang="es-MX" sz="2400" b="1" dirty="0"/>
              <a:t>)</a:t>
            </a:r>
            <a:r>
              <a:rPr lang="es-MX" sz="2400" dirty="0"/>
              <a:t>, es decir, </a:t>
            </a:r>
            <a:r>
              <a:rPr lang="es-MX" sz="2400" b="1" dirty="0"/>
              <a:t>recorrido en profundidad</a:t>
            </a:r>
            <a:r>
              <a:rPr lang="es-MX" sz="2400" dirty="0"/>
              <a:t>.</a:t>
            </a:r>
            <a:br>
              <a:rPr lang="es-MX" sz="2400" dirty="0"/>
            </a:br>
            <a:r>
              <a:rPr lang="es-MX" sz="2400" b="1" dirty="0"/>
              <a:t>Permite visitar todos los nodos de un grafo empezando desde uno inicial, yendo lo más profundo posible antes de regresar.</a:t>
            </a:r>
            <a:endParaRPr lang="es-MX" sz="2400" dirty="0"/>
          </a:p>
        </p:txBody>
      </p:sp>
    </p:spTree>
    <p:extLst>
      <p:ext uri="{BB962C8B-B14F-4D97-AF65-F5344CB8AC3E}">
        <p14:creationId xmlns:p14="http://schemas.microsoft.com/office/powerpoint/2010/main" val="8760894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5E6839-C9C8-3665-6904-08D4F92E26F3}"/>
              </a:ext>
            </a:extLst>
          </p:cNvPr>
          <p:cNvSpPr>
            <a:spLocks noGrp="1"/>
          </p:cNvSpPr>
          <p:nvPr>
            <p:ph type="title"/>
          </p:nvPr>
        </p:nvSpPr>
        <p:spPr/>
        <p:txBody>
          <a:bodyPr/>
          <a:lstStyle/>
          <a:p>
            <a:r>
              <a:rPr lang="es-MX" dirty="0"/>
              <a:t>Resultados de grafo </a:t>
            </a:r>
          </a:p>
        </p:txBody>
      </p:sp>
      <p:pic>
        <p:nvPicPr>
          <p:cNvPr id="5" name="Marcador de contenido 4">
            <a:extLst>
              <a:ext uri="{FF2B5EF4-FFF2-40B4-BE49-F238E27FC236}">
                <a16:creationId xmlns:a16="http://schemas.microsoft.com/office/drawing/2014/main" id="{EB9930C7-925F-2DE4-4B51-A4C334BE4901}"/>
              </a:ext>
            </a:extLst>
          </p:cNvPr>
          <p:cNvPicPr>
            <a:picLocks noGrp="1" noChangeAspect="1"/>
          </p:cNvPicPr>
          <p:nvPr>
            <p:ph idx="1"/>
          </p:nvPr>
        </p:nvPicPr>
        <p:blipFill>
          <a:blip r:embed="rId2"/>
          <a:stretch>
            <a:fillRect/>
          </a:stretch>
        </p:blipFill>
        <p:spPr>
          <a:xfrm>
            <a:off x="838200" y="1585944"/>
            <a:ext cx="6913474" cy="2338784"/>
          </a:xfrm>
        </p:spPr>
      </p:pic>
      <p:pic>
        <p:nvPicPr>
          <p:cNvPr id="7" name="Imagen 6">
            <a:extLst>
              <a:ext uri="{FF2B5EF4-FFF2-40B4-BE49-F238E27FC236}">
                <a16:creationId xmlns:a16="http://schemas.microsoft.com/office/drawing/2014/main" id="{7917CD10-86D3-0718-996C-992D1ACE2FE0}"/>
              </a:ext>
            </a:extLst>
          </p:cNvPr>
          <p:cNvPicPr>
            <a:picLocks noChangeAspect="1"/>
          </p:cNvPicPr>
          <p:nvPr/>
        </p:nvPicPr>
        <p:blipFill>
          <a:blip r:embed="rId3"/>
          <a:stretch>
            <a:fillRect/>
          </a:stretch>
        </p:blipFill>
        <p:spPr>
          <a:xfrm>
            <a:off x="8036056" y="1585944"/>
            <a:ext cx="3179756" cy="4905910"/>
          </a:xfrm>
          <a:prstGeom prst="rect">
            <a:avLst/>
          </a:prstGeom>
        </p:spPr>
      </p:pic>
    </p:spTree>
    <p:extLst>
      <p:ext uri="{BB962C8B-B14F-4D97-AF65-F5344CB8AC3E}">
        <p14:creationId xmlns:p14="http://schemas.microsoft.com/office/powerpoint/2010/main" val="821866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6EBB7F-8BF8-C9DC-529A-329C3E21D38F}"/>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457DF424-BFE6-EC7F-CB57-4C288375CCD7}"/>
              </a:ext>
            </a:extLst>
          </p:cNvPr>
          <p:cNvSpPr>
            <a:spLocks noGrp="1"/>
          </p:cNvSpPr>
          <p:nvPr>
            <p:ph idx="1"/>
          </p:nvPr>
        </p:nvSpPr>
        <p:spPr/>
        <p:txBody>
          <a:bodyPr>
            <a:normAutofit lnSpcReduction="10000"/>
          </a:bodyPr>
          <a:lstStyle/>
          <a:p>
            <a:pPr marL="0" indent="0">
              <a:buNone/>
            </a:pPr>
            <a:r>
              <a:rPr lang="es-MX" dirty="0"/>
              <a:t>Los ejercicios desarrollados demuestran la importancia de las estructuras de datos no lineales en la programación y en la solución de problemas complejos. Mediante la implementación de árboles y grafos, fue posible comprender cómo se almacenan los datos, cómo se establecen relaciones entre ellos y cómo se recorren utilizando distintos algoritmos.</a:t>
            </a:r>
          </a:p>
          <a:p>
            <a:pPr marL="0" indent="0">
              <a:buNone/>
            </a:pPr>
            <a:r>
              <a:rPr lang="es-MX" dirty="0"/>
              <a:t>El uso de Java y </a:t>
            </a:r>
            <a:r>
              <a:rPr lang="es-MX" dirty="0" err="1"/>
              <a:t>JavaFX</a:t>
            </a:r>
            <a:r>
              <a:rPr lang="es-MX" dirty="0"/>
              <a:t> permitió integrar la lógica de programación con interfaces gráficas funcionales, facilitando la visualización de resultados y reforzando el aprendizaje práctico. En conclusión, este trabajo contribuye al desarrollo de habilidades fundamentales para el diseño y análisis de estructuras de datos en el ámbito de la ingeniería en sistemas.</a:t>
            </a:r>
          </a:p>
          <a:p>
            <a:pPr marL="0" indent="0">
              <a:buNone/>
            </a:pPr>
            <a:endParaRPr lang="es-MX" dirty="0"/>
          </a:p>
        </p:txBody>
      </p:sp>
    </p:spTree>
    <p:extLst>
      <p:ext uri="{BB962C8B-B14F-4D97-AF65-F5344CB8AC3E}">
        <p14:creationId xmlns:p14="http://schemas.microsoft.com/office/powerpoint/2010/main" val="21190667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CDB8E8-E97C-D8E5-B3EF-86C4914E262B}"/>
              </a:ext>
            </a:extLst>
          </p:cNvPr>
          <p:cNvSpPr>
            <a:spLocks noGrp="1"/>
          </p:cNvSpPr>
          <p:nvPr>
            <p:ph type="title"/>
          </p:nvPr>
        </p:nvSpPr>
        <p:spPr/>
        <p:txBody>
          <a:bodyPr/>
          <a:lstStyle/>
          <a:p>
            <a:r>
              <a:rPr lang="es-MX" dirty="0"/>
              <a:t>Anexo link de los ejercicios solicitados en </a:t>
            </a:r>
            <a:r>
              <a:rPr lang="es-MX" dirty="0" err="1"/>
              <a:t>Intelji</a:t>
            </a:r>
            <a:r>
              <a:rPr lang="es-MX" dirty="0"/>
              <a:t> y enviados en GitHub</a:t>
            </a:r>
          </a:p>
        </p:txBody>
      </p:sp>
      <p:sp>
        <p:nvSpPr>
          <p:cNvPr id="3" name="Marcador de contenido 2">
            <a:extLst>
              <a:ext uri="{FF2B5EF4-FFF2-40B4-BE49-F238E27FC236}">
                <a16:creationId xmlns:a16="http://schemas.microsoft.com/office/drawing/2014/main" id="{4BD73892-1C82-A195-C5C4-737F39E22683}"/>
              </a:ext>
            </a:extLst>
          </p:cNvPr>
          <p:cNvSpPr>
            <a:spLocks noGrp="1"/>
          </p:cNvSpPr>
          <p:nvPr>
            <p:ph idx="1"/>
          </p:nvPr>
        </p:nvSpPr>
        <p:spPr>
          <a:xfrm>
            <a:off x="360880" y="2203200"/>
            <a:ext cx="11470240" cy="1225800"/>
          </a:xfrm>
        </p:spPr>
        <p:txBody>
          <a:bodyPr/>
          <a:lstStyle/>
          <a:p>
            <a:pPr marL="0" indent="0">
              <a:buNone/>
            </a:pPr>
            <a:r>
              <a:rPr lang="es-MX" dirty="0">
                <a:hlinkClick r:id="rId2">
                  <a:extLst>
                    <a:ext uri="{A12FA001-AC4F-418D-AE19-62706E023703}">
                      <ahyp:hlinkClr xmlns:ahyp="http://schemas.microsoft.com/office/drawing/2018/hyperlinkcolor" val="tx"/>
                    </a:ext>
                  </a:extLst>
                </a:hlinkClick>
              </a:rPr>
              <a:t>https://github.com/Cynthia21Morales/EstructuraDeDatos_CynthiaJasmineMT/tree/main/ED-Tema-4/Codigos_Arboles%20y%20Grafos</a:t>
            </a:r>
          </a:p>
        </p:txBody>
      </p:sp>
    </p:spTree>
    <p:extLst>
      <p:ext uri="{BB962C8B-B14F-4D97-AF65-F5344CB8AC3E}">
        <p14:creationId xmlns:p14="http://schemas.microsoft.com/office/powerpoint/2010/main" val="2966300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TotalTime>
  <Words>569</Words>
  <Application>Microsoft Office PowerPoint</Application>
  <PresentationFormat>Panorámica</PresentationFormat>
  <Paragraphs>38</Paragraphs>
  <Slides>9</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9</vt:i4>
      </vt:variant>
    </vt:vector>
  </HeadingPairs>
  <TitlesOfParts>
    <vt:vector size="14" baseType="lpstr">
      <vt:lpstr>Arial</vt:lpstr>
      <vt:lpstr>Calibri</vt:lpstr>
      <vt:lpstr>Calibri Light</vt:lpstr>
      <vt:lpstr>Century Gothic</vt:lpstr>
      <vt:lpstr>Tema de Office</vt:lpstr>
      <vt:lpstr>Presentación de PowerPoint</vt:lpstr>
      <vt:lpstr>Introducción </vt:lpstr>
      <vt:lpstr>Justificación </vt:lpstr>
      <vt:lpstr>ESTRUCTURAS NO LINEALES: ARBOL BINARIO</vt:lpstr>
      <vt:lpstr>Resultado del árbol binario </vt:lpstr>
      <vt:lpstr>ESTRUCTURAS NO LINEALES: GRAFO</vt:lpstr>
      <vt:lpstr>Resultados de grafo </vt:lpstr>
      <vt:lpstr>Conclusión </vt:lpstr>
      <vt:lpstr>Anexo link de los ejercicios solicitados en Intelji y enviados en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1</cp:revision>
  <dcterms:created xsi:type="dcterms:W3CDTF">2025-12-13T18:47:10Z</dcterms:created>
  <dcterms:modified xsi:type="dcterms:W3CDTF">2025-12-13T20:08:04Z</dcterms:modified>
</cp:coreProperties>
</file>