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2" r:id="rId5"/>
    <p:sldId id="263" r:id="rId6"/>
    <p:sldId id="264" r:id="rId7"/>
    <p:sldId id="265" r:id="rId8"/>
    <p:sldId id="259" r:id="rId9"/>
    <p:sldId id="260" r:id="rId10"/>
    <p:sldId id="266" r:id="rId11"/>
    <p:sldId id="267" r:id="rId12"/>
    <p:sldId id="268" r:id="rId13"/>
    <p:sldId id="261" r:id="rId14"/>
  </p:sldIdLst>
  <p:sldSz cx="9144000" cy="6858000" type="screen4x3"/>
  <p:notesSz cx="6858000" cy="9144000"/>
  <p:defaultTextStyle>
    <a:defPPr>
      <a:defRPr lang="en-US"/>
    </a:defPPr>
    <a:lvl1pPr marL="0" algn="l" defTabSz="457132" rtl="0" eaLnBrk="1" latinLnBrk="0" hangingPunct="1">
      <a:defRPr sz="1799" kern="1200">
        <a:solidFill>
          <a:schemeClr val="tx1"/>
        </a:solidFill>
        <a:latin typeface="+mn-lt"/>
        <a:ea typeface="+mn-ea"/>
        <a:cs typeface="+mn-cs"/>
      </a:defRPr>
    </a:lvl1pPr>
    <a:lvl2pPr marL="457132" algn="l" defTabSz="457132" rtl="0" eaLnBrk="1" latinLnBrk="0" hangingPunct="1">
      <a:defRPr sz="1799" kern="1200">
        <a:solidFill>
          <a:schemeClr val="tx1"/>
        </a:solidFill>
        <a:latin typeface="+mn-lt"/>
        <a:ea typeface="+mn-ea"/>
        <a:cs typeface="+mn-cs"/>
      </a:defRPr>
    </a:lvl2pPr>
    <a:lvl3pPr marL="914265" algn="l" defTabSz="457132" rtl="0" eaLnBrk="1" latinLnBrk="0" hangingPunct="1">
      <a:defRPr sz="1799" kern="1200">
        <a:solidFill>
          <a:schemeClr val="tx1"/>
        </a:solidFill>
        <a:latin typeface="+mn-lt"/>
        <a:ea typeface="+mn-ea"/>
        <a:cs typeface="+mn-cs"/>
      </a:defRPr>
    </a:lvl3pPr>
    <a:lvl4pPr marL="1371397" algn="l" defTabSz="457132" rtl="0" eaLnBrk="1" latinLnBrk="0" hangingPunct="1">
      <a:defRPr sz="1799" kern="1200">
        <a:solidFill>
          <a:schemeClr val="tx1"/>
        </a:solidFill>
        <a:latin typeface="+mn-lt"/>
        <a:ea typeface="+mn-ea"/>
        <a:cs typeface="+mn-cs"/>
      </a:defRPr>
    </a:lvl4pPr>
    <a:lvl5pPr marL="1828530" algn="l" defTabSz="457132" rtl="0" eaLnBrk="1" latinLnBrk="0" hangingPunct="1">
      <a:defRPr sz="1799" kern="1200">
        <a:solidFill>
          <a:schemeClr val="tx1"/>
        </a:solidFill>
        <a:latin typeface="+mn-lt"/>
        <a:ea typeface="+mn-ea"/>
        <a:cs typeface="+mn-cs"/>
      </a:defRPr>
    </a:lvl5pPr>
    <a:lvl6pPr marL="2285662" algn="l" defTabSz="457132" rtl="0" eaLnBrk="1" latinLnBrk="0" hangingPunct="1">
      <a:defRPr sz="1799" kern="1200">
        <a:solidFill>
          <a:schemeClr val="tx1"/>
        </a:solidFill>
        <a:latin typeface="+mn-lt"/>
        <a:ea typeface="+mn-ea"/>
        <a:cs typeface="+mn-cs"/>
      </a:defRPr>
    </a:lvl6pPr>
    <a:lvl7pPr marL="2742795" algn="l" defTabSz="457132" rtl="0" eaLnBrk="1" latinLnBrk="0" hangingPunct="1">
      <a:defRPr sz="1799" kern="1200">
        <a:solidFill>
          <a:schemeClr val="tx1"/>
        </a:solidFill>
        <a:latin typeface="+mn-lt"/>
        <a:ea typeface="+mn-ea"/>
        <a:cs typeface="+mn-cs"/>
      </a:defRPr>
    </a:lvl7pPr>
    <a:lvl8pPr marL="3199927" algn="l" defTabSz="457132" rtl="0" eaLnBrk="1" latinLnBrk="0" hangingPunct="1">
      <a:defRPr sz="1799" kern="1200">
        <a:solidFill>
          <a:schemeClr val="tx1"/>
        </a:solidFill>
        <a:latin typeface="+mn-lt"/>
        <a:ea typeface="+mn-ea"/>
        <a:cs typeface="+mn-cs"/>
      </a:defRPr>
    </a:lvl8pPr>
    <a:lvl9pPr marL="3657060" algn="l" defTabSz="457132" rtl="0" eaLnBrk="1" latinLnBrk="0" hangingPunct="1">
      <a:defRPr sz="1799"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6" d="100"/>
          <a:sy n="66" d="100"/>
        </p:scale>
        <p:origin x="1280" y="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4"/>
            <a:ext cx="77724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43001" y="3602038"/>
            <a:ext cx="6858000" cy="1655762"/>
          </a:xfrm>
        </p:spPr>
        <p:txBody>
          <a:bodyPr/>
          <a:lstStyle>
            <a:lvl1pPr marL="0" indent="0" algn="ctr">
              <a:buNone/>
              <a:defRPr sz="2400"/>
            </a:lvl1pPr>
            <a:lvl2pPr marL="457172" indent="0" algn="ctr">
              <a:buNone/>
              <a:defRPr sz="2000"/>
            </a:lvl2pPr>
            <a:lvl3pPr marL="914344" indent="0" algn="ctr">
              <a:buNone/>
              <a:defRPr sz="1800"/>
            </a:lvl3pPr>
            <a:lvl4pPr marL="1371516" indent="0" algn="ctr">
              <a:buNone/>
              <a:defRPr sz="1599"/>
            </a:lvl4pPr>
            <a:lvl5pPr marL="1828689" indent="0" algn="ctr">
              <a:buNone/>
              <a:defRPr sz="1599"/>
            </a:lvl5pPr>
            <a:lvl6pPr marL="2285861" indent="0" algn="ctr">
              <a:buNone/>
              <a:defRPr sz="1599"/>
            </a:lvl6pPr>
            <a:lvl7pPr marL="2743033" indent="0" algn="ctr">
              <a:buNone/>
              <a:defRPr sz="1599"/>
            </a:lvl7pPr>
            <a:lvl8pPr marL="3200205" indent="0" algn="ctr">
              <a:buNone/>
              <a:defRPr sz="1599"/>
            </a:lvl8pPr>
            <a:lvl9pPr marL="3657377" indent="0" algn="ctr">
              <a:buNone/>
              <a:defRPr sz="1599"/>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52016FA4-11BF-4BAD-93B0-8318A5E93998}" type="datetimeFigureOut">
              <a:rPr lang="es-MX" smtClean="0"/>
              <a:t>13/12/2025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F592C758-E56A-4156-B01F-E84722C70145}" type="slidenum">
              <a:rPr lang="es-MX" smtClean="0"/>
              <a:t>‹Nº›</a:t>
            </a:fld>
            <a:endParaRPr lang="es-MX"/>
          </a:p>
        </p:txBody>
      </p:sp>
    </p:spTree>
    <p:extLst>
      <p:ext uri="{BB962C8B-B14F-4D97-AF65-F5344CB8AC3E}">
        <p14:creationId xmlns:p14="http://schemas.microsoft.com/office/powerpoint/2010/main" val="12226591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2016FA4-11BF-4BAD-93B0-8318A5E93998}" type="datetimeFigureOut">
              <a:rPr lang="es-MX" smtClean="0"/>
              <a:t>13/12/2025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F592C758-E56A-4156-B01F-E84722C70145}" type="slidenum">
              <a:rPr lang="es-MX" smtClean="0"/>
              <a:t>‹Nº›</a:t>
            </a:fld>
            <a:endParaRPr lang="es-MX"/>
          </a:p>
        </p:txBody>
      </p:sp>
    </p:spTree>
    <p:extLst>
      <p:ext uri="{BB962C8B-B14F-4D97-AF65-F5344CB8AC3E}">
        <p14:creationId xmlns:p14="http://schemas.microsoft.com/office/powerpoint/2010/main" val="2310285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0"/>
            <a:ext cx="78867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23888" y="4589465"/>
            <a:ext cx="7886700" cy="1500187"/>
          </a:xfrm>
        </p:spPr>
        <p:txBody>
          <a:bodyPr/>
          <a:lstStyle>
            <a:lvl1pPr marL="0" indent="0">
              <a:buNone/>
              <a:defRPr sz="2400">
                <a:solidFill>
                  <a:schemeClr val="tx1"/>
                </a:solidFill>
              </a:defRPr>
            </a:lvl1pPr>
            <a:lvl2pPr marL="457172" indent="0">
              <a:buNone/>
              <a:defRPr sz="2000">
                <a:solidFill>
                  <a:schemeClr val="tx1">
                    <a:tint val="75000"/>
                  </a:schemeClr>
                </a:solidFill>
              </a:defRPr>
            </a:lvl2pPr>
            <a:lvl3pPr marL="914344" indent="0">
              <a:buNone/>
              <a:defRPr sz="1800">
                <a:solidFill>
                  <a:schemeClr val="tx1">
                    <a:tint val="75000"/>
                  </a:schemeClr>
                </a:solidFill>
              </a:defRPr>
            </a:lvl3pPr>
            <a:lvl4pPr marL="1371516" indent="0">
              <a:buNone/>
              <a:defRPr sz="1599">
                <a:solidFill>
                  <a:schemeClr val="tx1">
                    <a:tint val="75000"/>
                  </a:schemeClr>
                </a:solidFill>
              </a:defRPr>
            </a:lvl4pPr>
            <a:lvl5pPr marL="1828689" indent="0">
              <a:buNone/>
              <a:defRPr sz="1599">
                <a:solidFill>
                  <a:schemeClr val="tx1">
                    <a:tint val="75000"/>
                  </a:schemeClr>
                </a:solidFill>
              </a:defRPr>
            </a:lvl5pPr>
            <a:lvl6pPr marL="2285861" indent="0">
              <a:buNone/>
              <a:defRPr sz="1599">
                <a:solidFill>
                  <a:schemeClr val="tx1">
                    <a:tint val="75000"/>
                  </a:schemeClr>
                </a:solidFill>
              </a:defRPr>
            </a:lvl6pPr>
            <a:lvl7pPr marL="2743033" indent="0">
              <a:buNone/>
              <a:defRPr sz="1599">
                <a:solidFill>
                  <a:schemeClr val="tx1">
                    <a:tint val="75000"/>
                  </a:schemeClr>
                </a:solidFill>
              </a:defRPr>
            </a:lvl7pPr>
            <a:lvl8pPr marL="3200205" indent="0">
              <a:buNone/>
              <a:defRPr sz="1599">
                <a:solidFill>
                  <a:schemeClr val="tx1">
                    <a:tint val="75000"/>
                  </a:schemeClr>
                </a:solidFill>
              </a:defRPr>
            </a:lvl8pPr>
            <a:lvl9pPr marL="3657377" indent="0">
              <a:buNone/>
              <a:defRPr sz="1599">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2016FA4-11BF-4BAD-93B0-8318A5E93998}" type="datetimeFigureOut">
              <a:rPr lang="es-MX" smtClean="0"/>
              <a:t>13/12/2025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F592C758-E56A-4156-B01F-E84722C70145}" type="slidenum">
              <a:rPr lang="es-MX" smtClean="0"/>
              <a:t>‹Nº›</a:t>
            </a:fld>
            <a:endParaRPr lang="es-MX"/>
          </a:p>
        </p:txBody>
      </p:sp>
    </p:spTree>
    <p:extLst>
      <p:ext uri="{BB962C8B-B14F-4D97-AF65-F5344CB8AC3E}">
        <p14:creationId xmlns:p14="http://schemas.microsoft.com/office/powerpoint/2010/main" val="29088753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629151"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52016FA4-11BF-4BAD-93B0-8318A5E93998}" type="datetimeFigureOut">
              <a:rPr lang="es-MX" smtClean="0"/>
              <a:t>13/12/2025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F592C758-E56A-4156-B01F-E84722C70145}" type="slidenum">
              <a:rPr lang="es-MX" smtClean="0"/>
              <a:t>‹Nº›</a:t>
            </a:fld>
            <a:endParaRPr lang="es-MX"/>
          </a:p>
        </p:txBody>
      </p:sp>
    </p:spTree>
    <p:extLst>
      <p:ext uri="{BB962C8B-B14F-4D97-AF65-F5344CB8AC3E}">
        <p14:creationId xmlns:p14="http://schemas.microsoft.com/office/powerpoint/2010/main" val="53358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29842" y="365127"/>
            <a:ext cx="78867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172" indent="0">
              <a:buNone/>
              <a:defRPr sz="2000" b="1"/>
            </a:lvl2pPr>
            <a:lvl3pPr marL="914344" indent="0">
              <a:buNone/>
              <a:defRPr sz="1800" b="1"/>
            </a:lvl3pPr>
            <a:lvl4pPr marL="1371516" indent="0">
              <a:buNone/>
              <a:defRPr sz="1599" b="1"/>
            </a:lvl4pPr>
            <a:lvl5pPr marL="1828689" indent="0">
              <a:buNone/>
              <a:defRPr sz="1599" b="1"/>
            </a:lvl5pPr>
            <a:lvl6pPr marL="2285861" indent="0">
              <a:buNone/>
              <a:defRPr sz="1599" b="1"/>
            </a:lvl6pPr>
            <a:lvl7pPr marL="2743033" indent="0">
              <a:buNone/>
              <a:defRPr sz="1599" b="1"/>
            </a:lvl7pPr>
            <a:lvl8pPr marL="3200205" indent="0">
              <a:buNone/>
              <a:defRPr sz="1599" b="1"/>
            </a:lvl8pPr>
            <a:lvl9pPr marL="3657377" indent="0">
              <a:buNone/>
              <a:defRPr sz="1599" b="1"/>
            </a:lvl9pPr>
          </a:lstStyle>
          <a:p>
            <a:pPr lvl="0"/>
            <a:r>
              <a:rPr lang="es-ES"/>
              <a:t>Haga clic para modificar los estilos de texto del patrón</a:t>
            </a:r>
          </a:p>
        </p:txBody>
      </p:sp>
      <p:sp>
        <p:nvSpPr>
          <p:cNvPr id="4" name="Content Placeholder 3"/>
          <p:cNvSpPr>
            <a:spLocks noGrp="1"/>
          </p:cNvSpPr>
          <p:nvPr>
            <p:ph sz="half" idx="2"/>
          </p:nvPr>
        </p:nvSpPr>
        <p:spPr>
          <a:xfrm>
            <a:off x="629842" y="2505076"/>
            <a:ext cx="3868340"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629151" y="1681163"/>
            <a:ext cx="3887391" cy="823912"/>
          </a:xfrm>
        </p:spPr>
        <p:txBody>
          <a:bodyPr anchor="b"/>
          <a:lstStyle>
            <a:lvl1pPr marL="0" indent="0">
              <a:buNone/>
              <a:defRPr sz="2400" b="1"/>
            </a:lvl1pPr>
            <a:lvl2pPr marL="457172" indent="0">
              <a:buNone/>
              <a:defRPr sz="2000" b="1"/>
            </a:lvl2pPr>
            <a:lvl3pPr marL="914344" indent="0">
              <a:buNone/>
              <a:defRPr sz="1800" b="1"/>
            </a:lvl3pPr>
            <a:lvl4pPr marL="1371516" indent="0">
              <a:buNone/>
              <a:defRPr sz="1599" b="1"/>
            </a:lvl4pPr>
            <a:lvl5pPr marL="1828689" indent="0">
              <a:buNone/>
              <a:defRPr sz="1599" b="1"/>
            </a:lvl5pPr>
            <a:lvl6pPr marL="2285861" indent="0">
              <a:buNone/>
              <a:defRPr sz="1599" b="1"/>
            </a:lvl6pPr>
            <a:lvl7pPr marL="2743033" indent="0">
              <a:buNone/>
              <a:defRPr sz="1599" b="1"/>
            </a:lvl7pPr>
            <a:lvl8pPr marL="3200205" indent="0">
              <a:buNone/>
              <a:defRPr sz="1599" b="1"/>
            </a:lvl8pPr>
            <a:lvl9pPr marL="3657377" indent="0">
              <a:buNone/>
              <a:defRPr sz="1599" b="1"/>
            </a:lvl9pPr>
          </a:lstStyle>
          <a:p>
            <a:pPr lvl="0"/>
            <a:r>
              <a:rPr lang="es-ES"/>
              <a:t>Haga clic para modificar los estilos de texto del patrón</a:t>
            </a:r>
          </a:p>
        </p:txBody>
      </p:sp>
      <p:sp>
        <p:nvSpPr>
          <p:cNvPr id="6" name="Content Placeholder 5"/>
          <p:cNvSpPr>
            <a:spLocks noGrp="1"/>
          </p:cNvSpPr>
          <p:nvPr>
            <p:ph sz="quarter" idx="4"/>
          </p:nvPr>
        </p:nvSpPr>
        <p:spPr>
          <a:xfrm>
            <a:off x="4629151" y="2505076"/>
            <a:ext cx="3887391"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52016FA4-11BF-4BAD-93B0-8318A5E93998}" type="datetimeFigureOut">
              <a:rPr lang="es-MX" smtClean="0"/>
              <a:t>13/12/2025</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F592C758-E56A-4156-B01F-E84722C70145}" type="slidenum">
              <a:rPr lang="es-MX" smtClean="0"/>
              <a:t>‹Nº›</a:t>
            </a:fld>
            <a:endParaRPr lang="es-MX"/>
          </a:p>
        </p:txBody>
      </p:sp>
    </p:spTree>
    <p:extLst>
      <p:ext uri="{BB962C8B-B14F-4D97-AF65-F5344CB8AC3E}">
        <p14:creationId xmlns:p14="http://schemas.microsoft.com/office/powerpoint/2010/main" val="8179486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52016FA4-11BF-4BAD-93B0-8318A5E93998}" type="datetimeFigureOut">
              <a:rPr lang="es-MX" smtClean="0"/>
              <a:t>13/12/2025</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F592C758-E56A-4156-B01F-E84722C70145}" type="slidenum">
              <a:rPr lang="es-MX" smtClean="0"/>
              <a:t>‹Nº›</a:t>
            </a:fld>
            <a:endParaRPr lang="es-MX"/>
          </a:p>
        </p:txBody>
      </p:sp>
    </p:spTree>
    <p:extLst>
      <p:ext uri="{BB962C8B-B14F-4D97-AF65-F5344CB8AC3E}">
        <p14:creationId xmlns:p14="http://schemas.microsoft.com/office/powerpoint/2010/main" val="39174632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016FA4-11BF-4BAD-93B0-8318A5E93998}" type="datetimeFigureOut">
              <a:rPr lang="es-MX" smtClean="0"/>
              <a:t>13/12/2025</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F592C758-E56A-4156-B01F-E84722C70145}" type="slidenum">
              <a:rPr lang="es-MX" smtClean="0"/>
              <a:t>‹Nº›</a:t>
            </a:fld>
            <a:endParaRPr lang="es-MX"/>
          </a:p>
        </p:txBody>
      </p:sp>
    </p:spTree>
    <p:extLst>
      <p:ext uri="{BB962C8B-B14F-4D97-AF65-F5344CB8AC3E}">
        <p14:creationId xmlns:p14="http://schemas.microsoft.com/office/powerpoint/2010/main" val="38353137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87392" y="987427"/>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599"/>
            </a:lvl1pPr>
            <a:lvl2pPr marL="457172" indent="0">
              <a:buNone/>
              <a:defRPr sz="1400"/>
            </a:lvl2pPr>
            <a:lvl3pPr marL="914344" indent="0">
              <a:buNone/>
              <a:defRPr sz="1200"/>
            </a:lvl3pPr>
            <a:lvl4pPr marL="1371516" indent="0">
              <a:buNone/>
              <a:defRPr sz="1000"/>
            </a:lvl4pPr>
            <a:lvl5pPr marL="1828689" indent="0">
              <a:buNone/>
              <a:defRPr sz="1000"/>
            </a:lvl5pPr>
            <a:lvl6pPr marL="2285861" indent="0">
              <a:buNone/>
              <a:defRPr sz="1000"/>
            </a:lvl6pPr>
            <a:lvl7pPr marL="2743033" indent="0">
              <a:buNone/>
              <a:defRPr sz="1000"/>
            </a:lvl7pPr>
            <a:lvl8pPr marL="3200205" indent="0">
              <a:buNone/>
              <a:defRPr sz="1000"/>
            </a:lvl8pPr>
            <a:lvl9pPr marL="3657377"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2016FA4-11BF-4BAD-93B0-8318A5E93998}" type="datetimeFigureOut">
              <a:rPr lang="es-MX" smtClean="0"/>
              <a:t>13/12/2025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F592C758-E56A-4156-B01F-E84722C70145}" type="slidenum">
              <a:rPr lang="es-MX" smtClean="0"/>
              <a:t>‹Nº›</a:t>
            </a:fld>
            <a:endParaRPr lang="es-MX"/>
          </a:p>
        </p:txBody>
      </p:sp>
    </p:spTree>
    <p:extLst>
      <p:ext uri="{BB962C8B-B14F-4D97-AF65-F5344CB8AC3E}">
        <p14:creationId xmlns:p14="http://schemas.microsoft.com/office/powerpoint/2010/main" val="374479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887392" y="987427"/>
            <a:ext cx="4629150" cy="4873625"/>
          </a:xfrm>
        </p:spPr>
        <p:txBody>
          <a:bodyPr anchor="t"/>
          <a:lstStyle>
            <a:lvl1pPr marL="0" indent="0">
              <a:buNone/>
              <a:defRPr sz="3200"/>
            </a:lvl1pPr>
            <a:lvl2pPr marL="457172" indent="0">
              <a:buNone/>
              <a:defRPr sz="2800"/>
            </a:lvl2pPr>
            <a:lvl3pPr marL="914344" indent="0">
              <a:buNone/>
              <a:defRPr sz="2400"/>
            </a:lvl3pPr>
            <a:lvl4pPr marL="1371516" indent="0">
              <a:buNone/>
              <a:defRPr sz="2000"/>
            </a:lvl4pPr>
            <a:lvl5pPr marL="1828689" indent="0">
              <a:buNone/>
              <a:defRPr sz="2000"/>
            </a:lvl5pPr>
            <a:lvl6pPr marL="2285861" indent="0">
              <a:buNone/>
              <a:defRPr sz="2000"/>
            </a:lvl6pPr>
            <a:lvl7pPr marL="2743033" indent="0">
              <a:buNone/>
              <a:defRPr sz="2000"/>
            </a:lvl7pPr>
            <a:lvl8pPr marL="3200205" indent="0">
              <a:buNone/>
              <a:defRPr sz="2000"/>
            </a:lvl8pPr>
            <a:lvl9pPr marL="3657377"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599"/>
            </a:lvl1pPr>
            <a:lvl2pPr marL="457172" indent="0">
              <a:buNone/>
              <a:defRPr sz="1400"/>
            </a:lvl2pPr>
            <a:lvl3pPr marL="914344" indent="0">
              <a:buNone/>
              <a:defRPr sz="1200"/>
            </a:lvl3pPr>
            <a:lvl4pPr marL="1371516" indent="0">
              <a:buNone/>
              <a:defRPr sz="1000"/>
            </a:lvl4pPr>
            <a:lvl5pPr marL="1828689" indent="0">
              <a:buNone/>
              <a:defRPr sz="1000"/>
            </a:lvl5pPr>
            <a:lvl6pPr marL="2285861" indent="0">
              <a:buNone/>
              <a:defRPr sz="1000"/>
            </a:lvl6pPr>
            <a:lvl7pPr marL="2743033" indent="0">
              <a:buNone/>
              <a:defRPr sz="1000"/>
            </a:lvl7pPr>
            <a:lvl8pPr marL="3200205" indent="0">
              <a:buNone/>
              <a:defRPr sz="1000"/>
            </a:lvl8pPr>
            <a:lvl9pPr marL="3657377"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2016FA4-11BF-4BAD-93B0-8318A5E93998}" type="datetimeFigureOut">
              <a:rPr lang="es-MX" smtClean="0"/>
              <a:t>13/12/2025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F592C758-E56A-4156-B01F-E84722C70145}" type="slidenum">
              <a:rPr lang="es-MX" smtClean="0"/>
              <a:t>‹Nº›</a:t>
            </a:fld>
            <a:endParaRPr lang="es-MX"/>
          </a:p>
        </p:txBody>
      </p:sp>
    </p:spTree>
    <p:extLst>
      <p:ext uri="{BB962C8B-B14F-4D97-AF65-F5344CB8AC3E}">
        <p14:creationId xmlns:p14="http://schemas.microsoft.com/office/powerpoint/2010/main" val="1753147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2016FA4-11BF-4BAD-93B0-8318A5E93998}" type="datetimeFigureOut">
              <a:rPr lang="es-MX" smtClean="0"/>
              <a:t>13/12/2025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F592C758-E56A-4156-B01F-E84722C70145}" type="slidenum">
              <a:rPr lang="es-MX" smtClean="0"/>
              <a:t>‹Nº›</a:t>
            </a:fld>
            <a:endParaRPr lang="es-MX"/>
          </a:p>
        </p:txBody>
      </p:sp>
    </p:spTree>
    <p:extLst>
      <p:ext uri="{BB962C8B-B14F-4D97-AF65-F5344CB8AC3E}">
        <p14:creationId xmlns:p14="http://schemas.microsoft.com/office/powerpoint/2010/main" val="2667376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6"/>
            <a:ext cx="1971675"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1" y="365126"/>
            <a:ext cx="5800725"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2016FA4-11BF-4BAD-93B0-8318A5E93998}" type="datetimeFigureOut">
              <a:rPr lang="es-MX" smtClean="0"/>
              <a:t>13/12/2025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F592C758-E56A-4156-B01F-E84722C70145}" type="slidenum">
              <a:rPr lang="es-MX" smtClean="0"/>
              <a:t>‹Nº›</a:t>
            </a:fld>
            <a:endParaRPr lang="es-MX"/>
          </a:p>
        </p:txBody>
      </p:sp>
    </p:spTree>
    <p:extLst>
      <p:ext uri="{BB962C8B-B14F-4D97-AF65-F5344CB8AC3E}">
        <p14:creationId xmlns:p14="http://schemas.microsoft.com/office/powerpoint/2010/main" val="40018098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1" y="365127"/>
            <a:ext cx="78867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8651" y="1825625"/>
            <a:ext cx="78867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628650" y="6356352"/>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016FA4-11BF-4BAD-93B0-8318A5E93998}" type="datetimeFigureOut">
              <a:rPr lang="es-MX" smtClean="0"/>
              <a:t>13/12/2025</a:t>
            </a:fld>
            <a:endParaRPr lang="es-MX"/>
          </a:p>
        </p:txBody>
      </p:sp>
      <p:sp>
        <p:nvSpPr>
          <p:cNvPr id="5" name="Footer Placeholder 4"/>
          <p:cNvSpPr>
            <a:spLocks noGrp="1"/>
          </p:cNvSpPr>
          <p:nvPr>
            <p:ph type="ftr" sz="quarter" idx="3"/>
          </p:nvPr>
        </p:nvSpPr>
        <p:spPr>
          <a:xfrm>
            <a:off x="3028950" y="6356352"/>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Slide Number Placeholder 5"/>
          <p:cNvSpPr>
            <a:spLocks noGrp="1"/>
          </p:cNvSpPr>
          <p:nvPr>
            <p:ph type="sldNum" sz="quarter" idx="4"/>
          </p:nvPr>
        </p:nvSpPr>
        <p:spPr>
          <a:xfrm>
            <a:off x="6457950" y="6356352"/>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92C758-E56A-4156-B01F-E84722C70145}" type="slidenum">
              <a:rPr lang="es-MX" smtClean="0"/>
              <a:t>‹Nº›</a:t>
            </a:fld>
            <a:endParaRPr lang="es-MX"/>
          </a:p>
        </p:txBody>
      </p:sp>
    </p:spTree>
    <p:extLst>
      <p:ext uri="{BB962C8B-B14F-4D97-AF65-F5344CB8AC3E}">
        <p14:creationId xmlns:p14="http://schemas.microsoft.com/office/powerpoint/2010/main" val="31946464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344" rtl="0" eaLnBrk="1" latinLnBrk="0" hangingPunct="1">
        <a:lnSpc>
          <a:spcPct val="90000"/>
        </a:lnSpc>
        <a:spcBef>
          <a:spcPct val="0"/>
        </a:spcBef>
        <a:buNone/>
        <a:defRPr sz="4399" kern="1200">
          <a:solidFill>
            <a:schemeClr val="tx1"/>
          </a:solidFill>
          <a:latin typeface="+mj-lt"/>
          <a:ea typeface="+mj-ea"/>
          <a:cs typeface="+mj-cs"/>
        </a:defRPr>
      </a:lvl1pPr>
    </p:titleStyle>
    <p:bodyStyle>
      <a:lvl1pPr marL="228586" indent="-228586" algn="l" defTabSz="91434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8" indent="-228586" algn="l" defTabSz="91434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30" indent="-228586" algn="l" defTabSz="91434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03" indent="-228586" algn="l" defTabSz="91434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75" indent="-228586" algn="l" defTabSz="91434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47" indent="-228586" algn="l" defTabSz="91434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19" indent="-228586" algn="l" defTabSz="91434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91" indent="-228586" algn="l" defTabSz="91434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63" indent="-228586" algn="l" defTabSz="91434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44" rtl="0" eaLnBrk="1" latinLnBrk="0" hangingPunct="1">
        <a:defRPr sz="1800" kern="1200">
          <a:solidFill>
            <a:schemeClr val="tx1"/>
          </a:solidFill>
          <a:latin typeface="+mn-lt"/>
          <a:ea typeface="+mn-ea"/>
          <a:cs typeface="+mn-cs"/>
        </a:defRPr>
      </a:lvl1pPr>
      <a:lvl2pPr marL="457172" algn="l" defTabSz="914344" rtl="0" eaLnBrk="1" latinLnBrk="0" hangingPunct="1">
        <a:defRPr sz="1800" kern="1200">
          <a:solidFill>
            <a:schemeClr val="tx1"/>
          </a:solidFill>
          <a:latin typeface="+mn-lt"/>
          <a:ea typeface="+mn-ea"/>
          <a:cs typeface="+mn-cs"/>
        </a:defRPr>
      </a:lvl2pPr>
      <a:lvl3pPr marL="914344" algn="l" defTabSz="914344" rtl="0" eaLnBrk="1" latinLnBrk="0" hangingPunct="1">
        <a:defRPr sz="1800" kern="1200">
          <a:solidFill>
            <a:schemeClr val="tx1"/>
          </a:solidFill>
          <a:latin typeface="+mn-lt"/>
          <a:ea typeface="+mn-ea"/>
          <a:cs typeface="+mn-cs"/>
        </a:defRPr>
      </a:lvl3pPr>
      <a:lvl4pPr marL="1371516" algn="l" defTabSz="914344" rtl="0" eaLnBrk="1" latinLnBrk="0" hangingPunct="1">
        <a:defRPr sz="1800" kern="1200">
          <a:solidFill>
            <a:schemeClr val="tx1"/>
          </a:solidFill>
          <a:latin typeface="+mn-lt"/>
          <a:ea typeface="+mn-ea"/>
          <a:cs typeface="+mn-cs"/>
        </a:defRPr>
      </a:lvl4pPr>
      <a:lvl5pPr marL="1828689" algn="l" defTabSz="914344" rtl="0" eaLnBrk="1" latinLnBrk="0" hangingPunct="1">
        <a:defRPr sz="1800" kern="1200">
          <a:solidFill>
            <a:schemeClr val="tx1"/>
          </a:solidFill>
          <a:latin typeface="+mn-lt"/>
          <a:ea typeface="+mn-ea"/>
          <a:cs typeface="+mn-cs"/>
        </a:defRPr>
      </a:lvl5pPr>
      <a:lvl6pPr marL="2285861" algn="l" defTabSz="914344" rtl="0" eaLnBrk="1" latinLnBrk="0" hangingPunct="1">
        <a:defRPr sz="1800" kern="1200">
          <a:solidFill>
            <a:schemeClr val="tx1"/>
          </a:solidFill>
          <a:latin typeface="+mn-lt"/>
          <a:ea typeface="+mn-ea"/>
          <a:cs typeface="+mn-cs"/>
        </a:defRPr>
      </a:lvl6pPr>
      <a:lvl7pPr marL="2743033" algn="l" defTabSz="914344" rtl="0" eaLnBrk="1" latinLnBrk="0" hangingPunct="1">
        <a:defRPr sz="1800" kern="1200">
          <a:solidFill>
            <a:schemeClr val="tx1"/>
          </a:solidFill>
          <a:latin typeface="+mn-lt"/>
          <a:ea typeface="+mn-ea"/>
          <a:cs typeface="+mn-cs"/>
        </a:defRPr>
      </a:lvl7pPr>
      <a:lvl8pPr marL="3200205" algn="l" defTabSz="914344" rtl="0" eaLnBrk="1" latinLnBrk="0" hangingPunct="1">
        <a:defRPr sz="1800" kern="1200">
          <a:solidFill>
            <a:schemeClr val="tx1"/>
          </a:solidFill>
          <a:latin typeface="+mn-lt"/>
          <a:ea typeface="+mn-ea"/>
          <a:cs typeface="+mn-cs"/>
        </a:defRPr>
      </a:lvl8pPr>
      <a:lvl9pPr marL="3657377" algn="l" defTabSz="91434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2">
            <a:extLst>
              <a:ext uri="{FF2B5EF4-FFF2-40B4-BE49-F238E27FC236}">
                <a16:creationId xmlns:a16="http://schemas.microsoft.com/office/drawing/2014/main" id="{0D61AD1B-6423-4EA8-7653-8CDEB6CB382A}"/>
              </a:ext>
            </a:extLst>
          </p:cNvPr>
          <p:cNvSpPr txBox="1"/>
          <p:nvPr/>
        </p:nvSpPr>
        <p:spPr>
          <a:xfrm>
            <a:off x="1581228" y="863472"/>
            <a:ext cx="6045200" cy="5504327"/>
          </a:xfrm>
          <a:prstGeom prst="rect">
            <a:avLst/>
          </a:prstGeom>
        </p:spPr>
        <p:txBody>
          <a:bodyPr wrap="square" lIns="0" tIns="0" rIns="0" bIns="0" rtlCol="0" anchor="t">
            <a:spAutoFit/>
          </a:bodyPr>
          <a:lstStyle/>
          <a:p>
            <a:pPr algn="ctr">
              <a:lnSpc>
                <a:spcPct val="150000"/>
              </a:lnSpc>
              <a:spcBef>
                <a:spcPct val="0"/>
              </a:spcBef>
            </a:pPr>
            <a:r>
              <a:rPr lang="en-US" sz="1200" b="1" dirty="0">
                <a:solidFill>
                  <a:srgbClr val="000000"/>
                </a:solidFill>
                <a:latin typeface="Century Gothic" panose="020B0502020202020204" pitchFamily="34" charset="0"/>
                <a:ea typeface="Glacial Indifference"/>
                <a:cs typeface="Glacial Indifference"/>
                <a:sym typeface="Glacial Indifference"/>
              </a:rPr>
              <a:t>Instituto </a:t>
            </a:r>
            <a:r>
              <a:rPr lang="en-US" sz="1200" b="1" dirty="0" err="1">
                <a:solidFill>
                  <a:srgbClr val="000000"/>
                </a:solidFill>
                <a:latin typeface="Century Gothic" panose="020B0502020202020204" pitchFamily="34" charset="0"/>
                <a:ea typeface="Glacial Indifference"/>
                <a:cs typeface="Glacial Indifference"/>
                <a:sym typeface="Glacial Indifference"/>
              </a:rPr>
              <a:t>Tecnológico</a:t>
            </a:r>
            <a:r>
              <a:rPr lang="en-US" sz="1200" b="1" dirty="0">
                <a:solidFill>
                  <a:srgbClr val="000000"/>
                </a:solidFill>
                <a:latin typeface="Century Gothic" panose="020B0502020202020204" pitchFamily="34" charset="0"/>
                <a:ea typeface="Glacial Indifference"/>
                <a:cs typeface="Glacial Indifference"/>
                <a:sym typeface="Glacial Indifference"/>
              </a:rPr>
              <a:t> de Frontera </a:t>
            </a:r>
            <a:r>
              <a:rPr lang="en-US" sz="1200" b="1" dirty="0" err="1">
                <a:solidFill>
                  <a:srgbClr val="000000"/>
                </a:solidFill>
                <a:latin typeface="Century Gothic" panose="020B0502020202020204" pitchFamily="34" charset="0"/>
                <a:ea typeface="Glacial Indifference"/>
                <a:cs typeface="Glacial Indifference"/>
                <a:sym typeface="Glacial Indifference"/>
              </a:rPr>
              <a:t>Comalapa</a:t>
            </a:r>
            <a:endParaRPr lang="en-US" sz="1200" b="1" dirty="0">
              <a:solidFill>
                <a:srgbClr val="000000"/>
              </a:solidFill>
              <a:latin typeface="Century Gothic" panose="020B0502020202020204" pitchFamily="34" charset="0"/>
              <a:ea typeface="Glacial Indifference"/>
              <a:cs typeface="Glacial Indifference"/>
              <a:sym typeface="Glacial Indifference"/>
            </a:endParaRPr>
          </a:p>
          <a:p>
            <a:pPr algn="ctr">
              <a:lnSpc>
                <a:spcPct val="150000"/>
              </a:lnSpc>
              <a:spcBef>
                <a:spcPct val="0"/>
              </a:spcBef>
            </a:pPr>
            <a:r>
              <a:rPr lang="en-US" sz="1200" b="1" dirty="0" err="1">
                <a:solidFill>
                  <a:srgbClr val="000000"/>
                </a:solidFill>
                <a:latin typeface="Century Gothic" panose="020B0502020202020204" pitchFamily="34" charset="0"/>
                <a:ea typeface="Glacial Indifference"/>
                <a:cs typeface="Glacial Indifference"/>
                <a:sym typeface="Glacial Indifference"/>
              </a:rPr>
              <a:t>Modalidad</a:t>
            </a:r>
            <a:r>
              <a:rPr lang="en-US" sz="1200" b="1" dirty="0">
                <a:solidFill>
                  <a:srgbClr val="000000"/>
                </a:solidFill>
                <a:latin typeface="Century Gothic" panose="020B0502020202020204" pitchFamily="34" charset="0"/>
                <a:ea typeface="Glacial Indifference"/>
                <a:cs typeface="Glacial Indifference"/>
                <a:sym typeface="Glacial Indifference"/>
              </a:rPr>
              <a:t> Mixta</a:t>
            </a:r>
          </a:p>
          <a:p>
            <a:pPr algn="ctr">
              <a:lnSpc>
                <a:spcPct val="150000"/>
              </a:lnSpc>
              <a:spcBef>
                <a:spcPct val="0"/>
              </a:spcBef>
            </a:pPr>
            <a:endParaRPr lang="en-US" sz="1200" b="1" dirty="0">
              <a:solidFill>
                <a:srgbClr val="000000"/>
              </a:solidFill>
              <a:latin typeface="Century Gothic" panose="020B0502020202020204" pitchFamily="34" charset="0"/>
              <a:ea typeface="Glacial Indifference"/>
              <a:cs typeface="Glacial Indifference"/>
              <a:sym typeface="Glacial Indifference"/>
            </a:endParaRPr>
          </a:p>
          <a:p>
            <a:pPr algn="ctr">
              <a:lnSpc>
                <a:spcPct val="150000"/>
              </a:lnSpc>
              <a:spcBef>
                <a:spcPct val="0"/>
              </a:spcBef>
            </a:pPr>
            <a:r>
              <a:rPr lang="en-US" sz="1200" b="1" dirty="0">
                <a:solidFill>
                  <a:srgbClr val="000000"/>
                </a:solidFill>
                <a:latin typeface="Century Gothic" panose="020B0502020202020204" pitchFamily="34" charset="0"/>
                <a:ea typeface="Glacial Indifference"/>
                <a:cs typeface="Glacial Indifference"/>
                <a:sym typeface="Glacial Indifference"/>
              </a:rPr>
              <a:t>Materia:</a:t>
            </a:r>
          </a:p>
          <a:p>
            <a:pPr algn="ctr">
              <a:lnSpc>
                <a:spcPct val="150000"/>
              </a:lnSpc>
              <a:spcBef>
                <a:spcPct val="0"/>
              </a:spcBef>
            </a:pPr>
            <a:r>
              <a:rPr lang="en-US" sz="1200" b="1" dirty="0" err="1">
                <a:solidFill>
                  <a:srgbClr val="000000"/>
                </a:solidFill>
                <a:latin typeface="Century Gothic" panose="020B0502020202020204" pitchFamily="34" charset="0"/>
                <a:ea typeface="Glacial Indifference"/>
                <a:cs typeface="Glacial Indifference"/>
                <a:sym typeface="Glacial Indifference"/>
              </a:rPr>
              <a:t>Estructura</a:t>
            </a:r>
            <a:r>
              <a:rPr lang="en-US" sz="1200" b="1" dirty="0">
                <a:solidFill>
                  <a:srgbClr val="000000"/>
                </a:solidFill>
                <a:latin typeface="Century Gothic" panose="020B0502020202020204" pitchFamily="34" charset="0"/>
                <a:ea typeface="Glacial Indifference"/>
                <a:cs typeface="Glacial Indifference"/>
                <a:sym typeface="Glacial Indifference"/>
              </a:rPr>
              <a:t> de Datos</a:t>
            </a:r>
          </a:p>
          <a:p>
            <a:pPr algn="ctr">
              <a:lnSpc>
                <a:spcPct val="150000"/>
              </a:lnSpc>
              <a:spcBef>
                <a:spcPct val="0"/>
              </a:spcBef>
            </a:pPr>
            <a:r>
              <a:rPr lang="en-US" sz="1200" b="1" dirty="0" err="1">
                <a:solidFill>
                  <a:srgbClr val="000000"/>
                </a:solidFill>
                <a:latin typeface="Century Gothic" panose="020B0502020202020204" pitchFamily="34" charset="0"/>
                <a:ea typeface="Glacial Indifference"/>
                <a:cs typeface="Glacial Indifference"/>
                <a:sym typeface="Glacial Indifference"/>
              </a:rPr>
              <a:t>Semestre</a:t>
            </a:r>
            <a:r>
              <a:rPr lang="en-US" sz="1200" b="1" dirty="0">
                <a:solidFill>
                  <a:srgbClr val="000000"/>
                </a:solidFill>
                <a:latin typeface="Century Gothic" panose="020B0502020202020204" pitchFamily="34" charset="0"/>
                <a:ea typeface="Glacial Indifference"/>
                <a:cs typeface="Glacial Indifference"/>
                <a:sym typeface="Glacial Indifference"/>
              </a:rPr>
              <a:t>: </a:t>
            </a:r>
          </a:p>
          <a:p>
            <a:pPr algn="ctr">
              <a:lnSpc>
                <a:spcPct val="150000"/>
              </a:lnSpc>
              <a:spcBef>
                <a:spcPct val="0"/>
              </a:spcBef>
            </a:pPr>
            <a:r>
              <a:rPr lang="en-US" sz="1200" b="1" dirty="0">
                <a:solidFill>
                  <a:srgbClr val="000000"/>
                </a:solidFill>
                <a:latin typeface="Century Gothic" panose="020B0502020202020204" pitchFamily="34" charset="0"/>
                <a:ea typeface="Glacial Indifference"/>
                <a:cs typeface="Glacial Indifference"/>
                <a:sym typeface="Glacial Indifference"/>
              </a:rPr>
              <a:t>Quinto </a:t>
            </a:r>
            <a:r>
              <a:rPr lang="en-US" sz="1200" b="1" dirty="0" err="1">
                <a:solidFill>
                  <a:srgbClr val="000000"/>
                </a:solidFill>
                <a:latin typeface="Century Gothic" panose="020B0502020202020204" pitchFamily="34" charset="0"/>
                <a:ea typeface="Glacial Indifference"/>
                <a:cs typeface="Glacial Indifference"/>
                <a:sym typeface="Glacial Indifference"/>
              </a:rPr>
              <a:t>semestre</a:t>
            </a:r>
            <a:r>
              <a:rPr lang="en-US" sz="1200" b="1" dirty="0">
                <a:solidFill>
                  <a:srgbClr val="000000"/>
                </a:solidFill>
                <a:latin typeface="Century Gothic" panose="020B0502020202020204" pitchFamily="34" charset="0"/>
                <a:ea typeface="Glacial Indifference"/>
                <a:cs typeface="Glacial Indifference"/>
                <a:sym typeface="Glacial Indifference"/>
              </a:rPr>
              <a:t> </a:t>
            </a:r>
          </a:p>
          <a:p>
            <a:pPr algn="ctr">
              <a:lnSpc>
                <a:spcPct val="150000"/>
              </a:lnSpc>
              <a:spcBef>
                <a:spcPct val="0"/>
              </a:spcBef>
            </a:pPr>
            <a:r>
              <a:rPr lang="en-US" sz="1200" b="1" dirty="0" err="1">
                <a:solidFill>
                  <a:srgbClr val="000000"/>
                </a:solidFill>
                <a:latin typeface="Century Gothic" panose="020B0502020202020204" pitchFamily="34" charset="0"/>
                <a:ea typeface="Glacial Indifference"/>
                <a:cs typeface="Glacial Indifference"/>
                <a:sym typeface="Glacial Indifference"/>
              </a:rPr>
              <a:t>Especialidad</a:t>
            </a:r>
            <a:r>
              <a:rPr lang="en-US" sz="1200" b="1" dirty="0">
                <a:solidFill>
                  <a:srgbClr val="000000"/>
                </a:solidFill>
                <a:latin typeface="Century Gothic" panose="020B0502020202020204" pitchFamily="34" charset="0"/>
                <a:ea typeface="Glacial Indifference"/>
                <a:cs typeface="Glacial Indifference"/>
                <a:sym typeface="Glacial Indifference"/>
              </a:rPr>
              <a:t>:</a:t>
            </a:r>
          </a:p>
          <a:p>
            <a:pPr algn="ctr">
              <a:lnSpc>
                <a:spcPct val="150000"/>
              </a:lnSpc>
              <a:spcBef>
                <a:spcPct val="0"/>
              </a:spcBef>
            </a:pPr>
            <a:r>
              <a:rPr lang="en-US" sz="1200" b="1" dirty="0">
                <a:solidFill>
                  <a:srgbClr val="000000"/>
                </a:solidFill>
                <a:latin typeface="Century Gothic" panose="020B0502020202020204" pitchFamily="34" charset="0"/>
                <a:ea typeface="Glacial Indifference"/>
                <a:cs typeface="Glacial Indifference"/>
                <a:sym typeface="Glacial Indifference"/>
              </a:rPr>
              <a:t>Ingeniería </a:t>
            </a:r>
            <a:r>
              <a:rPr lang="en-US" sz="1200" b="1" dirty="0" err="1">
                <a:solidFill>
                  <a:srgbClr val="000000"/>
                </a:solidFill>
                <a:latin typeface="Century Gothic" panose="020B0502020202020204" pitchFamily="34" charset="0"/>
                <a:ea typeface="Glacial Indifference"/>
                <a:cs typeface="Glacial Indifference"/>
                <a:sym typeface="Glacial Indifference"/>
              </a:rPr>
              <a:t>en</a:t>
            </a:r>
            <a:r>
              <a:rPr lang="en-US" sz="1200" b="1" dirty="0">
                <a:solidFill>
                  <a:srgbClr val="000000"/>
                </a:solidFill>
                <a:latin typeface="Century Gothic" panose="020B0502020202020204" pitchFamily="34" charset="0"/>
                <a:ea typeface="Glacial Indifference"/>
                <a:cs typeface="Glacial Indifference"/>
                <a:sym typeface="Glacial Indifference"/>
              </a:rPr>
              <a:t> Sistemas </a:t>
            </a:r>
            <a:r>
              <a:rPr lang="en-US" sz="1200" b="1" dirty="0" err="1">
                <a:solidFill>
                  <a:srgbClr val="000000"/>
                </a:solidFill>
                <a:latin typeface="Century Gothic" panose="020B0502020202020204" pitchFamily="34" charset="0"/>
                <a:ea typeface="Glacial Indifference"/>
                <a:cs typeface="Glacial Indifference"/>
                <a:sym typeface="Glacial Indifference"/>
              </a:rPr>
              <a:t>Computacionales</a:t>
            </a:r>
            <a:r>
              <a:rPr lang="en-US" sz="1200" b="1" dirty="0">
                <a:solidFill>
                  <a:srgbClr val="000000"/>
                </a:solidFill>
                <a:latin typeface="Century Gothic" panose="020B0502020202020204" pitchFamily="34" charset="0"/>
                <a:ea typeface="Glacial Indifference"/>
                <a:cs typeface="Glacial Indifference"/>
                <a:sym typeface="Glacial Indifference"/>
              </a:rPr>
              <a:t>.</a:t>
            </a:r>
          </a:p>
          <a:p>
            <a:pPr algn="ctr">
              <a:lnSpc>
                <a:spcPct val="150000"/>
              </a:lnSpc>
              <a:spcBef>
                <a:spcPct val="0"/>
              </a:spcBef>
            </a:pPr>
            <a:r>
              <a:rPr lang="en-US" sz="1200" b="1" dirty="0" err="1">
                <a:solidFill>
                  <a:srgbClr val="000000"/>
                </a:solidFill>
                <a:latin typeface="Century Gothic" panose="020B0502020202020204" pitchFamily="34" charset="0"/>
                <a:ea typeface="Glacial Indifference"/>
                <a:cs typeface="Glacial Indifference"/>
                <a:sym typeface="Glacial Indifference"/>
              </a:rPr>
              <a:t>Numero</a:t>
            </a:r>
            <a:r>
              <a:rPr lang="en-US" sz="1200" b="1" dirty="0">
                <a:solidFill>
                  <a:srgbClr val="000000"/>
                </a:solidFill>
                <a:latin typeface="Century Gothic" panose="020B0502020202020204" pitchFamily="34" charset="0"/>
                <a:ea typeface="Glacial Indifference"/>
                <a:cs typeface="Glacial Indifference"/>
                <a:sym typeface="Glacial Indifference"/>
              </a:rPr>
              <a:t> de control:</a:t>
            </a:r>
          </a:p>
          <a:p>
            <a:pPr algn="ctr">
              <a:lnSpc>
                <a:spcPct val="150000"/>
              </a:lnSpc>
              <a:spcBef>
                <a:spcPct val="0"/>
              </a:spcBef>
            </a:pPr>
            <a:r>
              <a:rPr lang="en-US" sz="1200" b="1" dirty="0">
                <a:solidFill>
                  <a:srgbClr val="000000"/>
                </a:solidFill>
                <a:latin typeface="Century Gothic" panose="020B0502020202020204" pitchFamily="34" charset="0"/>
                <a:ea typeface="Glacial Indifference"/>
                <a:cs typeface="Glacial Indifference"/>
                <a:sym typeface="Glacial Indifference"/>
              </a:rPr>
              <a:t>231260014</a:t>
            </a:r>
          </a:p>
          <a:p>
            <a:pPr algn="ctr">
              <a:lnSpc>
                <a:spcPct val="150000"/>
              </a:lnSpc>
              <a:spcBef>
                <a:spcPct val="0"/>
              </a:spcBef>
            </a:pPr>
            <a:r>
              <a:rPr lang="en-US" sz="1200" b="1" dirty="0">
                <a:solidFill>
                  <a:srgbClr val="000000"/>
                </a:solidFill>
                <a:latin typeface="Century Gothic" panose="020B0502020202020204" pitchFamily="34" charset="0"/>
                <a:ea typeface="Glacial Indifference"/>
                <a:cs typeface="Glacial Indifference"/>
                <a:sym typeface="Glacial Indifference"/>
              </a:rPr>
              <a:t>Nombre del </a:t>
            </a:r>
            <a:r>
              <a:rPr lang="en-US" sz="1200" b="1" dirty="0" err="1">
                <a:solidFill>
                  <a:srgbClr val="000000"/>
                </a:solidFill>
                <a:latin typeface="Century Gothic" panose="020B0502020202020204" pitchFamily="34" charset="0"/>
                <a:ea typeface="Glacial Indifference"/>
                <a:cs typeface="Glacial Indifference"/>
                <a:sym typeface="Glacial Indifference"/>
              </a:rPr>
              <a:t>alumno</a:t>
            </a:r>
            <a:r>
              <a:rPr lang="en-US" sz="1200" b="1" dirty="0">
                <a:solidFill>
                  <a:srgbClr val="000000"/>
                </a:solidFill>
                <a:latin typeface="Century Gothic" panose="020B0502020202020204" pitchFamily="34" charset="0"/>
                <a:ea typeface="Glacial Indifference"/>
                <a:cs typeface="Glacial Indifference"/>
                <a:sym typeface="Glacial Indifference"/>
              </a:rPr>
              <a:t>: </a:t>
            </a:r>
          </a:p>
          <a:p>
            <a:pPr algn="ctr">
              <a:lnSpc>
                <a:spcPct val="150000"/>
              </a:lnSpc>
              <a:spcBef>
                <a:spcPct val="0"/>
              </a:spcBef>
            </a:pPr>
            <a:r>
              <a:rPr lang="en-US" sz="1200" b="1" dirty="0">
                <a:solidFill>
                  <a:srgbClr val="000000"/>
                </a:solidFill>
                <a:latin typeface="Century Gothic" panose="020B0502020202020204" pitchFamily="34" charset="0"/>
                <a:ea typeface="Glacial Indifference"/>
                <a:cs typeface="Glacial Indifference"/>
                <a:sym typeface="Glacial Indifference"/>
              </a:rPr>
              <a:t>Cynthia Jasmine Morales Torres</a:t>
            </a:r>
          </a:p>
          <a:p>
            <a:pPr algn="ctr">
              <a:lnSpc>
                <a:spcPct val="150000"/>
              </a:lnSpc>
              <a:spcBef>
                <a:spcPct val="0"/>
              </a:spcBef>
            </a:pPr>
            <a:r>
              <a:rPr lang="en-US" sz="1200" b="1" dirty="0">
                <a:solidFill>
                  <a:srgbClr val="000000"/>
                </a:solidFill>
                <a:latin typeface="Century Gothic" panose="020B0502020202020204" pitchFamily="34" charset="0"/>
                <a:ea typeface="Glacial Indifference"/>
                <a:cs typeface="Glacial Indifference"/>
                <a:sym typeface="Glacial Indifference"/>
              </a:rPr>
              <a:t>Nombre del </a:t>
            </a:r>
            <a:r>
              <a:rPr lang="en-US" sz="1200" b="1" dirty="0" err="1">
                <a:solidFill>
                  <a:srgbClr val="000000"/>
                </a:solidFill>
                <a:latin typeface="Century Gothic" panose="020B0502020202020204" pitchFamily="34" charset="0"/>
                <a:ea typeface="Glacial Indifference"/>
                <a:cs typeface="Glacial Indifference"/>
                <a:sym typeface="Glacial Indifference"/>
              </a:rPr>
              <a:t>docente</a:t>
            </a:r>
            <a:r>
              <a:rPr lang="en-US" sz="1200" b="1" dirty="0">
                <a:solidFill>
                  <a:srgbClr val="000000"/>
                </a:solidFill>
                <a:latin typeface="Century Gothic" panose="020B0502020202020204" pitchFamily="34" charset="0"/>
                <a:ea typeface="Glacial Indifference"/>
                <a:cs typeface="Glacial Indifference"/>
                <a:sym typeface="Glacial Indifference"/>
              </a:rPr>
              <a:t>: </a:t>
            </a:r>
          </a:p>
          <a:p>
            <a:pPr algn="ctr">
              <a:lnSpc>
                <a:spcPct val="150000"/>
              </a:lnSpc>
              <a:spcBef>
                <a:spcPct val="0"/>
              </a:spcBef>
            </a:pPr>
            <a:r>
              <a:rPr lang="en-US" sz="1200" b="1" dirty="0">
                <a:solidFill>
                  <a:srgbClr val="000000"/>
                </a:solidFill>
                <a:latin typeface="Century Gothic" panose="020B0502020202020204" pitchFamily="34" charset="0"/>
                <a:ea typeface="Glacial Indifference"/>
                <a:cs typeface="Glacial Indifference"/>
                <a:sym typeface="Glacial Indifference"/>
              </a:rPr>
              <a:t>Ing. Francisco Javier Mingo Velazquez</a:t>
            </a:r>
          </a:p>
          <a:p>
            <a:pPr algn="ctr">
              <a:lnSpc>
                <a:spcPct val="150000"/>
              </a:lnSpc>
              <a:spcBef>
                <a:spcPct val="0"/>
              </a:spcBef>
            </a:pPr>
            <a:r>
              <a:rPr lang="en-US" sz="1200" b="1" dirty="0">
                <a:solidFill>
                  <a:srgbClr val="000000"/>
                </a:solidFill>
                <a:latin typeface="Century Gothic" panose="020B0502020202020204" pitchFamily="34" charset="0"/>
                <a:ea typeface="Glacial Indifference"/>
                <a:cs typeface="Glacial Indifference"/>
                <a:sym typeface="Glacial Indifference"/>
              </a:rPr>
              <a:t>Nombre del </a:t>
            </a:r>
            <a:r>
              <a:rPr lang="en-US" sz="1200" b="1" dirty="0" err="1">
                <a:solidFill>
                  <a:srgbClr val="000000"/>
                </a:solidFill>
                <a:latin typeface="Century Gothic" panose="020B0502020202020204" pitchFamily="34" charset="0"/>
                <a:ea typeface="Glacial Indifference"/>
                <a:cs typeface="Glacial Indifference"/>
                <a:sym typeface="Glacial Indifference"/>
              </a:rPr>
              <a:t>trabajo</a:t>
            </a:r>
            <a:r>
              <a:rPr lang="en-US" sz="1200" b="1" dirty="0">
                <a:solidFill>
                  <a:srgbClr val="000000"/>
                </a:solidFill>
                <a:latin typeface="Century Gothic" panose="020B0502020202020204" pitchFamily="34" charset="0"/>
                <a:ea typeface="Glacial Indifference"/>
                <a:cs typeface="Glacial Indifference"/>
                <a:sym typeface="Glacial Indifference"/>
              </a:rPr>
              <a:t>:</a:t>
            </a:r>
          </a:p>
          <a:p>
            <a:pPr algn="ctr">
              <a:lnSpc>
                <a:spcPct val="150000"/>
              </a:lnSpc>
              <a:spcBef>
                <a:spcPct val="0"/>
              </a:spcBef>
            </a:pPr>
            <a:r>
              <a:rPr lang="en-US" sz="1200" b="1" dirty="0">
                <a:solidFill>
                  <a:srgbClr val="000000"/>
                </a:solidFill>
                <a:latin typeface="Century Gothic" panose="020B0502020202020204" pitchFamily="34" charset="0"/>
                <a:ea typeface="Glacial Indifference"/>
                <a:cs typeface="Glacial Indifference"/>
                <a:sym typeface="Glacial Indifference"/>
              </a:rPr>
              <a:t>4.2 </a:t>
            </a:r>
            <a:r>
              <a:rPr lang="en-US" sz="1200" b="1" dirty="0" err="1">
                <a:solidFill>
                  <a:srgbClr val="000000"/>
                </a:solidFill>
                <a:latin typeface="Century Gothic" panose="020B0502020202020204" pitchFamily="34" charset="0"/>
                <a:ea typeface="Glacial Indifference"/>
                <a:cs typeface="Glacial Indifference"/>
                <a:sym typeface="Glacial Indifference"/>
              </a:rPr>
              <a:t>Reporte</a:t>
            </a:r>
            <a:r>
              <a:rPr lang="en-US" sz="1200" b="1" dirty="0">
                <a:solidFill>
                  <a:srgbClr val="000000"/>
                </a:solidFill>
                <a:latin typeface="Century Gothic" panose="020B0502020202020204" pitchFamily="34" charset="0"/>
                <a:ea typeface="Glacial Indifference"/>
                <a:cs typeface="Glacial Indifference"/>
                <a:sym typeface="Glacial Indifference"/>
              </a:rPr>
              <a:t> de </a:t>
            </a:r>
            <a:r>
              <a:rPr lang="en-US" sz="1200" b="1" dirty="0" err="1">
                <a:solidFill>
                  <a:srgbClr val="000000"/>
                </a:solidFill>
                <a:latin typeface="Century Gothic" panose="020B0502020202020204" pitchFamily="34" charset="0"/>
                <a:ea typeface="Glacial Indifference"/>
                <a:cs typeface="Glacial Indifference"/>
                <a:sym typeface="Glacial Indifference"/>
              </a:rPr>
              <a:t>Practica</a:t>
            </a:r>
            <a:endParaRPr lang="en-US" sz="1200" b="1" dirty="0">
              <a:solidFill>
                <a:srgbClr val="000000"/>
              </a:solidFill>
              <a:latin typeface="Century Gothic" panose="020B0502020202020204" pitchFamily="34" charset="0"/>
              <a:ea typeface="Glacial Indifference"/>
              <a:cs typeface="Glacial Indifference"/>
              <a:sym typeface="Glacial Indifference"/>
            </a:endParaRPr>
          </a:p>
          <a:p>
            <a:pPr algn="ctr">
              <a:lnSpc>
                <a:spcPct val="150000"/>
              </a:lnSpc>
              <a:spcBef>
                <a:spcPct val="0"/>
              </a:spcBef>
            </a:pPr>
            <a:r>
              <a:rPr lang="en-US" sz="1200" b="1" dirty="0" err="1">
                <a:solidFill>
                  <a:srgbClr val="000000"/>
                </a:solidFill>
                <a:latin typeface="Century Gothic" panose="020B0502020202020204" pitchFamily="34" charset="0"/>
                <a:ea typeface="Glacial Indifference"/>
                <a:cs typeface="Glacial Indifference"/>
                <a:sym typeface="Glacial Indifference"/>
              </a:rPr>
              <a:t>Fecha</a:t>
            </a:r>
            <a:r>
              <a:rPr lang="en-US" sz="1200" b="1" dirty="0">
                <a:solidFill>
                  <a:srgbClr val="000000"/>
                </a:solidFill>
                <a:latin typeface="Century Gothic" panose="020B0502020202020204" pitchFamily="34" charset="0"/>
                <a:ea typeface="Glacial Indifference"/>
                <a:cs typeface="Glacial Indifference"/>
                <a:sym typeface="Glacial Indifference"/>
              </a:rPr>
              <a:t> de </a:t>
            </a:r>
            <a:r>
              <a:rPr lang="en-US" sz="1200" b="1" dirty="0" err="1">
                <a:solidFill>
                  <a:srgbClr val="000000"/>
                </a:solidFill>
                <a:latin typeface="Century Gothic" panose="020B0502020202020204" pitchFamily="34" charset="0"/>
                <a:ea typeface="Glacial Indifference"/>
                <a:cs typeface="Glacial Indifference"/>
                <a:sym typeface="Glacial Indifference"/>
              </a:rPr>
              <a:t>entrega</a:t>
            </a:r>
            <a:r>
              <a:rPr lang="en-US" sz="1200" b="1" dirty="0">
                <a:solidFill>
                  <a:srgbClr val="000000"/>
                </a:solidFill>
                <a:latin typeface="Century Gothic" panose="020B0502020202020204" pitchFamily="34" charset="0"/>
                <a:ea typeface="Glacial Indifference"/>
                <a:cs typeface="Glacial Indifference"/>
                <a:sym typeface="Glacial Indifference"/>
              </a:rPr>
              <a:t>:</a:t>
            </a:r>
          </a:p>
          <a:p>
            <a:pPr algn="ctr">
              <a:lnSpc>
                <a:spcPct val="150000"/>
              </a:lnSpc>
              <a:spcBef>
                <a:spcPct val="0"/>
              </a:spcBef>
            </a:pPr>
            <a:endParaRPr lang="en-US" sz="1200" b="1" dirty="0">
              <a:solidFill>
                <a:srgbClr val="000000"/>
              </a:solidFill>
              <a:latin typeface="Century Gothic" panose="020B0502020202020204" pitchFamily="34" charset="0"/>
              <a:ea typeface="Glacial Indifference"/>
              <a:cs typeface="Glacial Indifference"/>
              <a:sym typeface="Glacial Indifference"/>
            </a:endParaRPr>
          </a:p>
          <a:p>
            <a:pPr algn="ctr">
              <a:lnSpc>
                <a:spcPct val="150000"/>
              </a:lnSpc>
              <a:spcBef>
                <a:spcPct val="0"/>
              </a:spcBef>
            </a:pPr>
            <a:r>
              <a:rPr lang="en-US" sz="1200" b="1" dirty="0">
                <a:solidFill>
                  <a:srgbClr val="000000"/>
                </a:solidFill>
                <a:latin typeface="Century Gothic" panose="020B0502020202020204" pitchFamily="34" charset="0"/>
                <a:ea typeface="Glacial Indifference"/>
                <a:cs typeface="Glacial Indifference"/>
                <a:sym typeface="Glacial Indifference"/>
              </a:rPr>
              <a:t>Frontera </a:t>
            </a:r>
            <a:r>
              <a:rPr lang="en-US" sz="1200" b="1" dirty="0" err="1">
                <a:solidFill>
                  <a:srgbClr val="000000"/>
                </a:solidFill>
                <a:latin typeface="Century Gothic" panose="020B0502020202020204" pitchFamily="34" charset="0"/>
                <a:ea typeface="Glacial Indifference"/>
                <a:cs typeface="Glacial Indifference"/>
                <a:sym typeface="Glacial Indifference"/>
              </a:rPr>
              <a:t>Comalapa</a:t>
            </a:r>
            <a:r>
              <a:rPr lang="en-US" sz="1200" b="1" dirty="0">
                <a:solidFill>
                  <a:srgbClr val="000000"/>
                </a:solidFill>
                <a:latin typeface="Century Gothic" panose="020B0502020202020204" pitchFamily="34" charset="0"/>
                <a:ea typeface="Glacial Indifference"/>
                <a:cs typeface="Glacial Indifference"/>
                <a:sym typeface="Glacial Indifference"/>
              </a:rPr>
              <a:t>, Chiapas. A 13 de </a:t>
            </a:r>
            <a:r>
              <a:rPr lang="en-US" sz="1200" b="1" dirty="0" err="1">
                <a:solidFill>
                  <a:srgbClr val="000000"/>
                </a:solidFill>
                <a:latin typeface="Century Gothic" panose="020B0502020202020204" pitchFamily="34" charset="0"/>
                <a:ea typeface="Glacial Indifference"/>
                <a:cs typeface="Glacial Indifference"/>
                <a:sym typeface="Glacial Indifference"/>
              </a:rPr>
              <a:t>diciembre</a:t>
            </a:r>
            <a:r>
              <a:rPr lang="en-US" sz="1200" b="1" dirty="0">
                <a:solidFill>
                  <a:srgbClr val="000000"/>
                </a:solidFill>
                <a:latin typeface="Century Gothic" panose="020B0502020202020204" pitchFamily="34" charset="0"/>
                <a:ea typeface="Glacial Indifference"/>
                <a:cs typeface="Glacial Indifference"/>
                <a:sym typeface="Glacial Indifference"/>
              </a:rPr>
              <a:t> de 2025</a:t>
            </a:r>
          </a:p>
        </p:txBody>
      </p:sp>
      <p:sp>
        <p:nvSpPr>
          <p:cNvPr id="11" name="Freeform 3">
            <a:extLst>
              <a:ext uri="{FF2B5EF4-FFF2-40B4-BE49-F238E27FC236}">
                <a16:creationId xmlns:a16="http://schemas.microsoft.com/office/drawing/2014/main" id="{749AEAB4-E661-FBE4-F34B-B408DD7F132F}"/>
              </a:ext>
            </a:extLst>
          </p:cNvPr>
          <p:cNvSpPr/>
          <p:nvPr/>
        </p:nvSpPr>
        <p:spPr>
          <a:xfrm>
            <a:off x="342899" y="130506"/>
            <a:ext cx="1985447" cy="917245"/>
          </a:xfrm>
          <a:custGeom>
            <a:avLst/>
            <a:gdLst/>
            <a:ahLst/>
            <a:cxnLst/>
            <a:rect l="l" t="t" r="r" b="b"/>
            <a:pathLst>
              <a:path w="3135296" h="1339792">
                <a:moveTo>
                  <a:pt x="0" y="0"/>
                </a:moveTo>
                <a:lnTo>
                  <a:pt x="3135296" y="0"/>
                </a:lnTo>
                <a:lnTo>
                  <a:pt x="3135296" y="1339792"/>
                </a:lnTo>
                <a:lnTo>
                  <a:pt x="0" y="1339792"/>
                </a:lnTo>
                <a:lnTo>
                  <a:pt x="0" y="0"/>
                </a:lnTo>
                <a:close/>
              </a:path>
            </a:pathLst>
          </a:custGeom>
          <a:blipFill>
            <a:blip r:embed="rId2"/>
            <a:stretch>
              <a:fillRect/>
            </a:stretch>
          </a:blipFill>
        </p:spPr>
      </p:sp>
      <p:sp>
        <p:nvSpPr>
          <p:cNvPr id="12" name="Freeform 4">
            <a:extLst>
              <a:ext uri="{FF2B5EF4-FFF2-40B4-BE49-F238E27FC236}">
                <a16:creationId xmlns:a16="http://schemas.microsoft.com/office/drawing/2014/main" id="{7E618D15-6BE8-3983-0657-9B0A625B51A6}"/>
              </a:ext>
            </a:extLst>
          </p:cNvPr>
          <p:cNvSpPr/>
          <p:nvPr/>
        </p:nvSpPr>
        <p:spPr>
          <a:xfrm>
            <a:off x="7415487" y="203069"/>
            <a:ext cx="1385614" cy="844682"/>
          </a:xfrm>
          <a:custGeom>
            <a:avLst/>
            <a:gdLst/>
            <a:ahLst/>
            <a:cxnLst/>
            <a:rect l="l" t="t" r="r" b="b"/>
            <a:pathLst>
              <a:path w="2019078" h="1652713">
                <a:moveTo>
                  <a:pt x="0" y="0"/>
                </a:moveTo>
                <a:lnTo>
                  <a:pt x="2019078" y="0"/>
                </a:lnTo>
                <a:lnTo>
                  <a:pt x="2019078" y="1652713"/>
                </a:lnTo>
                <a:lnTo>
                  <a:pt x="0" y="1652713"/>
                </a:lnTo>
                <a:lnTo>
                  <a:pt x="0" y="0"/>
                </a:lnTo>
                <a:close/>
              </a:path>
            </a:pathLst>
          </a:custGeom>
          <a:blipFill>
            <a:blip r:embed="rId3"/>
            <a:stretch>
              <a:fillRect/>
            </a:stretch>
          </a:blipFill>
        </p:spPr>
      </p:sp>
      <p:sp>
        <p:nvSpPr>
          <p:cNvPr id="13" name="Freeform 5">
            <a:extLst>
              <a:ext uri="{FF2B5EF4-FFF2-40B4-BE49-F238E27FC236}">
                <a16:creationId xmlns:a16="http://schemas.microsoft.com/office/drawing/2014/main" id="{00EE2AA3-F6A0-AF6E-4B1A-077A9A648AFF}"/>
              </a:ext>
            </a:extLst>
          </p:cNvPr>
          <p:cNvSpPr/>
          <p:nvPr/>
        </p:nvSpPr>
        <p:spPr>
          <a:xfrm>
            <a:off x="3202745" y="181027"/>
            <a:ext cx="2802166" cy="584341"/>
          </a:xfrm>
          <a:custGeom>
            <a:avLst/>
            <a:gdLst/>
            <a:ahLst/>
            <a:cxnLst/>
            <a:rect l="l" t="t" r="r" b="b"/>
            <a:pathLst>
              <a:path w="4428347" h="916210">
                <a:moveTo>
                  <a:pt x="0" y="0"/>
                </a:moveTo>
                <a:lnTo>
                  <a:pt x="4428347" y="0"/>
                </a:lnTo>
                <a:lnTo>
                  <a:pt x="4428347" y="916210"/>
                </a:lnTo>
                <a:lnTo>
                  <a:pt x="0" y="916210"/>
                </a:lnTo>
                <a:lnTo>
                  <a:pt x="0" y="0"/>
                </a:lnTo>
                <a:close/>
              </a:path>
            </a:pathLst>
          </a:custGeom>
          <a:blipFill>
            <a:blip r:embed="rId4"/>
            <a:stretch>
              <a:fillRect/>
            </a:stretch>
          </a:blipFill>
        </p:spPr>
      </p:sp>
    </p:spTree>
    <p:extLst>
      <p:ext uri="{BB962C8B-B14F-4D97-AF65-F5344CB8AC3E}">
        <p14:creationId xmlns:p14="http://schemas.microsoft.com/office/powerpoint/2010/main" val="36396108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7998FA-32E6-9909-CEDC-69CB85E8FC32}"/>
              </a:ext>
            </a:extLst>
          </p:cNvPr>
          <p:cNvSpPr>
            <a:spLocks noGrp="1"/>
          </p:cNvSpPr>
          <p:nvPr>
            <p:ph type="title"/>
          </p:nvPr>
        </p:nvSpPr>
        <p:spPr/>
        <p:txBody>
          <a:bodyPr/>
          <a:lstStyle/>
          <a:p>
            <a:r>
              <a:rPr lang="es-MX" dirty="0">
                <a:latin typeface="Century Gothic" panose="020B0502020202020204" pitchFamily="34" charset="0"/>
              </a:rPr>
              <a:t>Introducción </a:t>
            </a:r>
          </a:p>
        </p:txBody>
      </p:sp>
      <p:sp>
        <p:nvSpPr>
          <p:cNvPr id="3" name="Marcador de contenido 2">
            <a:extLst>
              <a:ext uri="{FF2B5EF4-FFF2-40B4-BE49-F238E27FC236}">
                <a16:creationId xmlns:a16="http://schemas.microsoft.com/office/drawing/2014/main" id="{01FB6C4A-1728-C3A8-FD61-34B1280D3783}"/>
              </a:ext>
            </a:extLst>
          </p:cNvPr>
          <p:cNvSpPr>
            <a:spLocks noGrp="1"/>
          </p:cNvSpPr>
          <p:nvPr>
            <p:ph idx="1"/>
          </p:nvPr>
        </p:nvSpPr>
        <p:spPr/>
        <p:txBody>
          <a:bodyPr>
            <a:normAutofit/>
          </a:bodyPr>
          <a:lstStyle/>
          <a:p>
            <a:pPr marL="0" indent="0" algn="just">
              <a:buNone/>
            </a:pPr>
            <a:r>
              <a:rPr lang="es-MX" sz="1800" dirty="0">
                <a:latin typeface="Century Gothic" panose="020B0502020202020204" pitchFamily="34" charset="0"/>
              </a:rPr>
              <a:t>Las estructuras de datos no lineales permiten organizar la información de manera jerárquica o en forma de redes, facilitando la representación de relaciones complejas entre los datos. Entre las más importantes se encuentran los árboles y los grafos, los cuales son ampliamente utilizados en áreas como bases de datos, redes, inteligencia artificial y sistemas de información.</a:t>
            </a:r>
          </a:p>
          <a:p>
            <a:pPr marL="0" indent="0" algn="just">
              <a:buNone/>
            </a:pPr>
            <a:r>
              <a:rPr lang="es-MX" sz="1800" dirty="0">
                <a:latin typeface="Century Gothic" panose="020B0502020202020204" pitchFamily="34" charset="0"/>
              </a:rPr>
              <a:t>En este trabajo se desarrollaron distintos programas en Java utilizando </a:t>
            </a:r>
            <a:r>
              <a:rPr lang="es-MX" sz="1800" dirty="0" err="1">
                <a:latin typeface="Century Gothic" panose="020B0502020202020204" pitchFamily="34" charset="0"/>
              </a:rPr>
              <a:t>JavaFX</a:t>
            </a:r>
            <a:r>
              <a:rPr lang="es-MX" sz="1800" dirty="0">
                <a:latin typeface="Century Gothic" panose="020B0502020202020204" pitchFamily="34" charset="0"/>
              </a:rPr>
              <a:t>, con el objetivo de implementar y comprender el funcionamiento de estructuras no lineales mediante la creación de árboles binarios y grafos, así como la aplicación de recorridos que permiten explorar dichas estructuras.</a:t>
            </a:r>
          </a:p>
          <a:p>
            <a:pPr marL="0" indent="0" algn="just">
              <a:buNone/>
            </a:pPr>
            <a:endParaRPr lang="es-MX" sz="1800" dirty="0">
              <a:latin typeface="Century Gothic" panose="020B0502020202020204" pitchFamily="34" charset="0"/>
            </a:endParaRPr>
          </a:p>
        </p:txBody>
      </p:sp>
    </p:spTree>
    <p:extLst>
      <p:ext uri="{BB962C8B-B14F-4D97-AF65-F5344CB8AC3E}">
        <p14:creationId xmlns:p14="http://schemas.microsoft.com/office/powerpoint/2010/main" val="35532309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BC4888-903E-EF26-3C03-613F8E16CD97}"/>
              </a:ext>
            </a:extLst>
          </p:cNvPr>
          <p:cNvSpPr>
            <a:spLocks noGrp="1"/>
          </p:cNvSpPr>
          <p:nvPr>
            <p:ph type="title"/>
          </p:nvPr>
        </p:nvSpPr>
        <p:spPr/>
        <p:txBody>
          <a:bodyPr/>
          <a:lstStyle/>
          <a:p>
            <a:r>
              <a:rPr lang="es-MX" dirty="0">
                <a:latin typeface="Century Gothic" panose="020B0502020202020204" pitchFamily="34" charset="0"/>
              </a:rPr>
              <a:t>Justificación </a:t>
            </a:r>
          </a:p>
        </p:txBody>
      </p:sp>
      <p:sp>
        <p:nvSpPr>
          <p:cNvPr id="3" name="Marcador de contenido 2">
            <a:extLst>
              <a:ext uri="{FF2B5EF4-FFF2-40B4-BE49-F238E27FC236}">
                <a16:creationId xmlns:a16="http://schemas.microsoft.com/office/drawing/2014/main" id="{FFF0EACC-8433-115A-EEDB-6F5877AD624C}"/>
              </a:ext>
            </a:extLst>
          </p:cNvPr>
          <p:cNvSpPr>
            <a:spLocks noGrp="1"/>
          </p:cNvSpPr>
          <p:nvPr>
            <p:ph idx="1"/>
          </p:nvPr>
        </p:nvSpPr>
        <p:spPr/>
        <p:txBody>
          <a:bodyPr>
            <a:normAutofit/>
          </a:bodyPr>
          <a:lstStyle/>
          <a:p>
            <a:pPr marL="0" indent="0" algn="just">
              <a:buNone/>
            </a:pPr>
            <a:r>
              <a:rPr lang="es-MX" sz="2000" dirty="0">
                <a:latin typeface="Century Gothic" panose="020B0502020202020204" pitchFamily="34" charset="0"/>
              </a:rPr>
              <a:t>El estudio de las estructuras no lineales es fundamental en la formación de un ingeniero en sistemas, ya que estas permiten modelar problemas reales donde los datos no siguen un orden secuencial. Los árboles facilitan la organización jerárquica de la información, mientras que los grafos permiten representar relaciones entre múltiples elementos.</a:t>
            </a:r>
          </a:p>
          <a:p>
            <a:pPr marL="0" indent="0" algn="just">
              <a:buNone/>
            </a:pPr>
            <a:r>
              <a:rPr lang="es-MX" sz="2000" dirty="0">
                <a:latin typeface="Century Gothic" panose="020B0502020202020204" pitchFamily="34" charset="0"/>
              </a:rPr>
              <a:t>La implementación práctica mediante Java y </a:t>
            </a:r>
            <a:r>
              <a:rPr lang="es-MX" sz="2000" dirty="0" err="1">
                <a:latin typeface="Century Gothic" panose="020B0502020202020204" pitchFamily="34" charset="0"/>
              </a:rPr>
              <a:t>JavaFX</a:t>
            </a:r>
            <a:r>
              <a:rPr lang="es-MX" sz="2000" dirty="0">
                <a:latin typeface="Century Gothic" panose="020B0502020202020204" pitchFamily="34" charset="0"/>
              </a:rPr>
              <a:t> fortalece la comprensión teórica, al permitir observar de manera visual y funcional cómo se agregan nodos, se establecen relaciones y se realizan recorridos. Esto contribuye al desarrollo de habilidades en programación, lógica computacional y diseño de interfaces gráficas.</a:t>
            </a:r>
          </a:p>
          <a:p>
            <a:pPr marL="0" indent="0" algn="just">
              <a:buNone/>
            </a:pPr>
            <a:endParaRPr lang="es-MX" sz="2000" dirty="0">
              <a:latin typeface="Century Gothic" panose="020B0502020202020204" pitchFamily="34" charset="0"/>
            </a:endParaRPr>
          </a:p>
        </p:txBody>
      </p:sp>
    </p:spTree>
    <p:extLst>
      <p:ext uri="{BB962C8B-B14F-4D97-AF65-F5344CB8AC3E}">
        <p14:creationId xmlns:p14="http://schemas.microsoft.com/office/powerpoint/2010/main" val="79151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4">
            <a:extLst>
              <a:ext uri="{FF2B5EF4-FFF2-40B4-BE49-F238E27FC236}">
                <a16:creationId xmlns:a16="http://schemas.microsoft.com/office/drawing/2014/main" id="{FA0909CF-7260-C55C-D315-5176AB17530A}"/>
              </a:ext>
            </a:extLst>
          </p:cNvPr>
          <p:cNvPicPr>
            <a:picLocks noGrp="1" noChangeAspect="1"/>
          </p:cNvPicPr>
          <p:nvPr>
            <p:ph idx="1"/>
          </p:nvPr>
        </p:nvPicPr>
        <p:blipFill>
          <a:blip r:embed="rId2"/>
          <a:stretch>
            <a:fillRect/>
          </a:stretch>
        </p:blipFill>
        <p:spPr>
          <a:xfrm>
            <a:off x="222908" y="773360"/>
            <a:ext cx="5068283" cy="6054583"/>
          </a:xfrm>
        </p:spPr>
      </p:pic>
      <p:sp>
        <p:nvSpPr>
          <p:cNvPr id="6" name="CuadroTexto 5">
            <a:extLst>
              <a:ext uri="{FF2B5EF4-FFF2-40B4-BE49-F238E27FC236}">
                <a16:creationId xmlns:a16="http://schemas.microsoft.com/office/drawing/2014/main" id="{C6DEBB65-4209-47D0-96F1-E9AA5565DB0E}"/>
              </a:ext>
            </a:extLst>
          </p:cNvPr>
          <p:cNvSpPr txBox="1"/>
          <p:nvPr/>
        </p:nvSpPr>
        <p:spPr>
          <a:xfrm>
            <a:off x="5468976" y="891268"/>
            <a:ext cx="3298004" cy="2030428"/>
          </a:xfrm>
          <a:prstGeom prst="rect">
            <a:avLst/>
          </a:prstGeom>
          <a:noFill/>
        </p:spPr>
        <p:txBody>
          <a:bodyPr wrap="square" rtlCol="0">
            <a:spAutoFit/>
          </a:bodyPr>
          <a:lstStyle/>
          <a:p>
            <a:pPr algn="just"/>
            <a:r>
              <a:rPr lang="es-MX" dirty="0">
                <a:latin typeface="Century Gothic" panose="020B0502020202020204" pitchFamily="34" charset="0"/>
              </a:rPr>
              <a:t>Este código implementa un árbol binario de búsqueda que permite insertar valores de forma ordenada y recorrerlos mediante el método </a:t>
            </a:r>
            <a:r>
              <a:rPr lang="es-MX" dirty="0" err="1">
                <a:latin typeface="Century Gothic" panose="020B0502020202020204" pitchFamily="34" charset="0"/>
              </a:rPr>
              <a:t>inorden</a:t>
            </a:r>
            <a:r>
              <a:rPr lang="es-MX" dirty="0">
                <a:latin typeface="Century Gothic" panose="020B0502020202020204" pitchFamily="34" charset="0"/>
              </a:rPr>
              <a:t>, utilizando recursividad</a:t>
            </a:r>
          </a:p>
        </p:txBody>
      </p:sp>
      <p:sp>
        <p:nvSpPr>
          <p:cNvPr id="7" name="Título 1">
            <a:extLst>
              <a:ext uri="{FF2B5EF4-FFF2-40B4-BE49-F238E27FC236}">
                <a16:creationId xmlns:a16="http://schemas.microsoft.com/office/drawing/2014/main" id="{28E4D29F-0079-4B72-AC45-0891FF1D5F89}"/>
              </a:ext>
            </a:extLst>
          </p:cNvPr>
          <p:cNvSpPr>
            <a:spLocks noGrp="1"/>
          </p:cNvSpPr>
          <p:nvPr>
            <p:ph type="title"/>
          </p:nvPr>
        </p:nvSpPr>
        <p:spPr>
          <a:xfrm>
            <a:off x="3333378" y="30057"/>
            <a:ext cx="3179917" cy="785915"/>
          </a:xfrm>
        </p:spPr>
        <p:txBody>
          <a:bodyPr/>
          <a:lstStyle/>
          <a:p>
            <a:r>
              <a:rPr lang="es-MX" dirty="0"/>
              <a:t>Árbol Binario</a:t>
            </a:r>
          </a:p>
        </p:txBody>
      </p:sp>
      <p:pic>
        <p:nvPicPr>
          <p:cNvPr id="1026" name="Picture 2" descr="Árboles Binarios de Búsqueda en Java - Somos Hackers de la Programación">
            <a:extLst>
              <a:ext uri="{FF2B5EF4-FFF2-40B4-BE49-F238E27FC236}">
                <a16:creationId xmlns:a16="http://schemas.microsoft.com/office/drawing/2014/main" id="{6C68DE7C-0F87-4D5F-E30F-2781C06DF5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2802" y="4869325"/>
            <a:ext cx="2438400" cy="187642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Estructura de datos - Árboles - Oscar Blancarte - Software Architecture">
            <a:extLst>
              <a:ext uri="{FF2B5EF4-FFF2-40B4-BE49-F238E27FC236}">
                <a16:creationId xmlns:a16="http://schemas.microsoft.com/office/drawing/2014/main" id="{5A26B665-6963-E5FE-E913-8D280D08E4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52802" y="2955108"/>
            <a:ext cx="2571750" cy="1781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96938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BB85EF-4423-558E-FD62-E095C3C5165D}"/>
              </a:ext>
            </a:extLst>
          </p:cNvPr>
          <p:cNvSpPr>
            <a:spLocks noGrp="1"/>
          </p:cNvSpPr>
          <p:nvPr>
            <p:ph type="title"/>
          </p:nvPr>
        </p:nvSpPr>
        <p:spPr>
          <a:xfrm>
            <a:off x="628651" y="365128"/>
            <a:ext cx="4183981" cy="924658"/>
          </a:xfrm>
        </p:spPr>
        <p:txBody>
          <a:bodyPr>
            <a:normAutofit fontScale="90000"/>
          </a:bodyPr>
          <a:lstStyle/>
          <a:p>
            <a:r>
              <a:rPr lang="es-MX" dirty="0">
                <a:latin typeface="Century Gothic" panose="020B0502020202020204" pitchFamily="34" charset="0"/>
              </a:rPr>
              <a:t>Primer método</a:t>
            </a:r>
          </a:p>
        </p:txBody>
      </p:sp>
      <p:sp>
        <p:nvSpPr>
          <p:cNvPr id="3" name="Marcador de contenido 2">
            <a:extLst>
              <a:ext uri="{FF2B5EF4-FFF2-40B4-BE49-F238E27FC236}">
                <a16:creationId xmlns:a16="http://schemas.microsoft.com/office/drawing/2014/main" id="{693361CE-DE8F-715A-93DF-94E987B5BE8F}"/>
              </a:ext>
            </a:extLst>
          </p:cNvPr>
          <p:cNvSpPr>
            <a:spLocks noGrp="1"/>
          </p:cNvSpPr>
          <p:nvPr>
            <p:ph idx="1"/>
          </p:nvPr>
        </p:nvSpPr>
        <p:spPr>
          <a:xfrm>
            <a:off x="628651" y="4141133"/>
            <a:ext cx="5714397" cy="1865031"/>
          </a:xfrm>
        </p:spPr>
        <p:txBody>
          <a:bodyPr>
            <a:normAutofit/>
          </a:bodyPr>
          <a:lstStyle/>
          <a:p>
            <a:pPr marL="0" indent="0" algn="just">
              <a:buNone/>
            </a:pPr>
            <a:r>
              <a:rPr lang="es-MX" sz="2000" dirty="0"/>
              <a:t>Este método </a:t>
            </a:r>
            <a:r>
              <a:rPr lang="es-MX" sz="2000" b="1" dirty="0"/>
              <a:t>inserta un valor dentro del árbol binario de búsqueda</a:t>
            </a:r>
            <a:r>
              <a:rPr lang="es-MX" sz="2000" dirty="0"/>
              <a:t> usando </a:t>
            </a:r>
            <a:r>
              <a:rPr lang="es-MX" sz="2000" b="1" dirty="0"/>
              <a:t>recursividad</a:t>
            </a:r>
            <a:r>
              <a:rPr lang="es-MX" sz="2000" dirty="0"/>
              <a:t>, respetando la regla:</a:t>
            </a:r>
          </a:p>
          <a:p>
            <a:pPr>
              <a:buFont typeface="Arial" panose="020B0604020202020204" pitchFamily="34" charset="0"/>
              <a:buChar char="•"/>
            </a:pPr>
            <a:r>
              <a:rPr lang="es-MX" sz="2000" dirty="0"/>
              <a:t>Valores </a:t>
            </a:r>
            <a:r>
              <a:rPr lang="es-MX" sz="2000" b="1" dirty="0"/>
              <a:t>menores → izquierda</a:t>
            </a:r>
            <a:endParaRPr lang="es-MX" sz="2000" dirty="0"/>
          </a:p>
          <a:p>
            <a:pPr>
              <a:buFont typeface="Arial" panose="020B0604020202020204" pitchFamily="34" charset="0"/>
              <a:buChar char="•"/>
            </a:pPr>
            <a:r>
              <a:rPr lang="es-MX" sz="2000" dirty="0"/>
              <a:t>Valores </a:t>
            </a:r>
            <a:r>
              <a:rPr lang="es-MX" sz="2000" b="1" dirty="0"/>
              <a:t>mayores → derecha</a:t>
            </a:r>
            <a:endParaRPr lang="es-MX" sz="2000" dirty="0"/>
          </a:p>
          <a:p>
            <a:pPr marL="0" indent="0">
              <a:buNone/>
            </a:pPr>
            <a:endParaRPr lang="es-MX" sz="2000" dirty="0"/>
          </a:p>
        </p:txBody>
      </p:sp>
      <p:pic>
        <p:nvPicPr>
          <p:cNvPr id="5" name="Imagen 4">
            <a:extLst>
              <a:ext uri="{FF2B5EF4-FFF2-40B4-BE49-F238E27FC236}">
                <a16:creationId xmlns:a16="http://schemas.microsoft.com/office/drawing/2014/main" id="{E2A0C749-7997-FA65-FA32-E119B08CF431}"/>
              </a:ext>
            </a:extLst>
          </p:cNvPr>
          <p:cNvPicPr>
            <a:picLocks noChangeAspect="1"/>
          </p:cNvPicPr>
          <p:nvPr/>
        </p:nvPicPr>
        <p:blipFill>
          <a:blip r:embed="rId2"/>
          <a:stretch>
            <a:fillRect/>
          </a:stretch>
        </p:blipFill>
        <p:spPr>
          <a:xfrm>
            <a:off x="175358" y="1224815"/>
            <a:ext cx="5763429" cy="2600688"/>
          </a:xfrm>
          <a:prstGeom prst="rect">
            <a:avLst/>
          </a:prstGeom>
        </p:spPr>
      </p:pic>
      <p:sp>
        <p:nvSpPr>
          <p:cNvPr id="6" name="CuadroTexto 5">
            <a:extLst>
              <a:ext uri="{FF2B5EF4-FFF2-40B4-BE49-F238E27FC236}">
                <a16:creationId xmlns:a16="http://schemas.microsoft.com/office/drawing/2014/main" id="{76666C35-3828-FF1F-77C0-A5382E9CA550}"/>
              </a:ext>
            </a:extLst>
          </p:cNvPr>
          <p:cNvSpPr txBox="1"/>
          <p:nvPr/>
        </p:nvSpPr>
        <p:spPr>
          <a:xfrm>
            <a:off x="5938787" y="1395662"/>
            <a:ext cx="3205213" cy="1753557"/>
          </a:xfrm>
          <a:prstGeom prst="rect">
            <a:avLst/>
          </a:prstGeom>
          <a:noFill/>
        </p:spPr>
        <p:txBody>
          <a:bodyPr wrap="square" rtlCol="0">
            <a:spAutoFit/>
          </a:bodyPr>
          <a:lstStyle/>
          <a:p>
            <a:pPr algn="just"/>
            <a:r>
              <a:rPr lang="es-MX" dirty="0"/>
              <a:t>Este método inserta valores en un árbol binario de búsqueda usando recursividad, comparando el valor a insertar con cada nodo hasta encontrar una posición vacía.</a:t>
            </a:r>
          </a:p>
        </p:txBody>
      </p:sp>
    </p:spTree>
    <p:extLst>
      <p:ext uri="{BB962C8B-B14F-4D97-AF65-F5344CB8AC3E}">
        <p14:creationId xmlns:p14="http://schemas.microsoft.com/office/powerpoint/2010/main" val="31748426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FC130E-9F50-3752-C33E-03198ADB47B0}"/>
              </a:ext>
            </a:extLst>
          </p:cNvPr>
          <p:cNvSpPr>
            <a:spLocks noGrp="1"/>
          </p:cNvSpPr>
          <p:nvPr>
            <p:ph type="title"/>
          </p:nvPr>
        </p:nvSpPr>
        <p:spPr/>
        <p:txBody>
          <a:bodyPr/>
          <a:lstStyle/>
          <a:p>
            <a:r>
              <a:rPr lang="es-MX" dirty="0"/>
              <a:t>Segundo método </a:t>
            </a:r>
          </a:p>
        </p:txBody>
      </p:sp>
      <p:sp>
        <p:nvSpPr>
          <p:cNvPr id="3" name="Marcador de contenido 2">
            <a:extLst>
              <a:ext uri="{FF2B5EF4-FFF2-40B4-BE49-F238E27FC236}">
                <a16:creationId xmlns:a16="http://schemas.microsoft.com/office/drawing/2014/main" id="{93290322-2FF1-0A82-5B49-AC785186962E}"/>
              </a:ext>
            </a:extLst>
          </p:cNvPr>
          <p:cNvSpPr>
            <a:spLocks noGrp="1"/>
          </p:cNvSpPr>
          <p:nvPr>
            <p:ph idx="1"/>
          </p:nvPr>
        </p:nvSpPr>
        <p:spPr>
          <a:xfrm>
            <a:off x="715278" y="5121393"/>
            <a:ext cx="4840003" cy="1119705"/>
          </a:xfrm>
        </p:spPr>
        <p:txBody>
          <a:bodyPr>
            <a:normAutofit/>
          </a:bodyPr>
          <a:lstStyle/>
          <a:p>
            <a:r>
              <a:rPr lang="es-MX" sz="2000" dirty="0"/>
              <a:t>El método </a:t>
            </a:r>
            <a:r>
              <a:rPr lang="es-MX" sz="2000" dirty="0" err="1"/>
              <a:t>inorden</a:t>
            </a:r>
            <a:r>
              <a:rPr lang="es-MX" sz="2000" dirty="0"/>
              <a:t> recorre el árbol binario siguiendo el orden izquierda–raíz–derecha y devuelve los valores ordenados.</a:t>
            </a:r>
          </a:p>
        </p:txBody>
      </p:sp>
      <p:pic>
        <p:nvPicPr>
          <p:cNvPr id="5" name="Imagen 4">
            <a:extLst>
              <a:ext uri="{FF2B5EF4-FFF2-40B4-BE49-F238E27FC236}">
                <a16:creationId xmlns:a16="http://schemas.microsoft.com/office/drawing/2014/main" id="{01178E27-0861-CCD3-E78B-9534174DCD89}"/>
              </a:ext>
            </a:extLst>
          </p:cNvPr>
          <p:cNvPicPr>
            <a:picLocks noChangeAspect="1"/>
          </p:cNvPicPr>
          <p:nvPr/>
        </p:nvPicPr>
        <p:blipFill>
          <a:blip r:embed="rId2"/>
          <a:stretch>
            <a:fillRect/>
          </a:stretch>
        </p:blipFill>
        <p:spPr>
          <a:xfrm>
            <a:off x="2553703" y="1390705"/>
            <a:ext cx="4376486" cy="1753046"/>
          </a:xfrm>
          <a:prstGeom prst="rect">
            <a:avLst/>
          </a:prstGeom>
        </p:spPr>
      </p:pic>
      <p:sp>
        <p:nvSpPr>
          <p:cNvPr id="6" name="CuadroTexto 5">
            <a:extLst>
              <a:ext uri="{FF2B5EF4-FFF2-40B4-BE49-F238E27FC236}">
                <a16:creationId xmlns:a16="http://schemas.microsoft.com/office/drawing/2014/main" id="{9AC5DC42-9C7B-9C97-DBB7-0D30A563F7AC}"/>
              </a:ext>
            </a:extLst>
          </p:cNvPr>
          <p:cNvSpPr txBox="1"/>
          <p:nvPr/>
        </p:nvSpPr>
        <p:spPr>
          <a:xfrm>
            <a:off x="847023" y="3429000"/>
            <a:ext cx="6631806" cy="1199816"/>
          </a:xfrm>
          <a:prstGeom prst="rect">
            <a:avLst/>
          </a:prstGeom>
          <a:noFill/>
        </p:spPr>
        <p:txBody>
          <a:bodyPr wrap="square" rtlCol="0">
            <a:spAutoFit/>
          </a:bodyPr>
          <a:lstStyle/>
          <a:p>
            <a:pPr algn="just"/>
            <a:r>
              <a:rPr lang="es-MX" dirty="0"/>
              <a:t>Este método </a:t>
            </a:r>
            <a:r>
              <a:rPr lang="es-MX" b="1" dirty="0"/>
              <a:t>realiza el recorrido </a:t>
            </a:r>
            <a:r>
              <a:rPr lang="es-MX" b="1" dirty="0" err="1"/>
              <a:t>Inorden</a:t>
            </a:r>
            <a:r>
              <a:rPr lang="es-MX" b="1" dirty="0"/>
              <a:t> del árbol binario</a:t>
            </a:r>
            <a:r>
              <a:rPr lang="es-MX" dirty="0"/>
              <a:t> y </a:t>
            </a:r>
            <a:r>
              <a:rPr lang="es-MX" b="1" dirty="0"/>
              <a:t>regresa los valores en forma de texto</a:t>
            </a:r>
            <a:r>
              <a:rPr lang="es-MX" dirty="0"/>
              <a:t>.</a:t>
            </a:r>
          </a:p>
          <a:p>
            <a:pPr algn="just"/>
            <a:r>
              <a:rPr lang="es-MX" dirty="0"/>
              <a:t>En un </a:t>
            </a:r>
            <a:r>
              <a:rPr lang="es-MX" b="1" dirty="0"/>
              <a:t>árbol binario de búsqueda</a:t>
            </a:r>
            <a:r>
              <a:rPr lang="es-MX" dirty="0"/>
              <a:t>, el recorrido </a:t>
            </a:r>
            <a:r>
              <a:rPr lang="es-MX" b="1" dirty="0" err="1"/>
              <a:t>Inorden</a:t>
            </a:r>
            <a:r>
              <a:rPr lang="es-MX" b="1" dirty="0"/>
              <a:t> muestra los valores ordenados de menor a mayor</a:t>
            </a:r>
            <a:r>
              <a:rPr lang="es-MX" dirty="0"/>
              <a:t>.</a:t>
            </a:r>
          </a:p>
        </p:txBody>
      </p:sp>
    </p:spTree>
    <p:extLst>
      <p:ext uri="{BB962C8B-B14F-4D97-AF65-F5344CB8AC3E}">
        <p14:creationId xmlns:p14="http://schemas.microsoft.com/office/powerpoint/2010/main" val="14036255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F0323A-8F20-D060-56E0-31F656D7F320}"/>
              </a:ext>
            </a:extLst>
          </p:cNvPr>
          <p:cNvSpPr>
            <a:spLocks noGrp="1"/>
          </p:cNvSpPr>
          <p:nvPr>
            <p:ph type="title"/>
          </p:nvPr>
        </p:nvSpPr>
        <p:spPr/>
        <p:txBody>
          <a:bodyPr/>
          <a:lstStyle/>
          <a:p>
            <a:r>
              <a:rPr lang="es-MX" dirty="0"/>
              <a:t>Ultimo método </a:t>
            </a:r>
          </a:p>
        </p:txBody>
      </p:sp>
      <p:sp>
        <p:nvSpPr>
          <p:cNvPr id="3" name="Marcador de contenido 2">
            <a:extLst>
              <a:ext uri="{FF2B5EF4-FFF2-40B4-BE49-F238E27FC236}">
                <a16:creationId xmlns:a16="http://schemas.microsoft.com/office/drawing/2014/main" id="{D484FD5E-C5A6-44AF-B00C-C8D1360F432D}"/>
              </a:ext>
            </a:extLst>
          </p:cNvPr>
          <p:cNvSpPr>
            <a:spLocks noGrp="1"/>
          </p:cNvSpPr>
          <p:nvPr>
            <p:ph idx="1"/>
          </p:nvPr>
        </p:nvSpPr>
        <p:spPr>
          <a:xfrm>
            <a:off x="1081038" y="4357069"/>
            <a:ext cx="7206313" cy="1870476"/>
          </a:xfrm>
        </p:spPr>
        <p:txBody>
          <a:bodyPr/>
          <a:lstStyle/>
          <a:p>
            <a:pPr marL="0" indent="0">
              <a:buNone/>
            </a:pPr>
            <a:r>
              <a:rPr lang="es-MX" dirty="0"/>
              <a:t>Este método </a:t>
            </a:r>
            <a:r>
              <a:rPr lang="es-MX" b="1" dirty="0"/>
              <a:t>realiza el recorrido </a:t>
            </a:r>
            <a:r>
              <a:rPr lang="es-MX" b="1" dirty="0" err="1"/>
              <a:t>inorden</a:t>
            </a:r>
            <a:r>
              <a:rPr lang="es-MX" b="1" dirty="0"/>
              <a:t> del árbol binario</a:t>
            </a:r>
            <a:r>
              <a:rPr lang="es-MX" dirty="0"/>
              <a:t> de forma </a:t>
            </a:r>
            <a:r>
              <a:rPr lang="es-MX" b="1" dirty="0"/>
              <a:t>recursiva</a:t>
            </a:r>
            <a:r>
              <a:rPr lang="es-MX" dirty="0"/>
              <a:t>.</a:t>
            </a:r>
          </a:p>
          <a:p>
            <a:pPr marL="0" indent="0">
              <a:buNone/>
            </a:pPr>
            <a:r>
              <a:rPr lang="es-MX" dirty="0"/>
              <a:t>Sigue la regla:</a:t>
            </a:r>
            <a:br>
              <a:rPr lang="es-MX" dirty="0"/>
            </a:br>
            <a:r>
              <a:rPr lang="es-MX" b="1" dirty="0"/>
              <a:t>Izquierda → Nodo → Derecha</a:t>
            </a:r>
            <a:endParaRPr lang="es-MX" dirty="0"/>
          </a:p>
          <a:p>
            <a:endParaRPr lang="es-MX" dirty="0"/>
          </a:p>
        </p:txBody>
      </p:sp>
      <p:pic>
        <p:nvPicPr>
          <p:cNvPr id="5" name="Imagen 4">
            <a:extLst>
              <a:ext uri="{FF2B5EF4-FFF2-40B4-BE49-F238E27FC236}">
                <a16:creationId xmlns:a16="http://schemas.microsoft.com/office/drawing/2014/main" id="{9CFACFB0-AE94-6240-4A4E-09A486A982D7}"/>
              </a:ext>
            </a:extLst>
          </p:cNvPr>
          <p:cNvPicPr>
            <a:picLocks noChangeAspect="1"/>
          </p:cNvPicPr>
          <p:nvPr/>
        </p:nvPicPr>
        <p:blipFill>
          <a:blip r:embed="rId2"/>
          <a:stretch>
            <a:fillRect/>
          </a:stretch>
        </p:blipFill>
        <p:spPr>
          <a:xfrm>
            <a:off x="2095154" y="1456090"/>
            <a:ext cx="4953691" cy="1905266"/>
          </a:xfrm>
          <a:prstGeom prst="rect">
            <a:avLst/>
          </a:prstGeom>
        </p:spPr>
      </p:pic>
    </p:spTree>
    <p:extLst>
      <p:ext uri="{BB962C8B-B14F-4D97-AF65-F5344CB8AC3E}">
        <p14:creationId xmlns:p14="http://schemas.microsoft.com/office/powerpoint/2010/main" val="2679185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1903F6-F662-B3EB-7F24-63EEF12CF498}"/>
              </a:ext>
            </a:extLst>
          </p:cNvPr>
          <p:cNvSpPr>
            <a:spLocks noGrp="1"/>
          </p:cNvSpPr>
          <p:nvPr>
            <p:ph type="title"/>
          </p:nvPr>
        </p:nvSpPr>
        <p:spPr>
          <a:xfrm>
            <a:off x="1676765" y="399836"/>
            <a:ext cx="6349637" cy="785915"/>
          </a:xfrm>
        </p:spPr>
        <p:txBody>
          <a:bodyPr>
            <a:normAutofit fontScale="90000"/>
          </a:bodyPr>
          <a:lstStyle/>
          <a:p>
            <a:r>
              <a:rPr lang="es-MX" dirty="0">
                <a:latin typeface="Century Gothic" panose="020B0502020202020204" pitchFamily="34" charset="0"/>
              </a:rPr>
              <a:t>Resultados Árbol Binario</a:t>
            </a:r>
          </a:p>
        </p:txBody>
      </p:sp>
      <p:pic>
        <p:nvPicPr>
          <p:cNvPr id="7" name="Imagen 6">
            <a:extLst>
              <a:ext uri="{FF2B5EF4-FFF2-40B4-BE49-F238E27FC236}">
                <a16:creationId xmlns:a16="http://schemas.microsoft.com/office/drawing/2014/main" id="{79A11ED9-E34E-181A-DCE0-F513DE840CDD}"/>
              </a:ext>
            </a:extLst>
          </p:cNvPr>
          <p:cNvPicPr>
            <a:picLocks noChangeAspect="1"/>
          </p:cNvPicPr>
          <p:nvPr/>
        </p:nvPicPr>
        <p:blipFill>
          <a:blip r:embed="rId2"/>
          <a:stretch>
            <a:fillRect/>
          </a:stretch>
        </p:blipFill>
        <p:spPr>
          <a:xfrm>
            <a:off x="2122610" y="1185751"/>
            <a:ext cx="4596274" cy="2243249"/>
          </a:xfrm>
          <a:prstGeom prst="rect">
            <a:avLst/>
          </a:prstGeom>
        </p:spPr>
      </p:pic>
      <p:pic>
        <p:nvPicPr>
          <p:cNvPr id="15" name="Imagen 14">
            <a:extLst>
              <a:ext uri="{FF2B5EF4-FFF2-40B4-BE49-F238E27FC236}">
                <a16:creationId xmlns:a16="http://schemas.microsoft.com/office/drawing/2014/main" id="{3F3FC0E9-3F3D-0B8A-437C-B23AA352F581}"/>
              </a:ext>
            </a:extLst>
          </p:cNvPr>
          <p:cNvPicPr>
            <a:picLocks noChangeAspect="1"/>
          </p:cNvPicPr>
          <p:nvPr/>
        </p:nvPicPr>
        <p:blipFill>
          <a:blip r:embed="rId3"/>
          <a:stretch>
            <a:fillRect/>
          </a:stretch>
        </p:blipFill>
        <p:spPr>
          <a:xfrm>
            <a:off x="2599371" y="3652061"/>
            <a:ext cx="3945258" cy="2806103"/>
          </a:xfrm>
          <a:prstGeom prst="rect">
            <a:avLst/>
          </a:prstGeom>
        </p:spPr>
      </p:pic>
    </p:spTree>
    <p:extLst>
      <p:ext uri="{BB962C8B-B14F-4D97-AF65-F5344CB8AC3E}">
        <p14:creationId xmlns:p14="http://schemas.microsoft.com/office/powerpoint/2010/main" val="912997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26BC92-EA6A-3960-C878-935CBD50BDDD}"/>
              </a:ext>
            </a:extLst>
          </p:cNvPr>
          <p:cNvSpPr>
            <a:spLocks noGrp="1"/>
          </p:cNvSpPr>
          <p:nvPr>
            <p:ph type="title"/>
          </p:nvPr>
        </p:nvSpPr>
        <p:spPr/>
        <p:txBody>
          <a:bodyPr/>
          <a:lstStyle/>
          <a:p>
            <a:r>
              <a:rPr lang="es-MX" dirty="0"/>
              <a:t>Grafo</a:t>
            </a:r>
          </a:p>
        </p:txBody>
      </p:sp>
      <p:pic>
        <p:nvPicPr>
          <p:cNvPr id="5" name="Marcador de contenido 4">
            <a:extLst>
              <a:ext uri="{FF2B5EF4-FFF2-40B4-BE49-F238E27FC236}">
                <a16:creationId xmlns:a16="http://schemas.microsoft.com/office/drawing/2014/main" id="{00460DD2-391C-9EBD-A343-E4C8989F29AD}"/>
              </a:ext>
            </a:extLst>
          </p:cNvPr>
          <p:cNvPicPr>
            <a:picLocks noGrp="1" noChangeAspect="1"/>
          </p:cNvPicPr>
          <p:nvPr>
            <p:ph idx="1"/>
          </p:nvPr>
        </p:nvPicPr>
        <p:blipFill>
          <a:blip r:embed="rId2"/>
          <a:stretch>
            <a:fillRect/>
          </a:stretch>
        </p:blipFill>
        <p:spPr>
          <a:xfrm>
            <a:off x="707857" y="1565742"/>
            <a:ext cx="3253295" cy="3381642"/>
          </a:xfrm>
        </p:spPr>
      </p:pic>
      <p:pic>
        <p:nvPicPr>
          <p:cNvPr id="7" name="Imagen 6">
            <a:extLst>
              <a:ext uri="{FF2B5EF4-FFF2-40B4-BE49-F238E27FC236}">
                <a16:creationId xmlns:a16="http://schemas.microsoft.com/office/drawing/2014/main" id="{CEA64FDB-F1F8-BBFB-B656-07C9F64227F0}"/>
              </a:ext>
            </a:extLst>
          </p:cNvPr>
          <p:cNvPicPr>
            <a:picLocks noChangeAspect="1"/>
          </p:cNvPicPr>
          <p:nvPr/>
        </p:nvPicPr>
        <p:blipFill>
          <a:blip r:embed="rId3"/>
          <a:stretch>
            <a:fillRect/>
          </a:stretch>
        </p:blipFill>
        <p:spPr>
          <a:xfrm>
            <a:off x="4228456" y="1551563"/>
            <a:ext cx="3009742" cy="3410001"/>
          </a:xfrm>
          <a:prstGeom prst="rect">
            <a:avLst/>
          </a:prstGeom>
        </p:spPr>
      </p:pic>
      <p:sp>
        <p:nvSpPr>
          <p:cNvPr id="8" name="CuadroTexto 7">
            <a:extLst>
              <a:ext uri="{FF2B5EF4-FFF2-40B4-BE49-F238E27FC236}">
                <a16:creationId xmlns:a16="http://schemas.microsoft.com/office/drawing/2014/main" id="{32AD6286-89AC-7DE7-47A0-B15F264C2658}"/>
              </a:ext>
            </a:extLst>
          </p:cNvPr>
          <p:cNvSpPr txBox="1"/>
          <p:nvPr/>
        </p:nvSpPr>
        <p:spPr>
          <a:xfrm>
            <a:off x="433137" y="5101491"/>
            <a:ext cx="8296977" cy="1199816"/>
          </a:xfrm>
          <a:prstGeom prst="rect">
            <a:avLst/>
          </a:prstGeom>
          <a:noFill/>
        </p:spPr>
        <p:txBody>
          <a:bodyPr wrap="square" rtlCol="0">
            <a:spAutoFit/>
          </a:bodyPr>
          <a:lstStyle/>
          <a:p>
            <a:r>
              <a:rPr lang="es-MX" dirty="0"/>
              <a:t>Este código representa un </a:t>
            </a:r>
            <a:r>
              <a:rPr lang="es-MX" b="1" dirty="0"/>
              <a:t>grafo</a:t>
            </a:r>
            <a:r>
              <a:rPr lang="es-MX" dirty="0"/>
              <a:t> utilizando una estructura de </a:t>
            </a:r>
            <a:r>
              <a:rPr lang="es-MX" b="1" dirty="0"/>
              <a:t>listas de adyacencia</a:t>
            </a:r>
            <a:r>
              <a:rPr lang="es-MX" dirty="0"/>
              <a:t>, donde cada nodo puede estar conectado con uno o más nodos. El grafo permite agregar nodos, crear conexiones entre ellos y recorrerlos usando el algoritmo </a:t>
            </a:r>
            <a:r>
              <a:rPr lang="es-MX" b="1" dirty="0"/>
              <a:t>BFS (búsqueda en anchura)</a:t>
            </a:r>
            <a:r>
              <a:rPr lang="es-MX" dirty="0"/>
              <a:t>.</a:t>
            </a:r>
          </a:p>
        </p:txBody>
      </p:sp>
      <p:pic>
        <p:nvPicPr>
          <p:cNvPr id="2050" name="Picture 2" descr="Grafo - Wikipedia, la enciclopedia libre">
            <a:extLst>
              <a:ext uri="{FF2B5EF4-FFF2-40B4-BE49-F238E27FC236}">
                <a16:creationId xmlns:a16="http://schemas.microsoft.com/office/drawing/2014/main" id="{E7B96C8E-5E8F-D0DB-303B-F57EFB2583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3988" y="295963"/>
            <a:ext cx="1809559" cy="11998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3101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ED6D3E-CBE9-61BA-AEFD-46723A364BFA}"/>
              </a:ext>
            </a:extLst>
          </p:cNvPr>
          <p:cNvSpPr>
            <a:spLocks noGrp="1"/>
          </p:cNvSpPr>
          <p:nvPr>
            <p:ph type="title"/>
          </p:nvPr>
        </p:nvSpPr>
        <p:spPr/>
        <p:txBody>
          <a:bodyPr/>
          <a:lstStyle/>
          <a:p>
            <a:r>
              <a:rPr lang="es-MX" dirty="0"/>
              <a:t>Método 1</a:t>
            </a:r>
          </a:p>
        </p:txBody>
      </p:sp>
      <p:sp>
        <p:nvSpPr>
          <p:cNvPr id="3" name="Marcador de contenido 2">
            <a:extLst>
              <a:ext uri="{FF2B5EF4-FFF2-40B4-BE49-F238E27FC236}">
                <a16:creationId xmlns:a16="http://schemas.microsoft.com/office/drawing/2014/main" id="{9CA81014-6547-6AC8-4DDE-0A53615F5AFA}"/>
              </a:ext>
            </a:extLst>
          </p:cNvPr>
          <p:cNvSpPr>
            <a:spLocks noGrp="1"/>
          </p:cNvSpPr>
          <p:nvPr>
            <p:ph idx="1"/>
          </p:nvPr>
        </p:nvSpPr>
        <p:spPr>
          <a:xfrm>
            <a:off x="628649" y="1658638"/>
            <a:ext cx="7886700" cy="1174281"/>
          </a:xfrm>
        </p:spPr>
        <p:txBody>
          <a:bodyPr>
            <a:normAutofit fontScale="92500"/>
          </a:bodyPr>
          <a:lstStyle/>
          <a:p>
            <a:pPr marL="0" indent="0">
              <a:buNone/>
            </a:pPr>
            <a:r>
              <a:rPr lang="es-MX" dirty="0">
                <a:latin typeface="Century Gothic" panose="020B0502020202020204" pitchFamily="34" charset="0"/>
              </a:rPr>
              <a:t>Esta clase representa la estructura principal de un </a:t>
            </a:r>
            <a:r>
              <a:rPr lang="es-MX" b="1" dirty="0">
                <a:latin typeface="Century Gothic" panose="020B0502020202020204" pitchFamily="34" charset="0"/>
              </a:rPr>
              <a:t>grafo</a:t>
            </a:r>
            <a:r>
              <a:rPr lang="es-MX" dirty="0">
                <a:latin typeface="Century Gothic" panose="020B0502020202020204" pitchFamily="34" charset="0"/>
              </a:rPr>
              <a:t>, encargada de almacenar los nodos y de definir cómo se conectan entre sí.</a:t>
            </a:r>
          </a:p>
        </p:txBody>
      </p:sp>
      <p:pic>
        <p:nvPicPr>
          <p:cNvPr id="4" name="Marcador de contenido 4">
            <a:extLst>
              <a:ext uri="{FF2B5EF4-FFF2-40B4-BE49-F238E27FC236}">
                <a16:creationId xmlns:a16="http://schemas.microsoft.com/office/drawing/2014/main" id="{3E24C773-4BD5-8F8B-C0E5-B9E1A3657367}"/>
              </a:ext>
            </a:extLst>
          </p:cNvPr>
          <p:cNvPicPr>
            <a:picLocks noChangeAspect="1"/>
          </p:cNvPicPr>
          <p:nvPr/>
        </p:nvPicPr>
        <p:blipFill>
          <a:blip r:embed="rId2"/>
          <a:stretch>
            <a:fillRect/>
          </a:stretch>
        </p:blipFill>
        <p:spPr>
          <a:xfrm>
            <a:off x="628649" y="2999906"/>
            <a:ext cx="3253295" cy="3381642"/>
          </a:xfrm>
          <a:prstGeom prst="rect">
            <a:avLst/>
          </a:prstGeom>
        </p:spPr>
      </p:pic>
      <p:sp>
        <p:nvSpPr>
          <p:cNvPr id="6" name="CuadroTexto 5">
            <a:extLst>
              <a:ext uri="{FF2B5EF4-FFF2-40B4-BE49-F238E27FC236}">
                <a16:creationId xmlns:a16="http://schemas.microsoft.com/office/drawing/2014/main" id="{2DE3CB60-650D-222E-94FA-A0DA79BFD961}"/>
              </a:ext>
            </a:extLst>
          </p:cNvPr>
          <p:cNvSpPr txBox="1"/>
          <p:nvPr/>
        </p:nvSpPr>
        <p:spPr>
          <a:xfrm>
            <a:off x="4143676" y="3697772"/>
            <a:ext cx="4572000" cy="1199816"/>
          </a:xfrm>
          <a:prstGeom prst="rect">
            <a:avLst/>
          </a:prstGeom>
          <a:noFill/>
        </p:spPr>
        <p:txBody>
          <a:bodyPr wrap="square">
            <a:spAutoFit/>
          </a:bodyPr>
          <a:lstStyle/>
          <a:p>
            <a:r>
              <a:rPr lang="es-MX" dirty="0">
                <a:latin typeface="Century Gothic" panose="020B0502020202020204" pitchFamily="34" charset="0"/>
              </a:rPr>
              <a:t>Este código permite crear y administrar un grafo, agregando nodos y estableciendo conexiones entre ellos de forma organizada y controlada.</a:t>
            </a:r>
          </a:p>
        </p:txBody>
      </p:sp>
    </p:spTree>
    <p:extLst>
      <p:ext uri="{BB962C8B-B14F-4D97-AF65-F5344CB8AC3E}">
        <p14:creationId xmlns:p14="http://schemas.microsoft.com/office/powerpoint/2010/main" val="24314825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B1EE54-2936-5C7B-738C-BE03E2B84FE8}"/>
              </a:ext>
            </a:extLst>
          </p:cNvPr>
          <p:cNvSpPr>
            <a:spLocks noGrp="1"/>
          </p:cNvSpPr>
          <p:nvPr>
            <p:ph type="title"/>
          </p:nvPr>
        </p:nvSpPr>
        <p:spPr/>
        <p:txBody>
          <a:bodyPr/>
          <a:lstStyle/>
          <a:p>
            <a:r>
              <a:rPr lang="es-MX" dirty="0"/>
              <a:t>Método 2</a:t>
            </a:r>
          </a:p>
        </p:txBody>
      </p:sp>
      <p:sp>
        <p:nvSpPr>
          <p:cNvPr id="3" name="Marcador de contenido 2">
            <a:extLst>
              <a:ext uri="{FF2B5EF4-FFF2-40B4-BE49-F238E27FC236}">
                <a16:creationId xmlns:a16="http://schemas.microsoft.com/office/drawing/2014/main" id="{CE572716-4656-5A83-5DF0-CB9F10F6DC58}"/>
              </a:ext>
            </a:extLst>
          </p:cNvPr>
          <p:cNvSpPr>
            <a:spLocks noGrp="1"/>
          </p:cNvSpPr>
          <p:nvPr>
            <p:ph idx="1"/>
          </p:nvPr>
        </p:nvSpPr>
        <p:spPr>
          <a:xfrm>
            <a:off x="628651" y="1825625"/>
            <a:ext cx="8293968" cy="1235209"/>
          </a:xfrm>
        </p:spPr>
        <p:txBody>
          <a:bodyPr>
            <a:normAutofit fontScale="92500" lnSpcReduction="20000"/>
          </a:bodyPr>
          <a:lstStyle/>
          <a:p>
            <a:pPr marL="0" indent="0">
              <a:buNone/>
            </a:pPr>
            <a:r>
              <a:rPr lang="es-MX" dirty="0">
                <a:latin typeface="Century Gothic" panose="020B0502020202020204" pitchFamily="34" charset="0"/>
              </a:rPr>
              <a:t>Este método recorre el grafo en anchura comenzando desde un nodo inicial, visitando primero los nodos más cercanos y almacenando el orden de recorrido en una cadena de texto.</a:t>
            </a:r>
          </a:p>
        </p:txBody>
      </p:sp>
      <p:pic>
        <p:nvPicPr>
          <p:cNvPr id="4" name="Imagen 3">
            <a:extLst>
              <a:ext uri="{FF2B5EF4-FFF2-40B4-BE49-F238E27FC236}">
                <a16:creationId xmlns:a16="http://schemas.microsoft.com/office/drawing/2014/main" id="{D446DC8D-EAFF-AFFA-6805-CF7F2DBCB17F}"/>
              </a:ext>
            </a:extLst>
          </p:cNvPr>
          <p:cNvPicPr>
            <a:picLocks noChangeAspect="1"/>
          </p:cNvPicPr>
          <p:nvPr/>
        </p:nvPicPr>
        <p:blipFill>
          <a:blip r:embed="rId2"/>
          <a:stretch>
            <a:fillRect/>
          </a:stretch>
        </p:blipFill>
        <p:spPr>
          <a:xfrm>
            <a:off x="628651" y="3060834"/>
            <a:ext cx="3009742" cy="3410001"/>
          </a:xfrm>
          <a:prstGeom prst="rect">
            <a:avLst/>
          </a:prstGeom>
        </p:spPr>
      </p:pic>
    </p:spTree>
    <p:extLst>
      <p:ext uri="{BB962C8B-B14F-4D97-AF65-F5344CB8AC3E}">
        <p14:creationId xmlns:p14="http://schemas.microsoft.com/office/powerpoint/2010/main" val="26098811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37733C-CE25-642D-BE78-A8F699FCA82B}"/>
              </a:ext>
            </a:extLst>
          </p:cNvPr>
          <p:cNvSpPr>
            <a:spLocks noGrp="1"/>
          </p:cNvSpPr>
          <p:nvPr>
            <p:ph type="title"/>
          </p:nvPr>
        </p:nvSpPr>
        <p:spPr/>
        <p:txBody>
          <a:bodyPr/>
          <a:lstStyle/>
          <a:p>
            <a:r>
              <a:rPr lang="es-MX" dirty="0"/>
              <a:t>Resultado del grafo </a:t>
            </a:r>
          </a:p>
        </p:txBody>
      </p:sp>
      <p:pic>
        <p:nvPicPr>
          <p:cNvPr id="5" name="Marcador de contenido 4">
            <a:extLst>
              <a:ext uri="{FF2B5EF4-FFF2-40B4-BE49-F238E27FC236}">
                <a16:creationId xmlns:a16="http://schemas.microsoft.com/office/drawing/2014/main" id="{8D485436-BAE6-B568-E421-E2087FE5941D}"/>
              </a:ext>
            </a:extLst>
          </p:cNvPr>
          <p:cNvPicPr>
            <a:picLocks noGrp="1" noChangeAspect="1"/>
          </p:cNvPicPr>
          <p:nvPr>
            <p:ph idx="1"/>
          </p:nvPr>
        </p:nvPicPr>
        <p:blipFill>
          <a:blip r:embed="rId2"/>
          <a:stretch>
            <a:fillRect/>
          </a:stretch>
        </p:blipFill>
        <p:spPr>
          <a:xfrm>
            <a:off x="2573186" y="1597794"/>
            <a:ext cx="3997628" cy="1919350"/>
          </a:xfrm>
        </p:spPr>
      </p:pic>
      <p:pic>
        <p:nvPicPr>
          <p:cNvPr id="7" name="Imagen 6">
            <a:extLst>
              <a:ext uri="{FF2B5EF4-FFF2-40B4-BE49-F238E27FC236}">
                <a16:creationId xmlns:a16="http://schemas.microsoft.com/office/drawing/2014/main" id="{5747731F-63D6-F515-EB0A-A1BD41EBDE8C}"/>
              </a:ext>
            </a:extLst>
          </p:cNvPr>
          <p:cNvPicPr>
            <a:picLocks noChangeAspect="1"/>
          </p:cNvPicPr>
          <p:nvPr/>
        </p:nvPicPr>
        <p:blipFill>
          <a:blip r:embed="rId3"/>
          <a:stretch>
            <a:fillRect/>
          </a:stretch>
        </p:blipFill>
        <p:spPr>
          <a:xfrm>
            <a:off x="2815819" y="3728331"/>
            <a:ext cx="3512361" cy="2513325"/>
          </a:xfrm>
          <a:prstGeom prst="rect">
            <a:avLst/>
          </a:prstGeom>
        </p:spPr>
      </p:pic>
    </p:spTree>
    <p:extLst>
      <p:ext uri="{BB962C8B-B14F-4D97-AF65-F5344CB8AC3E}">
        <p14:creationId xmlns:p14="http://schemas.microsoft.com/office/powerpoint/2010/main" val="9023174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9168EE-4420-3447-E2E9-373B2A67135E}"/>
              </a:ext>
            </a:extLst>
          </p:cNvPr>
          <p:cNvSpPr>
            <a:spLocks noGrp="1"/>
          </p:cNvSpPr>
          <p:nvPr>
            <p:ph type="title"/>
          </p:nvPr>
        </p:nvSpPr>
        <p:spPr/>
        <p:txBody>
          <a:bodyPr/>
          <a:lstStyle/>
          <a:p>
            <a:r>
              <a:rPr lang="es-MX" dirty="0"/>
              <a:t>Conclusión </a:t>
            </a:r>
          </a:p>
        </p:txBody>
      </p:sp>
      <p:sp>
        <p:nvSpPr>
          <p:cNvPr id="3" name="Marcador de contenido 2">
            <a:extLst>
              <a:ext uri="{FF2B5EF4-FFF2-40B4-BE49-F238E27FC236}">
                <a16:creationId xmlns:a16="http://schemas.microsoft.com/office/drawing/2014/main" id="{A7E324A9-281C-4A5D-4478-353681B0D908}"/>
              </a:ext>
            </a:extLst>
          </p:cNvPr>
          <p:cNvSpPr>
            <a:spLocks noGrp="1"/>
          </p:cNvSpPr>
          <p:nvPr>
            <p:ph idx="1"/>
          </p:nvPr>
        </p:nvSpPr>
        <p:spPr/>
        <p:txBody>
          <a:bodyPr>
            <a:normAutofit/>
          </a:bodyPr>
          <a:lstStyle/>
          <a:p>
            <a:pPr marL="0" indent="0" algn="just">
              <a:buNone/>
            </a:pPr>
            <a:r>
              <a:rPr lang="es-MX" sz="2000" dirty="0">
                <a:latin typeface="Century Gothic" panose="020B0502020202020204" pitchFamily="34" charset="0"/>
              </a:rPr>
              <a:t>A través del desarrollo de los ejercicios realizados, se logró comprender el funcionamiento y la importancia de las estructuras de datos no lineales. La implementación de árboles binarios y grafos permitió analizar cómo se organizan los datos de manera jerárquica y cómo se recorren utilizando diferentes algoritmos.</a:t>
            </a:r>
          </a:p>
          <a:p>
            <a:pPr marL="0" indent="0" algn="just">
              <a:buNone/>
            </a:pPr>
            <a:r>
              <a:rPr lang="es-MX" sz="2000" dirty="0">
                <a:latin typeface="Century Gothic" panose="020B0502020202020204" pitchFamily="34" charset="0"/>
              </a:rPr>
              <a:t>El uso de </a:t>
            </a:r>
            <a:r>
              <a:rPr lang="es-MX" sz="2000" dirty="0" err="1">
                <a:latin typeface="Century Gothic" panose="020B0502020202020204" pitchFamily="34" charset="0"/>
              </a:rPr>
              <a:t>JavaFX</a:t>
            </a:r>
            <a:r>
              <a:rPr lang="es-MX" sz="2000" dirty="0">
                <a:latin typeface="Century Gothic" panose="020B0502020202020204" pitchFamily="34" charset="0"/>
              </a:rPr>
              <a:t> facilitó la interacción con las estructuras, permitiendo ingresar datos, ejecutar recorridos y visualizar resultados de forma clara. Estos ejercicios refuerzan el aprendizaje práctico y demuestran la aplicabilidad de las estructuras no lineales en el desarrollo de software.</a:t>
            </a:r>
          </a:p>
          <a:p>
            <a:pPr marL="0" indent="0" algn="just">
              <a:buNone/>
            </a:pPr>
            <a:endParaRPr lang="es-MX" sz="2000" dirty="0">
              <a:latin typeface="Century Gothic" panose="020B0502020202020204" pitchFamily="34" charset="0"/>
            </a:endParaRPr>
          </a:p>
        </p:txBody>
      </p:sp>
    </p:spTree>
    <p:extLst>
      <p:ext uri="{BB962C8B-B14F-4D97-AF65-F5344CB8AC3E}">
        <p14:creationId xmlns:p14="http://schemas.microsoft.com/office/powerpoint/2010/main" val="3030624336"/>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208</TotalTime>
  <Words>680</Words>
  <Application>Microsoft Office PowerPoint</Application>
  <PresentationFormat>Presentación en pantalla (4:3)</PresentationFormat>
  <Paragraphs>52</Paragraphs>
  <Slides>13</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13</vt:i4>
      </vt:variant>
    </vt:vector>
  </HeadingPairs>
  <TitlesOfParts>
    <vt:vector size="18" baseType="lpstr">
      <vt:lpstr>Arial</vt:lpstr>
      <vt:lpstr>Calibri</vt:lpstr>
      <vt:lpstr>Calibri Light</vt:lpstr>
      <vt:lpstr>Century Gothic</vt:lpstr>
      <vt:lpstr>Tema de Office</vt:lpstr>
      <vt:lpstr>Presentación de PowerPoint</vt:lpstr>
      <vt:lpstr>Introducción </vt:lpstr>
      <vt:lpstr>Justificación </vt:lpstr>
      <vt:lpstr>Árbol Binario</vt:lpstr>
      <vt:lpstr>Primer método</vt:lpstr>
      <vt:lpstr>Segundo método </vt:lpstr>
      <vt:lpstr>Ultimo método </vt:lpstr>
      <vt:lpstr>Resultados Árbol Binario</vt:lpstr>
      <vt:lpstr>Grafo</vt:lpstr>
      <vt:lpstr>Método 1</vt:lpstr>
      <vt:lpstr>Método 2</vt:lpstr>
      <vt:lpstr>Resultado del grafo </vt:lpstr>
      <vt:lpstr>Conclusión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 840 G5</dc:creator>
  <cp:lastModifiedBy>HP 840 G5</cp:lastModifiedBy>
  <cp:revision>1</cp:revision>
  <dcterms:created xsi:type="dcterms:W3CDTF">2025-12-13T16:04:02Z</dcterms:created>
  <dcterms:modified xsi:type="dcterms:W3CDTF">2025-12-13T19:32:42Z</dcterms:modified>
</cp:coreProperties>
</file>