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9" r:id="rId1"/>
  </p:sldMasterIdLst>
  <p:sldIdLst>
    <p:sldId id="256" r:id="rId2"/>
    <p:sldId id="266" r:id="rId3"/>
    <p:sldId id="267" r:id="rId4"/>
    <p:sldId id="258" r:id="rId5"/>
    <p:sldId id="257" r:id="rId6"/>
    <p:sldId id="260" r:id="rId7"/>
    <p:sldId id="259" r:id="rId8"/>
    <p:sldId id="261" r:id="rId9"/>
    <p:sldId id="262" r:id="rId10"/>
    <p:sldId id="263" r:id="rId11"/>
    <p:sldId id="264" r:id="rId12"/>
    <p:sldId id="268" r:id="rId13"/>
    <p:sldId id="265"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804"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2B08D493-0876-49E4-8F8E-E497F96ECC77}" type="datetimeFigureOut">
              <a:rPr lang="es-MX" smtClean="0"/>
              <a:t>13/12/2025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35149237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2B08D493-0876-49E4-8F8E-E497F96ECC77}" type="datetimeFigureOut">
              <a:rPr lang="es-MX" smtClean="0"/>
              <a:t>13/12/2025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2074115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2B08D493-0876-49E4-8F8E-E497F96ECC77}" type="datetimeFigureOut">
              <a:rPr lang="es-MX" smtClean="0"/>
              <a:t>13/12/2025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763439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s-ES"/>
              <a:t>Haga clic para modificar el estilo de título del patrón</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2B08D493-0876-49E4-8F8E-E497F96ECC77}" type="datetimeFigureOut">
              <a:rPr lang="es-MX" smtClean="0"/>
              <a:t>13/12/2025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359208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2" name="Content Placeholder 3"/>
          <p:cNvSpPr>
            <a:spLocks noGrp="1"/>
          </p:cNvSpPr>
          <p:nvPr>
            <p:ph sz="quarter" idx="13"/>
          </p:nvPr>
        </p:nvSpPr>
        <p:spPr>
          <a:xfrm>
            <a:off x="913774" y="3051012"/>
            <a:ext cx="5106027" cy="274018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3" name="Content Placeholder 5"/>
          <p:cNvSpPr>
            <a:spLocks noGrp="1"/>
          </p:cNvSpPr>
          <p:nvPr>
            <p:ph sz="quarter" idx="14"/>
          </p:nvPr>
        </p:nvSpPr>
        <p:spPr>
          <a:xfrm>
            <a:off x="6172200" y="3051012"/>
            <a:ext cx="5105401" cy="274018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2B08D493-0876-49E4-8F8E-E497F96ECC77}" type="datetimeFigureOut">
              <a:rPr lang="es-MX" smtClean="0"/>
              <a:t>13/12/2025</a:t>
            </a:fld>
            <a:endParaRPr lang="es-MX"/>
          </a:p>
        </p:txBody>
      </p:sp>
      <p:sp>
        <p:nvSpPr>
          <p:cNvPr id="8" name="Footer Placeholder 7"/>
          <p:cNvSpPr>
            <a:spLocks noGrp="1"/>
          </p:cNvSpPr>
          <p:nvPr>
            <p:ph type="ftr" sz="quarter" idx="11"/>
          </p:nvPr>
        </p:nvSpPr>
        <p:spPr/>
        <p:txBody>
          <a:bodyPr/>
          <a:lstStyle/>
          <a:p>
            <a:endParaRPr lang="es-MX"/>
          </a:p>
        </p:txBody>
      </p:sp>
      <p:sp>
        <p:nvSpPr>
          <p:cNvPr id="9" name="Slide Number Placeholder 8"/>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36107874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2B08D493-0876-49E4-8F8E-E497F96ECC77}" type="datetimeFigureOut">
              <a:rPr lang="es-MX" smtClean="0"/>
              <a:t>13/12/2025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9814792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2B08D493-0876-49E4-8F8E-E497F96ECC77}" type="datetimeFigureOut">
              <a:rPr lang="es-MX" smtClean="0"/>
              <a:t>13/12/2025</a:t>
            </a:fld>
            <a:endParaRPr lang="es-MX"/>
          </a:p>
        </p:txBody>
      </p:sp>
      <p:sp>
        <p:nvSpPr>
          <p:cNvPr id="3" name="Footer Placeholder 2"/>
          <p:cNvSpPr>
            <a:spLocks noGrp="1"/>
          </p:cNvSpPr>
          <p:nvPr>
            <p:ph type="ftr" sz="quarter" idx="11"/>
          </p:nvPr>
        </p:nvSpPr>
        <p:spPr/>
        <p:txBody>
          <a:bodyPr/>
          <a:lstStyle/>
          <a:p>
            <a:endParaRPr lang="es-MX"/>
          </a:p>
        </p:txBody>
      </p:sp>
      <p:sp>
        <p:nvSpPr>
          <p:cNvPr id="4" name="Slide Number Placeholder 3"/>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23691595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es-ES"/>
              <a:t>Haga clic para modificar el estilo de título del patrón</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2B08D493-0876-49E4-8F8E-E497F96ECC77}" type="datetimeFigureOut">
              <a:rPr lang="es-MX" smtClean="0"/>
              <a:t>13/12/2025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34686505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2B08D493-0876-49E4-8F8E-E497F96ECC77}" type="datetimeFigureOut">
              <a:rPr lang="es-MX" smtClean="0"/>
              <a:t>13/12/2025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606643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n panorámica con descripció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2B08D493-0876-49E4-8F8E-E497F96ECC77}" type="datetimeFigureOut">
              <a:rPr lang="es-MX" smtClean="0"/>
              <a:t>13/12/2025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2230316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ítulo y descripció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2B08D493-0876-49E4-8F8E-E497F96ECC77}" type="datetimeFigureOut">
              <a:rPr lang="es-MX" smtClean="0"/>
              <a:t>13/12/2025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30971466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es-ES"/>
              <a:t>Haga clic para modificar el estilo de título del patrón</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2B08D493-0876-49E4-8F8E-E497F96ECC77}" type="datetimeFigureOut">
              <a:rPr lang="es-MX" smtClean="0"/>
              <a:t>13/12/2025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CD0D0899-484C-4719-B9A3-49CAAD2A242B}" type="slidenum">
              <a:rPr lang="es-MX" smtClean="0"/>
              <a:t>‹Nº›</a:t>
            </a:fld>
            <a:endParaRPr lang="es-MX"/>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9883731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2B08D493-0876-49E4-8F8E-E497F96ECC77}" type="datetimeFigureOut">
              <a:rPr lang="es-MX" smtClean="0"/>
              <a:t>13/12/2025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1865081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lumna 3">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es-ES"/>
              <a:t>Haga clic para modificar el estilo de título del patrón</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2B08D493-0876-49E4-8F8E-E497F96ECC77}" type="datetimeFigureOut">
              <a:rPr lang="es-MX" smtClean="0"/>
              <a:t>13/12/2025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20976952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lumna de imagen 3">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es-ES"/>
              <a:t>Haga clic para modificar el estilo de título del patrón</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2B08D493-0876-49E4-8F8E-E497F96ECC77}" type="datetimeFigureOut">
              <a:rPr lang="es-MX" smtClean="0"/>
              <a:t>13/12/2025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26914857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2B08D493-0876-49E4-8F8E-E497F96ECC77}" type="datetimeFigureOut">
              <a:rPr lang="es-MX" smtClean="0"/>
              <a:t>13/12/2025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17092623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es-ES"/>
              <a:t>Haga clic para modificar el estilo de título del patrón</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2B08D493-0876-49E4-8F8E-E497F96ECC77}" type="datetimeFigureOut">
              <a:rPr lang="es-MX" smtClean="0"/>
              <a:t>13/12/2025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41178157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1_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F0C454A-8A85-C58F-DAE4-A784FE81048A}"/>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5FF5E3E1-CE5C-4821-A20C-EC10AA34E2B9}"/>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B87015CD-BEF1-FC56-22ED-F504E5FE989E}"/>
              </a:ext>
            </a:extLst>
          </p:cNvPr>
          <p:cNvSpPr>
            <a:spLocks noGrp="1"/>
          </p:cNvSpPr>
          <p:nvPr>
            <p:ph type="dt" sz="half" idx="10"/>
          </p:nvPr>
        </p:nvSpPr>
        <p:spPr/>
        <p:txBody>
          <a:bodyPr/>
          <a:lstStyle/>
          <a:p>
            <a:fld id="{2B08D493-0876-49E4-8F8E-E497F96ECC77}" type="datetimeFigureOut">
              <a:rPr lang="es-MX" smtClean="0"/>
              <a:t>13/12/2025</a:t>
            </a:fld>
            <a:endParaRPr lang="es-MX"/>
          </a:p>
        </p:txBody>
      </p:sp>
      <p:sp>
        <p:nvSpPr>
          <p:cNvPr id="5" name="Marcador de pie de página 4">
            <a:extLst>
              <a:ext uri="{FF2B5EF4-FFF2-40B4-BE49-F238E27FC236}">
                <a16:creationId xmlns:a16="http://schemas.microsoft.com/office/drawing/2014/main" id="{F1B7A6D9-AFDC-E7E1-EF3D-80B5566FE4BC}"/>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5CD508BB-F3B6-3B35-424D-2E5DDA217A9C}"/>
              </a:ext>
            </a:extLst>
          </p:cNvPr>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32767075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mt="8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2B08D493-0876-49E4-8F8E-E497F96ECC77}" type="datetimeFigureOut">
              <a:rPr lang="es-MX" smtClean="0"/>
              <a:t>13/12/2025</a:t>
            </a:fld>
            <a:endParaRPr lang="es-MX"/>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s-MX"/>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CD0D0899-484C-4719-B9A3-49CAAD2A242B}" type="slidenum">
              <a:rPr lang="es-MX" smtClean="0"/>
              <a:t>‹Nº›</a:t>
            </a:fld>
            <a:endParaRPr lang="es-MX"/>
          </a:p>
        </p:txBody>
      </p:sp>
    </p:spTree>
    <p:extLst>
      <p:ext uri="{BB962C8B-B14F-4D97-AF65-F5344CB8AC3E}">
        <p14:creationId xmlns:p14="http://schemas.microsoft.com/office/powerpoint/2010/main" val="2858418368"/>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Cynthia21Morales/EstructuraDeDatos_CynthiaJasmineMT/tree/main/ED-Tema-5/Codigos-Metodos-de-Ordenamiento" TargetMode="Externa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2">
            <a:extLst>
              <a:ext uri="{FF2B5EF4-FFF2-40B4-BE49-F238E27FC236}">
                <a16:creationId xmlns:a16="http://schemas.microsoft.com/office/drawing/2014/main" id="{F3B4DBD5-A783-B9FF-12DC-80C104CF8585}"/>
              </a:ext>
            </a:extLst>
          </p:cNvPr>
          <p:cNvSpPr txBox="1"/>
          <p:nvPr/>
        </p:nvSpPr>
        <p:spPr>
          <a:xfrm>
            <a:off x="3073400" y="863472"/>
            <a:ext cx="6045200" cy="5504327"/>
          </a:xfrm>
          <a:prstGeom prst="rect">
            <a:avLst/>
          </a:prstGeom>
        </p:spPr>
        <p:txBody>
          <a:bodyPr wrap="square" lIns="0" tIns="0" rIns="0" bIns="0" rtlCol="0" anchor="t">
            <a:spAutoFit/>
          </a:bodyPr>
          <a:lstStyle/>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Instituto </a:t>
            </a:r>
            <a:r>
              <a:rPr lang="en-US" sz="1200" b="1" dirty="0" err="1">
                <a:solidFill>
                  <a:srgbClr val="000000"/>
                </a:solidFill>
                <a:latin typeface="Century Gothic" panose="020B0502020202020204" pitchFamily="34" charset="0"/>
                <a:ea typeface="Glacial Indifference"/>
                <a:cs typeface="Glacial Indifference"/>
                <a:sym typeface="Glacial Indifference"/>
              </a:rPr>
              <a:t>Tecnológico</a:t>
            </a:r>
            <a:r>
              <a:rPr lang="en-US" sz="1200" b="1" dirty="0">
                <a:solidFill>
                  <a:srgbClr val="000000"/>
                </a:solidFill>
                <a:latin typeface="Century Gothic" panose="020B0502020202020204" pitchFamily="34" charset="0"/>
                <a:ea typeface="Glacial Indifference"/>
                <a:cs typeface="Glacial Indifference"/>
                <a:sym typeface="Glacial Indifference"/>
              </a:rPr>
              <a:t> de Frontera </a:t>
            </a:r>
            <a:r>
              <a:rPr lang="en-US" sz="1200" b="1" dirty="0" err="1">
                <a:solidFill>
                  <a:srgbClr val="000000"/>
                </a:solidFill>
                <a:latin typeface="Century Gothic" panose="020B0502020202020204" pitchFamily="34" charset="0"/>
                <a:ea typeface="Glacial Indifference"/>
                <a:cs typeface="Glacial Indifference"/>
                <a:sym typeface="Glacial Indifference"/>
              </a:rPr>
              <a:t>Comalapa</a:t>
            </a: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Modalidad</a:t>
            </a:r>
            <a:r>
              <a:rPr lang="en-US" sz="1200" b="1" dirty="0">
                <a:solidFill>
                  <a:srgbClr val="000000"/>
                </a:solidFill>
                <a:latin typeface="Century Gothic" panose="020B0502020202020204" pitchFamily="34" charset="0"/>
                <a:ea typeface="Glacial Indifference"/>
                <a:cs typeface="Glacial Indifference"/>
                <a:sym typeface="Glacial Indifference"/>
              </a:rPr>
              <a:t> Mixta</a:t>
            </a:r>
          </a:p>
          <a:p>
            <a:pPr algn="ctr">
              <a:lnSpc>
                <a:spcPct val="150000"/>
              </a:lnSpc>
              <a:spcBef>
                <a:spcPct val="0"/>
              </a:spcBef>
            </a:pP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Materia:</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Estructura</a:t>
            </a:r>
            <a:r>
              <a:rPr lang="en-US" sz="1200" b="1" dirty="0">
                <a:solidFill>
                  <a:srgbClr val="000000"/>
                </a:solidFill>
                <a:latin typeface="Century Gothic" panose="020B0502020202020204" pitchFamily="34" charset="0"/>
                <a:ea typeface="Glacial Indifference"/>
                <a:cs typeface="Glacial Indifference"/>
                <a:sym typeface="Glacial Indifference"/>
              </a:rPr>
              <a:t> de Datos</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Semestre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Quinto </a:t>
            </a:r>
            <a:r>
              <a:rPr lang="en-US" sz="1200" b="1" dirty="0" err="1">
                <a:solidFill>
                  <a:srgbClr val="000000"/>
                </a:solidFill>
                <a:latin typeface="Century Gothic" panose="020B0502020202020204" pitchFamily="34" charset="0"/>
                <a:ea typeface="Glacial Indifference"/>
                <a:cs typeface="Glacial Indifference"/>
                <a:sym typeface="Glacial Indifference"/>
              </a:rPr>
              <a:t>semestre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Especialidad</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Ingeniería </a:t>
            </a:r>
            <a:r>
              <a:rPr lang="en-US" sz="1200" b="1" dirty="0" err="1">
                <a:solidFill>
                  <a:srgbClr val="000000"/>
                </a:solidFill>
                <a:latin typeface="Century Gothic" panose="020B0502020202020204" pitchFamily="34" charset="0"/>
                <a:ea typeface="Glacial Indifference"/>
                <a:cs typeface="Glacial Indifference"/>
                <a:sym typeface="Glacial Indifference"/>
              </a:rPr>
              <a:t>en</a:t>
            </a:r>
            <a:r>
              <a:rPr lang="en-US" sz="1200" b="1" dirty="0">
                <a:solidFill>
                  <a:srgbClr val="000000"/>
                </a:solidFill>
                <a:latin typeface="Century Gothic" panose="020B0502020202020204" pitchFamily="34" charset="0"/>
                <a:ea typeface="Glacial Indifference"/>
                <a:cs typeface="Glacial Indifference"/>
                <a:sym typeface="Glacial Indifference"/>
              </a:rPr>
              <a:t> Sistemas </a:t>
            </a:r>
            <a:r>
              <a:rPr lang="en-US" sz="1200" b="1" dirty="0" err="1">
                <a:solidFill>
                  <a:srgbClr val="000000"/>
                </a:solidFill>
                <a:latin typeface="Century Gothic" panose="020B0502020202020204" pitchFamily="34" charset="0"/>
                <a:ea typeface="Glacial Indifference"/>
                <a:cs typeface="Glacial Indifference"/>
                <a:sym typeface="Glacial Indifference"/>
              </a:rPr>
              <a:t>Computacionales</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Numero</a:t>
            </a:r>
            <a:r>
              <a:rPr lang="en-US" sz="1200" b="1" dirty="0">
                <a:solidFill>
                  <a:srgbClr val="000000"/>
                </a:solidFill>
                <a:latin typeface="Century Gothic" panose="020B0502020202020204" pitchFamily="34" charset="0"/>
                <a:ea typeface="Glacial Indifference"/>
                <a:cs typeface="Glacial Indifference"/>
                <a:sym typeface="Glacial Indifference"/>
              </a:rPr>
              <a:t> de control:</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231260014</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alumno</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Cynthia Jasmine Morales Torres</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docente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Ing. Francisco Javier Mingo Velazquez</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trabajo</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5.3 </a:t>
            </a:r>
            <a:r>
              <a:rPr lang="en-US" sz="1200" b="1" dirty="0" err="1">
                <a:solidFill>
                  <a:srgbClr val="000000"/>
                </a:solidFill>
                <a:latin typeface="Century Gothic" panose="020B0502020202020204" pitchFamily="34" charset="0"/>
                <a:ea typeface="Glacial Indifference"/>
                <a:cs typeface="Glacial Indifference"/>
                <a:sym typeface="Glacial Indifference"/>
              </a:rPr>
              <a:t>Ejercicios</a:t>
            </a:r>
            <a:r>
              <a:rPr lang="en-US" sz="1200" b="1" dirty="0">
                <a:solidFill>
                  <a:srgbClr val="000000"/>
                </a:solidFill>
                <a:latin typeface="Century Gothic" panose="020B0502020202020204" pitchFamily="34" charset="0"/>
                <a:ea typeface="Glacial Indifference"/>
                <a:cs typeface="Glacial Indifference"/>
                <a:sym typeface="Glacial Indifference"/>
              </a:rPr>
              <a:t> </a:t>
            </a:r>
            <a:r>
              <a:rPr lang="en-US" sz="1200" b="1" dirty="0" err="1">
                <a:solidFill>
                  <a:srgbClr val="000000"/>
                </a:solidFill>
                <a:latin typeface="Century Gothic" panose="020B0502020202020204" pitchFamily="34" charset="0"/>
                <a:ea typeface="Glacial Indifference"/>
                <a:cs typeface="Glacial Indifference"/>
                <a:sym typeface="Glacial Indifference"/>
              </a:rPr>
              <a:t>burbujas</a:t>
            </a:r>
            <a:r>
              <a:rPr lang="en-US" sz="1200" b="1" dirty="0">
                <a:solidFill>
                  <a:srgbClr val="000000"/>
                </a:solidFill>
                <a:latin typeface="Century Gothic" panose="020B0502020202020204" pitchFamily="34" charset="0"/>
                <a:ea typeface="Glacial Indifference"/>
                <a:cs typeface="Glacial Indifference"/>
                <a:sym typeface="Glacial Indifference"/>
              </a:rPr>
              <a:t>, quicksort, </a:t>
            </a:r>
            <a:r>
              <a:rPr lang="en-US" sz="1200" b="1" dirty="0" err="1">
                <a:solidFill>
                  <a:srgbClr val="000000"/>
                </a:solidFill>
                <a:latin typeface="Century Gothic" panose="020B0502020202020204" pitchFamily="34" charset="0"/>
                <a:ea typeface="Glacial Indifference"/>
                <a:cs typeface="Glacial Indifference"/>
                <a:sym typeface="Glacial Indifference"/>
              </a:rPr>
              <a:t>shellsort</a:t>
            </a:r>
            <a:r>
              <a:rPr lang="en-US" sz="1200" b="1" dirty="0">
                <a:solidFill>
                  <a:srgbClr val="000000"/>
                </a:solidFill>
                <a:latin typeface="Century Gothic" panose="020B0502020202020204" pitchFamily="34" charset="0"/>
                <a:ea typeface="Glacial Indifference"/>
                <a:cs typeface="Glacial Indifference"/>
                <a:sym typeface="Glacial Indifference"/>
              </a:rPr>
              <a:t>, radix</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Fecha</a:t>
            </a:r>
            <a:r>
              <a:rPr lang="en-US" sz="1200" b="1" dirty="0">
                <a:solidFill>
                  <a:srgbClr val="000000"/>
                </a:solidFill>
                <a:latin typeface="Century Gothic" panose="020B0502020202020204" pitchFamily="34" charset="0"/>
                <a:ea typeface="Glacial Indifference"/>
                <a:cs typeface="Glacial Indifference"/>
                <a:sym typeface="Glacial Indifference"/>
              </a:rPr>
              <a:t> de </a:t>
            </a:r>
            <a:r>
              <a:rPr lang="en-US" sz="1200" b="1" dirty="0" err="1">
                <a:solidFill>
                  <a:srgbClr val="000000"/>
                </a:solidFill>
                <a:latin typeface="Century Gothic" panose="020B0502020202020204" pitchFamily="34" charset="0"/>
                <a:ea typeface="Glacial Indifference"/>
                <a:cs typeface="Glacial Indifference"/>
                <a:sym typeface="Glacial Indifference"/>
              </a:rPr>
              <a:t>entrega</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Frontera </a:t>
            </a:r>
            <a:r>
              <a:rPr lang="en-US" sz="1200" b="1" dirty="0" err="1">
                <a:solidFill>
                  <a:srgbClr val="000000"/>
                </a:solidFill>
                <a:latin typeface="Century Gothic" panose="020B0502020202020204" pitchFamily="34" charset="0"/>
                <a:ea typeface="Glacial Indifference"/>
                <a:cs typeface="Glacial Indifference"/>
                <a:sym typeface="Glacial Indifference"/>
              </a:rPr>
              <a:t>Comalapa</a:t>
            </a:r>
            <a:r>
              <a:rPr lang="en-US" sz="1200" b="1" dirty="0">
                <a:solidFill>
                  <a:srgbClr val="000000"/>
                </a:solidFill>
                <a:latin typeface="Century Gothic" panose="020B0502020202020204" pitchFamily="34" charset="0"/>
                <a:ea typeface="Glacial Indifference"/>
                <a:cs typeface="Glacial Indifference"/>
                <a:sym typeface="Glacial Indifference"/>
              </a:rPr>
              <a:t>, Chiapas. A 13 de </a:t>
            </a:r>
            <a:r>
              <a:rPr lang="en-US" sz="1200" b="1" dirty="0" err="1">
                <a:solidFill>
                  <a:srgbClr val="000000"/>
                </a:solidFill>
                <a:latin typeface="Century Gothic" panose="020B0502020202020204" pitchFamily="34" charset="0"/>
                <a:ea typeface="Glacial Indifference"/>
                <a:cs typeface="Glacial Indifference"/>
                <a:sym typeface="Glacial Indifference"/>
              </a:rPr>
              <a:t>diciembre</a:t>
            </a:r>
            <a:r>
              <a:rPr lang="en-US" sz="1200" b="1" dirty="0">
                <a:solidFill>
                  <a:srgbClr val="000000"/>
                </a:solidFill>
                <a:latin typeface="Century Gothic" panose="020B0502020202020204" pitchFamily="34" charset="0"/>
                <a:ea typeface="Glacial Indifference"/>
                <a:cs typeface="Glacial Indifference"/>
                <a:sym typeface="Glacial Indifference"/>
              </a:rPr>
              <a:t> de 2025</a:t>
            </a:r>
          </a:p>
        </p:txBody>
      </p:sp>
      <p:sp>
        <p:nvSpPr>
          <p:cNvPr id="5" name="Freeform 3">
            <a:extLst>
              <a:ext uri="{FF2B5EF4-FFF2-40B4-BE49-F238E27FC236}">
                <a16:creationId xmlns:a16="http://schemas.microsoft.com/office/drawing/2014/main" id="{3B1EC564-151A-EE0B-1D1C-5592335418DB}"/>
              </a:ext>
            </a:extLst>
          </p:cNvPr>
          <p:cNvSpPr/>
          <p:nvPr/>
        </p:nvSpPr>
        <p:spPr>
          <a:xfrm>
            <a:off x="1835071" y="130506"/>
            <a:ext cx="1985447" cy="917245"/>
          </a:xfrm>
          <a:custGeom>
            <a:avLst/>
            <a:gdLst/>
            <a:ahLst/>
            <a:cxnLst/>
            <a:rect l="l" t="t" r="r" b="b"/>
            <a:pathLst>
              <a:path w="3135296" h="1339792">
                <a:moveTo>
                  <a:pt x="0" y="0"/>
                </a:moveTo>
                <a:lnTo>
                  <a:pt x="3135296" y="0"/>
                </a:lnTo>
                <a:lnTo>
                  <a:pt x="3135296" y="1339792"/>
                </a:lnTo>
                <a:lnTo>
                  <a:pt x="0" y="1339792"/>
                </a:lnTo>
                <a:lnTo>
                  <a:pt x="0" y="0"/>
                </a:lnTo>
                <a:close/>
              </a:path>
            </a:pathLst>
          </a:custGeom>
          <a:blipFill>
            <a:blip r:embed="rId2"/>
            <a:stretch>
              <a:fillRect/>
            </a:stretch>
          </a:blipFill>
        </p:spPr>
      </p:sp>
      <p:sp>
        <p:nvSpPr>
          <p:cNvPr id="6" name="Freeform 4">
            <a:extLst>
              <a:ext uri="{FF2B5EF4-FFF2-40B4-BE49-F238E27FC236}">
                <a16:creationId xmlns:a16="http://schemas.microsoft.com/office/drawing/2014/main" id="{B82FEB0E-D32C-4483-F031-7291BA70841F}"/>
              </a:ext>
            </a:extLst>
          </p:cNvPr>
          <p:cNvSpPr/>
          <p:nvPr/>
        </p:nvSpPr>
        <p:spPr>
          <a:xfrm>
            <a:off x="8907659" y="203069"/>
            <a:ext cx="1385614" cy="844682"/>
          </a:xfrm>
          <a:custGeom>
            <a:avLst/>
            <a:gdLst/>
            <a:ahLst/>
            <a:cxnLst/>
            <a:rect l="l" t="t" r="r" b="b"/>
            <a:pathLst>
              <a:path w="2019078" h="1652713">
                <a:moveTo>
                  <a:pt x="0" y="0"/>
                </a:moveTo>
                <a:lnTo>
                  <a:pt x="2019078" y="0"/>
                </a:lnTo>
                <a:lnTo>
                  <a:pt x="2019078" y="1652713"/>
                </a:lnTo>
                <a:lnTo>
                  <a:pt x="0" y="1652713"/>
                </a:lnTo>
                <a:lnTo>
                  <a:pt x="0" y="0"/>
                </a:lnTo>
                <a:close/>
              </a:path>
            </a:pathLst>
          </a:custGeom>
          <a:blipFill>
            <a:blip r:embed="rId3"/>
            <a:stretch>
              <a:fillRect/>
            </a:stretch>
          </a:blipFill>
        </p:spPr>
      </p:sp>
      <p:sp>
        <p:nvSpPr>
          <p:cNvPr id="7" name="Freeform 5">
            <a:extLst>
              <a:ext uri="{FF2B5EF4-FFF2-40B4-BE49-F238E27FC236}">
                <a16:creationId xmlns:a16="http://schemas.microsoft.com/office/drawing/2014/main" id="{318CDCE1-E774-3BB9-6F39-B8ABED5063D7}"/>
              </a:ext>
            </a:extLst>
          </p:cNvPr>
          <p:cNvSpPr/>
          <p:nvPr/>
        </p:nvSpPr>
        <p:spPr>
          <a:xfrm>
            <a:off x="4694917" y="181027"/>
            <a:ext cx="2802166" cy="584341"/>
          </a:xfrm>
          <a:custGeom>
            <a:avLst/>
            <a:gdLst/>
            <a:ahLst/>
            <a:cxnLst/>
            <a:rect l="l" t="t" r="r" b="b"/>
            <a:pathLst>
              <a:path w="4428347" h="916210">
                <a:moveTo>
                  <a:pt x="0" y="0"/>
                </a:moveTo>
                <a:lnTo>
                  <a:pt x="4428347" y="0"/>
                </a:lnTo>
                <a:lnTo>
                  <a:pt x="4428347" y="916210"/>
                </a:lnTo>
                <a:lnTo>
                  <a:pt x="0" y="916210"/>
                </a:lnTo>
                <a:lnTo>
                  <a:pt x="0" y="0"/>
                </a:lnTo>
                <a:close/>
              </a:path>
            </a:pathLst>
          </a:custGeom>
          <a:blipFill>
            <a:blip r:embed="rId4"/>
            <a:stretch>
              <a:fillRect/>
            </a:stretch>
          </a:blipFill>
        </p:spPr>
      </p:sp>
    </p:spTree>
    <p:extLst>
      <p:ext uri="{BB962C8B-B14F-4D97-AF65-F5344CB8AC3E}">
        <p14:creationId xmlns:p14="http://schemas.microsoft.com/office/powerpoint/2010/main" val="20469758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09DF15-A2AE-1FE9-B59F-8960C7DB8EA6}"/>
              </a:ext>
            </a:extLst>
          </p:cNvPr>
          <p:cNvSpPr>
            <a:spLocks noGrp="1"/>
          </p:cNvSpPr>
          <p:nvPr>
            <p:ph type="title"/>
          </p:nvPr>
        </p:nvSpPr>
        <p:spPr/>
        <p:txBody>
          <a:bodyPr/>
          <a:lstStyle/>
          <a:p>
            <a:r>
              <a:rPr lang="es-MX" dirty="0"/>
              <a:t>Introducción </a:t>
            </a:r>
          </a:p>
        </p:txBody>
      </p:sp>
      <p:sp>
        <p:nvSpPr>
          <p:cNvPr id="3" name="Marcador de contenido 2">
            <a:extLst>
              <a:ext uri="{FF2B5EF4-FFF2-40B4-BE49-F238E27FC236}">
                <a16:creationId xmlns:a16="http://schemas.microsoft.com/office/drawing/2014/main" id="{FFF5C933-CD9C-8939-79E8-CD0D3B6A0A69}"/>
              </a:ext>
            </a:extLst>
          </p:cNvPr>
          <p:cNvSpPr>
            <a:spLocks noGrp="1"/>
          </p:cNvSpPr>
          <p:nvPr>
            <p:ph idx="1"/>
          </p:nvPr>
        </p:nvSpPr>
        <p:spPr/>
        <p:txBody>
          <a:bodyPr/>
          <a:lstStyle/>
          <a:p>
            <a:pPr marL="0" indent="0" algn="just">
              <a:buNone/>
            </a:pPr>
            <a:r>
              <a:rPr lang="es-MX" dirty="0"/>
              <a:t>Los métodos de ordenamiento son una parte fundamental de las estructuras de datos, ya que permiten organizar la información de manera eficiente para facilitar su búsqueda, análisis y procesamiento. En el desarrollo de aplicaciones, ordenar datos correctamente mejora el rendimiento del sistema y la experiencia del usuario.</a:t>
            </a:r>
            <a:br>
              <a:rPr lang="es-MX" dirty="0"/>
            </a:br>
            <a:r>
              <a:rPr lang="es-MX" dirty="0"/>
              <a:t>En estos ejercicios se implementan cuatro algoritmos de ordenamiento: Burbuja, </a:t>
            </a:r>
            <a:r>
              <a:rPr lang="es-MX" dirty="0" err="1"/>
              <a:t>QuickSort</a:t>
            </a:r>
            <a:r>
              <a:rPr lang="es-MX" dirty="0"/>
              <a:t>, </a:t>
            </a:r>
            <a:r>
              <a:rPr lang="es-MX" dirty="0" err="1"/>
              <a:t>ShellSort</a:t>
            </a:r>
            <a:r>
              <a:rPr lang="es-MX" dirty="0"/>
              <a:t> y </a:t>
            </a:r>
            <a:r>
              <a:rPr lang="es-MX" dirty="0" err="1"/>
              <a:t>RadixSort</a:t>
            </a:r>
            <a:r>
              <a:rPr lang="es-MX" dirty="0"/>
              <a:t>, utilizando el lenguaje Java y una interfaz gráfica con </a:t>
            </a:r>
            <a:r>
              <a:rPr lang="es-MX" dirty="0" err="1"/>
              <a:t>JavaFX</a:t>
            </a:r>
            <a:r>
              <a:rPr lang="es-MX" dirty="0"/>
              <a:t>, lo que permite observar de forma práctica cómo funciona cada método y cómo se comportan al ordenar un conjunto de números.</a:t>
            </a:r>
          </a:p>
        </p:txBody>
      </p:sp>
    </p:spTree>
    <p:extLst>
      <p:ext uri="{BB962C8B-B14F-4D97-AF65-F5344CB8AC3E}">
        <p14:creationId xmlns:p14="http://schemas.microsoft.com/office/powerpoint/2010/main" val="19879800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F39B32-7DCA-72DE-BC21-CAEED6639BEC}"/>
              </a:ext>
            </a:extLst>
          </p:cNvPr>
          <p:cNvSpPr>
            <a:spLocks noGrp="1"/>
          </p:cNvSpPr>
          <p:nvPr>
            <p:ph type="title"/>
          </p:nvPr>
        </p:nvSpPr>
        <p:spPr/>
        <p:txBody>
          <a:bodyPr/>
          <a:lstStyle/>
          <a:p>
            <a:r>
              <a:rPr lang="es-MX" dirty="0"/>
              <a:t>Justificación </a:t>
            </a:r>
          </a:p>
        </p:txBody>
      </p:sp>
      <p:sp>
        <p:nvSpPr>
          <p:cNvPr id="3" name="Marcador de contenido 2">
            <a:extLst>
              <a:ext uri="{FF2B5EF4-FFF2-40B4-BE49-F238E27FC236}">
                <a16:creationId xmlns:a16="http://schemas.microsoft.com/office/drawing/2014/main" id="{F008B19B-2D40-0DDE-1360-01B28D1F541D}"/>
              </a:ext>
            </a:extLst>
          </p:cNvPr>
          <p:cNvSpPr>
            <a:spLocks noGrp="1"/>
          </p:cNvSpPr>
          <p:nvPr>
            <p:ph idx="1"/>
          </p:nvPr>
        </p:nvSpPr>
        <p:spPr/>
        <p:txBody>
          <a:bodyPr>
            <a:normAutofit fontScale="92500" lnSpcReduction="10000"/>
          </a:bodyPr>
          <a:lstStyle/>
          <a:p>
            <a:pPr marL="0" indent="0" algn="just">
              <a:buNone/>
            </a:pPr>
            <a:r>
              <a:rPr lang="es-MX" dirty="0"/>
              <a:t>La implementación de distintos métodos de ordenamiento permite comprender que no todos los algoritmos funcionan de la misma manera ni tienen el mismo rendimiento. Cada uno de los ejercicios desarrollados muestra un enfoque diferente para resolver el mismo problema: ordenar una lista de datos.</a:t>
            </a:r>
            <a:br>
              <a:rPr lang="es-MX" dirty="0"/>
            </a:br>
            <a:r>
              <a:rPr lang="es-MX" dirty="0"/>
              <a:t>El método Burbuja facilita el aprendizaje por su simplicidad, mientras que </a:t>
            </a:r>
            <a:r>
              <a:rPr lang="es-MX" dirty="0" err="1"/>
              <a:t>QuickSort</a:t>
            </a:r>
            <a:r>
              <a:rPr lang="es-MX" dirty="0"/>
              <a:t> y </a:t>
            </a:r>
            <a:r>
              <a:rPr lang="es-MX" dirty="0" err="1"/>
              <a:t>ShellSort</a:t>
            </a:r>
            <a:r>
              <a:rPr lang="es-MX" dirty="0"/>
              <a:t> introducen técnicas más eficientes y avanzadas. Por su parte, </a:t>
            </a:r>
            <a:r>
              <a:rPr lang="es-MX" dirty="0" err="1"/>
              <a:t>RadixSort</a:t>
            </a:r>
            <a:r>
              <a:rPr lang="es-MX" dirty="0"/>
              <a:t> demuestra una estrategia distinta al no basarse en comparaciones directas.</a:t>
            </a:r>
            <a:br>
              <a:rPr lang="es-MX" dirty="0"/>
            </a:br>
            <a:r>
              <a:rPr lang="es-MX" dirty="0"/>
              <a:t>Estos ejercicios fortalecen la comprensión práctica de los algoritmos, fomentan el análisis de eficiencia y ayudan a identificar cuál método es más adecuado según el tipo y tamaño de los datos a ordenar.</a:t>
            </a:r>
          </a:p>
        </p:txBody>
      </p:sp>
    </p:spTree>
    <p:extLst>
      <p:ext uri="{BB962C8B-B14F-4D97-AF65-F5344CB8AC3E}">
        <p14:creationId xmlns:p14="http://schemas.microsoft.com/office/powerpoint/2010/main" val="6865430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DACFF66-E36D-D04B-D439-943F244FB7AA}"/>
              </a:ext>
            </a:extLst>
          </p:cNvPr>
          <p:cNvSpPr>
            <a:spLocks noGrp="1"/>
          </p:cNvSpPr>
          <p:nvPr>
            <p:ph type="title"/>
          </p:nvPr>
        </p:nvSpPr>
        <p:spPr/>
        <p:txBody>
          <a:bodyPr/>
          <a:lstStyle/>
          <a:p>
            <a:r>
              <a:rPr lang="es-MX" dirty="0"/>
              <a:t>METODO DE ORDENAMIENTO: BURBUJA</a:t>
            </a:r>
          </a:p>
        </p:txBody>
      </p:sp>
      <p:pic>
        <p:nvPicPr>
          <p:cNvPr id="5" name="Marcador de contenido 4">
            <a:extLst>
              <a:ext uri="{FF2B5EF4-FFF2-40B4-BE49-F238E27FC236}">
                <a16:creationId xmlns:a16="http://schemas.microsoft.com/office/drawing/2014/main" id="{B910FA66-484D-04DB-08DE-9887C62B66E7}"/>
              </a:ext>
            </a:extLst>
          </p:cNvPr>
          <p:cNvPicPr>
            <a:picLocks noGrp="1" noChangeAspect="1"/>
          </p:cNvPicPr>
          <p:nvPr>
            <p:ph idx="1"/>
          </p:nvPr>
        </p:nvPicPr>
        <p:blipFill>
          <a:blip r:embed="rId2"/>
          <a:stretch>
            <a:fillRect/>
          </a:stretch>
        </p:blipFill>
        <p:spPr>
          <a:xfrm>
            <a:off x="714910" y="1763980"/>
            <a:ext cx="3534763" cy="4351338"/>
          </a:xfrm>
        </p:spPr>
      </p:pic>
      <p:sp>
        <p:nvSpPr>
          <p:cNvPr id="6" name="Rectangle 1">
            <a:extLst>
              <a:ext uri="{FF2B5EF4-FFF2-40B4-BE49-F238E27FC236}">
                <a16:creationId xmlns:a16="http://schemas.microsoft.com/office/drawing/2014/main" id="{00AE3A17-C6BF-4005-6A50-2143EF176973}"/>
              </a:ext>
            </a:extLst>
          </p:cNvPr>
          <p:cNvSpPr>
            <a:spLocks noChangeArrowheads="1"/>
          </p:cNvSpPr>
          <p:nvPr/>
        </p:nvSpPr>
        <p:spPr bwMode="auto">
          <a:xfrm>
            <a:off x="4370998" y="1868001"/>
            <a:ext cx="7574422" cy="4247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s-MX" altLang="es-MX" dirty="0"/>
              <a:t>El ordenamiento burbuja es un algoritmo simple que ordena un arreglo comparando elementos adyacentes y “haciendo burbujear” los valores más grandes hacia el final del arreglo. Se repite varias veces hasta que todos los elementos quedan ordenados.</a:t>
            </a:r>
          </a:p>
          <a:p>
            <a:pPr marL="0" marR="0" lvl="0" indent="0" algn="just" defTabSz="914400" rtl="0" eaLnBrk="0" fontAlgn="base" latinLnBrk="0" hangingPunct="0">
              <a:lnSpc>
                <a:spcPct val="100000"/>
              </a:lnSpc>
              <a:spcBef>
                <a:spcPct val="0"/>
              </a:spcBef>
              <a:spcAft>
                <a:spcPct val="0"/>
              </a:spcAft>
              <a:buClrTx/>
              <a:buSzTx/>
              <a:buFontTx/>
              <a:buNone/>
              <a:tabLst/>
            </a:pPr>
            <a:endParaRPr lang="es-MX" altLang="es-MX" dirty="0"/>
          </a:p>
          <a:p>
            <a:pPr marL="0" marR="0" lvl="0" indent="0" algn="just" defTabSz="914400" rtl="0" eaLnBrk="0" fontAlgn="base" latinLnBrk="0" hangingPunct="0">
              <a:lnSpc>
                <a:spcPct val="100000"/>
              </a:lnSpc>
              <a:spcBef>
                <a:spcPct val="0"/>
              </a:spcBef>
              <a:spcAft>
                <a:spcPct val="0"/>
              </a:spcAft>
              <a:buClrTx/>
              <a:buSzTx/>
              <a:buFontTx/>
              <a:buAutoNum type="arabicPeriod"/>
              <a:tabLst/>
            </a:pPr>
            <a:r>
              <a:rPr lang="es-MX" altLang="es-MX" dirty="0"/>
              <a:t>Recorre el arreglo desde el primer hasta el penúltimo elemento.</a:t>
            </a:r>
          </a:p>
          <a:p>
            <a:pPr marL="0" marR="0" lvl="0" indent="0" algn="just" defTabSz="914400" rtl="0" eaLnBrk="0" fontAlgn="base" latinLnBrk="0" hangingPunct="0">
              <a:lnSpc>
                <a:spcPct val="100000"/>
              </a:lnSpc>
              <a:spcBef>
                <a:spcPct val="0"/>
              </a:spcBef>
              <a:spcAft>
                <a:spcPct val="0"/>
              </a:spcAft>
              <a:buClrTx/>
              <a:buSzTx/>
              <a:buFontTx/>
              <a:buAutoNum type="arabicPeriod" startAt="2"/>
              <a:tabLst/>
            </a:pPr>
            <a:r>
              <a:rPr lang="es-MX" altLang="es-MX" dirty="0"/>
              <a:t>Compara cada par de elementos consecutivos:</a:t>
            </a:r>
          </a:p>
          <a:p>
            <a:pPr marL="457200" marR="0" lvl="1" indent="0" algn="just" defTabSz="914400" rtl="0" eaLnBrk="0" fontAlgn="base" latinLnBrk="0" hangingPunct="0">
              <a:lnSpc>
                <a:spcPct val="100000"/>
              </a:lnSpc>
              <a:spcBef>
                <a:spcPct val="0"/>
              </a:spcBef>
              <a:spcAft>
                <a:spcPct val="0"/>
              </a:spcAft>
              <a:buClrTx/>
              <a:buSzTx/>
              <a:buFontTx/>
              <a:buChar char="•"/>
              <a:tabLst/>
            </a:pPr>
            <a:r>
              <a:rPr lang="es-MX" altLang="es-MX" dirty="0"/>
              <a:t>Si el primero es mayor que el segundo, se intercambian.</a:t>
            </a:r>
          </a:p>
          <a:p>
            <a:pPr marL="0" marR="0" lvl="0" indent="0" algn="just" defTabSz="914400" rtl="0" eaLnBrk="0" fontAlgn="base" latinLnBrk="0" hangingPunct="0">
              <a:lnSpc>
                <a:spcPct val="100000"/>
              </a:lnSpc>
              <a:spcBef>
                <a:spcPct val="0"/>
              </a:spcBef>
              <a:spcAft>
                <a:spcPct val="0"/>
              </a:spcAft>
              <a:buClrTx/>
              <a:buSzTx/>
              <a:buFontTx/>
              <a:buAutoNum type="arabicPeriod" startAt="3"/>
              <a:tabLst/>
            </a:pPr>
            <a:r>
              <a:rPr lang="es-MX" altLang="es-MX" dirty="0"/>
              <a:t>Este proceso se repite para todo el arreglo varias veces (generalmente n-1 pasadas, donde n es el tamaño del arreglo).</a:t>
            </a:r>
          </a:p>
          <a:p>
            <a:pPr marL="0" marR="0" lvl="0" indent="0" algn="just" defTabSz="914400" rtl="0" eaLnBrk="0" fontAlgn="base" latinLnBrk="0" hangingPunct="0">
              <a:lnSpc>
                <a:spcPct val="100000"/>
              </a:lnSpc>
              <a:spcBef>
                <a:spcPct val="0"/>
              </a:spcBef>
              <a:spcAft>
                <a:spcPct val="0"/>
              </a:spcAft>
              <a:buClrTx/>
              <a:buSzTx/>
              <a:buFontTx/>
              <a:buAutoNum type="arabicPeriod" startAt="4"/>
              <a:tabLst/>
            </a:pPr>
            <a:r>
              <a:rPr lang="es-MX" altLang="es-MX" dirty="0"/>
              <a:t>Al final de cada pasada, el mayor elemento “burbujea” hasta la posición correcta.</a:t>
            </a:r>
          </a:p>
          <a:p>
            <a:pPr marL="0" marR="0" lvl="0" indent="0" algn="just" defTabSz="914400" rtl="0" eaLnBrk="0" fontAlgn="base" latinLnBrk="0" hangingPunct="0">
              <a:lnSpc>
                <a:spcPct val="100000"/>
              </a:lnSpc>
              <a:spcBef>
                <a:spcPct val="0"/>
              </a:spcBef>
              <a:spcAft>
                <a:spcPct val="0"/>
              </a:spcAft>
              <a:buClrTx/>
              <a:buSzTx/>
              <a:buFontTx/>
              <a:buAutoNum type="arabicPeriod" startAt="5"/>
              <a:tabLst/>
            </a:pPr>
            <a:r>
              <a:rPr lang="es-MX" altLang="es-MX" dirty="0"/>
              <a:t>Cuando no hay más intercambios en una pasada, el arreglo está completamente ordenado.</a:t>
            </a:r>
          </a:p>
          <a:p>
            <a:pPr marL="0" marR="0" lvl="0" indent="0" algn="just" defTabSz="914400" rtl="0" eaLnBrk="0" fontAlgn="base" latinLnBrk="0" hangingPunct="0">
              <a:lnSpc>
                <a:spcPct val="100000"/>
              </a:lnSpc>
              <a:spcBef>
                <a:spcPct val="0"/>
              </a:spcBef>
              <a:spcAft>
                <a:spcPct val="0"/>
              </a:spcAft>
              <a:buClrTx/>
              <a:buSzTx/>
              <a:buFontTx/>
              <a:buNone/>
              <a:tabLst/>
            </a:pPr>
            <a:endParaRPr lang="es-MX" altLang="es-MX" dirty="0"/>
          </a:p>
        </p:txBody>
      </p:sp>
    </p:spTree>
    <p:extLst>
      <p:ext uri="{BB962C8B-B14F-4D97-AF65-F5344CB8AC3E}">
        <p14:creationId xmlns:p14="http://schemas.microsoft.com/office/powerpoint/2010/main" val="15054292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B8258A1-FFA7-5009-2905-B4BB755581F4}"/>
              </a:ext>
            </a:extLst>
          </p:cNvPr>
          <p:cNvSpPr>
            <a:spLocks noGrp="1"/>
          </p:cNvSpPr>
          <p:nvPr>
            <p:ph type="title"/>
          </p:nvPr>
        </p:nvSpPr>
        <p:spPr/>
        <p:txBody>
          <a:bodyPr/>
          <a:lstStyle/>
          <a:p>
            <a:r>
              <a:rPr lang="es-MX" dirty="0"/>
              <a:t>Resultado </a:t>
            </a:r>
          </a:p>
        </p:txBody>
      </p:sp>
      <p:pic>
        <p:nvPicPr>
          <p:cNvPr id="5" name="Marcador de contenido 4">
            <a:extLst>
              <a:ext uri="{FF2B5EF4-FFF2-40B4-BE49-F238E27FC236}">
                <a16:creationId xmlns:a16="http://schemas.microsoft.com/office/drawing/2014/main" id="{A584B989-5D2C-B279-8198-BFE4A8AAAEDB}"/>
              </a:ext>
            </a:extLst>
          </p:cNvPr>
          <p:cNvPicPr>
            <a:picLocks noGrp="1" noChangeAspect="1"/>
          </p:cNvPicPr>
          <p:nvPr>
            <p:ph idx="1"/>
          </p:nvPr>
        </p:nvPicPr>
        <p:blipFill>
          <a:blip r:embed="rId2"/>
          <a:stretch>
            <a:fillRect/>
          </a:stretch>
        </p:blipFill>
        <p:spPr>
          <a:xfrm>
            <a:off x="7214605" y="1808251"/>
            <a:ext cx="4139195" cy="2961152"/>
          </a:xfrm>
        </p:spPr>
      </p:pic>
      <p:pic>
        <p:nvPicPr>
          <p:cNvPr id="7" name="Imagen 6">
            <a:extLst>
              <a:ext uri="{FF2B5EF4-FFF2-40B4-BE49-F238E27FC236}">
                <a16:creationId xmlns:a16="http://schemas.microsoft.com/office/drawing/2014/main" id="{A3204AE2-959C-7BC8-B8F7-C7DB79DAD3EA}"/>
              </a:ext>
            </a:extLst>
          </p:cNvPr>
          <p:cNvPicPr>
            <a:picLocks noChangeAspect="1"/>
          </p:cNvPicPr>
          <p:nvPr/>
        </p:nvPicPr>
        <p:blipFill>
          <a:blip r:embed="rId3"/>
          <a:stretch>
            <a:fillRect/>
          </a:stretch>
        </p:blipFill>
        <p:spPr>
          <a:xfrm>
            <a:off x="339046" y="1992891"/>
            <a:ext cx="6717217" cy="2353078"/>
          </a:xfrm>
          <a:prstGeom prst="rect">
            <a:avLst/>
          </a:prstGeom>
        </p:spPr>
      </p:pic>
    </p:spTree>
    <p:extLst>
      <p:ext uri="{BB962C8B-B14F-4D97-AF65-F5344CB8AC3E}">
        <p14:creationId xmlns:p14="http://schemas.microsoft.com/office/powerpoint/2010/main" val="40857062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2AB58313-7612-DF6F-B6B3-0D52639D17D8}"/>
              </a:ext>
            </a:extLst>
          </p:cNvPr>
          <p:cNvSpPr>
            <a:spLocks noGrp="1"/>
          </p:cNvSpPr>
          <p:nvPr>
            <p:ph type="title"/>
          </p:nvPr>
        </p:nvSpPr>
        <p:spPr>
          <a:xfrm>
            <a:off x="985694" y="0"/>
            <a:ext cx="10364451" cy="1596177"/>
          </a:xfrm>
        </p:spPr>
        <p:txBody>
          <a:bodyPr/>
          <a:lstStyle/>
          <a:p>
            <a:r>
              <a:rPr lang="es-MX" dirty="0"/>
              <a:t>METODO DE ORDENAMIENTO: </a:t>
            </a:r>
            <a:r>
              <a:rPr lang="es-MX" dirty="0" err="1"/>
              <a:t>quicksort</a:t>
            </a:r>
            <a:endParaRPr lang="es-MX" dirty="0"/>
          </a:p>
        </p:txBody>
      </p:sp>
      <p:pic>
        <p:nvPicPr>
          <p:cNvPr id="6" name="Marcador de contenido 5">
            <a:extLst>
              <a:ext uri="{FF2B5EF4-FFF2-40B4-BE49-F238E27FC236}">
                <a16:creationId xmlns:a16="http://schemas.microsoft.com/office/drawing/2014/main" id="{9BBC77E6-809C-11DF-D136-5713BD2C9C43}"/>
              </a:ext>
            </a:extLst>
          </p:cNvPr>
          <p:cNvPicPr>
            <a:picLocks noGrp="1" noChangeAspect="1"/>
          </p:cNvPicPr>
          <p:nvPr>
            <p:ph idx="1"/>
          </p:nvPr>
        </p:nvPicPr>
        <p:blipFill>
          <a:blip r:embed="rId2"/>
          <a:stretch>
            <a:fillRect/>
          </a:stretch>
        </p:blipFill>
        <p:spPr>
          <a:xfrm>
            <a:off x="141712" y="1346608"/>
            <a:ext cx="3156462" cy="4351338"/>
          </a:xfrm>
        </p:spPr>
      </p:pic>
      <p:pic>
        <p:nvPicPr>
          <p:cNvPr id="8" name="Imagen 7">
            <a:extLst>
              <a:ext uri="{FF2B5EF4-FFF2-40B4-BE49-F238E27FC236}">
                <a16:creationId xmlns:a16="http://schemas.microsoft.com/office/drawing/2014/main" id="{337FBBF9-538D-A752-F717-51DA5C4F473B}"/>
              </a:ext>
            </a:extLst>
          </p:cNvPr>
          <p:cNvPicPr>
            <a:picLocks noChangeAspect="1"/>
          </p:cNvPicPr>
          <p:nvPr/>
        </p:nvPicPr>
        <p:blipFill>
          <a:blip r:embed="rId3"/>
          <a:stretch>
            <a:fillRect/>
          </a:stretch>
        </p:blipFill>
        <p:spPr>
          <a:xfrm>
            <a:off x="3553931" y="1351915"/>
            <a:ext cx="3156462" cy="2478599"/>
          </a:xfrm>
          <a:prstGeom prst="rect">
            <a:avLst/>
          </a:prstGeom>
        </p:spPr>
      </p:pic>
      <p:sp>
        <p:nvSpPr>
          <p:cNvPr id="10" name="CuadroTexto 9">
            <a:extLst>
              <a:ext uri="{FF2B5EF4-FFF2-40B4-BE49-F238E27FC236}">
                <a16:creationId xmlns:a16="http://schemas.microsoft.com/office/drawing/2014/main" id="{817BAA0B-BBDD-DCE1-464D-78679C9772ED}"/>
              </a:ext>
            </a:extLst>
          </p:cNvPr>
          <p:cNvSpPr txBox="1"/>
          <p:nvPr/>
        </p:nvSpPr>
        <p:spPr>
          <a:xfrm>
            <a:off x="3553931" y="3995678"/>
            <a:ext cx="8638069" cy="2862322"/>
          </a:xfrm>
          <a:prstGeom prst="rect">
            <a:avLst/>
          </a:prstGeom>
          <a:noFill/>
        </p:spPr>
        <p:txBody>
          <a:bodyPr wrap="square">
            <a:spAutoFit/>
          </a:bodyPr>
          <a:lstStyle/>
          <a:p>
            <a:r>
              <a:rPr lang="es-MX" b="1" dirty="0"/>
              <a:t>Qué hace el Quicksort:</a:t>
            </a:r>
          </a:p>
          <a:p>
            <a:pPr>
              <a:buFont typeface="+mj-lt"/>
              <a:buAutoNum type="arabicPeriod"/>
            </a:pPr>
            <a:r>
              <a:rPr lang="es-MX" b="1" dirty="0"/>
              <a:t>Selecciona un pivote:</a:t>
            </a:r>
            <a:endParaRPr lang="es-MX" dirty="0"/>
          </a:p>
          <a:p>
            <a:pPr marL="742950" lvl="1" indent="-285750">
              <a:buFont typeface="+mj-lt"/>
              <a:buAutoNum type="arabicPeriod"/>
            </a:pPr>
            <a:r>
              <a:rPr lang="es-MX" dirty="0"/>
              <a:t>Puede ser el primer, último o un elemento aleatorio del arreglo.</a:t>
            </a:r>
          </a:p>
          <a:p>
            <a:pPr>
              <a:buFont typeface="+mj-lt"/>
              <a:buAutoNum type="arabicPeriod"/>
            </a:pPr>
            <a:r>
              <a:rPr lang="es-MX" b="1" dirty="0"/>
              <a:t>Divide el arreglo en dos partes:</a:t>
            </a:r>
            <a:endParaRPr lang="es-MX" dirty="0"/>
          </a:p>
          <a:p>
            <a:pPr marL="742950" lvl="1" indent="-285750">
              <a:buFont typeface="+mj-lt"/>
              <a:buAutoNum type="arabicPeriod"/>
            </a:pPr>
            <a:r>
              <a:rPr lang="es-MX" dirty="0"/>
              <a:t>Elementos </a:t>
            </a:r>
            <a:r>
              <a:rPr lang="es-MX" b="1" dirty="0"/>
              <a:t>menores que el pivote</a:t>
            </a:r>
            <a:r>
              <a:rPr lang="es-MX" dirty="0"/>
              <a:t> a la izquierda.</a:t>
            </a:r>
          </a:p>
          <a:p>
            <a:pPr marL="742950" lvl="1" indent="-285750">
              <a:buFont typeface="+mj-lt"/>
              <a:buAutoNum type="arabicPeriod"/>
            </a:pPr>
            <a:r>
              <a:rPr lang="es-MX" dirty="0"/>
              <a:t>Elementos </a:t>
            </a:r>
            <a:r>
              <a:rPr lang="es-MX" b="1" dirty="0"/>
              <a:t>mayores que el pivote</a:t>
            </a:r>
            <a:r>
              <a:rPr lang="es-MX" dirty="0"/>
              <a:t> a la derecha.</a:t>
            </a:r>
          </a:p>
          <a:p>
            <a:pPr>
              <a:buFont typeface="+mj-lt"/>
              <a:buAutoNum type="arabicPeriod"/>
            </a:pPr>
            <a:r>
              <a:rPr lang="es-MX" b="1" dirty="0"/>
              <a:t>Aplica Quicksort recursivamente</a:t>
            </a:r>
            <a:r>
              <a:rPr lang="es-MX" dirty="0"/>
              <a:t> a cada </a:t>
            </a:r>
            <a:r>
              <a:rPr lang="es-MX" dirty="0" err="1"/>
              <a:t>subarreglo</a:t>
            </a:r>
            <a:r>
              <a:rPr lang="es-MX" dirty="0"/>
              <a:t> (izquierda y derecha).</a:t>
            </a:r>
          </a:p>
          <a:p>
            <a:pPr marL="742950" lvl="1" indent="-285750">
              <a:buFont typeface="+mj-lt"/>
              <a:buAutoNum type="arabicPeriod"/>
            </a:pPr>
            <a:r>
              <a:rPr lang="es-MX" dirty="0"/>
              <a:t>Esto se hace hasta que cada </a:t>
            </a:r>
            <a:r>
              <a:rPr lang="es-MX" dirty="0" err="1"/>
              <a:t>subarreglo</a:t>
            </a:r>
            <a:r>
              <a:rPr lang="es-MX" dirty="0"/>
              <a:t> tenga solo un elemento o esté vacío.</a:t>
            </a:r>
          </a:p>
          <a:p>
            <a:pPr>
              <a:buFont typeface="+mj-lt"/>
              <a:buAutoNum type="arabicPeriod"/>
            </a:pPr>
            <a:r>
              <a:rPr lang="es-MX" b="1" dirty="0"/>
              <a:t>Al final</a:t>
            </a:r>
            <a:r>
              <a:rPr lang="es-MX" dirty="0"/>
              <a:t>, todos los elementos quedan </a:t>
            </a:r>
            <a:r>
              <a:rPr lang="es-MX" b="1" dirty="0"/>
              <a:t>ordenados alrededor de los pivotes sucesivos</a:t>
            </a:r>
            <a:r>
              <a:rPr lang="es-MX" dirty="0"/>
              <a:t>, formando el arreglo ordenado completo.</a:t>
            </a:r>
          </a:p>
        </p:txBody>
      </p:sp>
    </p:spTree>
    <p:extLst>
      <p:ext uri="{BB962C8B-B14F-4D97-AF65-F5344CB8AC3E}">
        <p14:creationId xmlns:p14="http://schemas.microsoft.com/office/powerpoint/2010/main" val="18641763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E935FD-0A21-3DD2-5E23-4BFB55049AE5}"/>
              </a:ext>
            </a:extLst>
          </p:cNvPr>
          <p:cNvSpPr>
            <a:spLocks noGrp="1"/>
          </p:cNvSpPr>
          <p:nvPr>
            <p:ph type="title"/>
          </p:nvPr>
        </p:nvSpPr>
        <p:spPr/>
        <p:txBody>
          <a:bodyPr/>
          <a:lstStyle/>
          <a:p>
            <a:r>
              <a:rPr lang="es-MX" dirty="0"/>
              <a:t>METODO DE ORDENAMIENTO: </a:t>
            </a:r>
            <a:r>
              <a:rPr lang="es-MX" dirty="0" err="1"/>
              <a:t>quicksort</a:t>
            </a:r>
            <a:endParaRPr lang="es-MX" dirty="0"/>
          </a:p>
        </p:txBody>
      </p:sp>
      <p:pic>
        <p:nvPicPr>
          <p:cNvPr id="5" name="Marcador de contenido 4">
            <a:extLst>
              <a:ext uri="{FF2B5EF4-FFF2-40B4-BE49-F238E27FC236}">
                <a16:creationId xmlns:a16="http://schemas.microsoft.com/office/drawing/2014/main" id="{C0035197-792A-DCE5-E755-18B721DBFE96}"/>
              </a:ext>
            </a:extLst>
          </p:cNvPr>
          <p:cNvPicPr>
            <a:picLocks noGrp="1" noChangeAspect="1"/>
          </p:cNvPicPr>
          <p:nvPr>
            <p:ph idx="1"/>
          </p:nvPr>
        </p:nvPicPr>
        <p:blipFill>
          <a:blip r:embed="rId2"/>
          <a:stretch>
            <a:fillRect/>
          </a:stretch>
        </p:blipFill>
        <p:spPr>
          <a:xfrm>
            <a:off x="6961818" y="1794312"/>
            <a:ext cx="4989730" cy="3558524"/>
          </a:xfrm>
        </p:spPr>
      </p:pic>
      <p:pic>
        <p:nvPicPr>
          <p:cNvPr id="7" name="Imagen 6">
            <a:extLst>
              <a:ext uri="{FF2B5EF4-FFF2-40B4-BE49-F238E27FC236}">
                <a16:creationId xmlns:a16="http://schemas.microsoft.com/office/drawing/2014/main" id="{5836BB6A-E5E7-246D-83AC-96933D73377B}"/>
              </a:ext>
            </a:extLst>
          </p:cNvPr>
          <p:cNvPicPr>
            <a:picLocks noChangeAspect="1"/>
          </p:cNvPicPr>
          <p:nvPr/>
        </p:nvPicPr>
        <p:blipFill>
          <a:blip r:embed="rId3"/>
          <a:stretch>
            <a:fillRect/>
          </a:stretch>
        </p:blipFill>
        <p:spPr>
          <a:xfrm>
            <a:off x="390418" y="1794312"/>
            <a:ext cx="6445763" cy="2211654"/>
          </a:xfrm>
          <a:prstGeom prst="rect">
            <a:avLst/>
          </a:prstGeom>
        </p:spPr>
      </p:pic>
    </p:spTree>
    <p:extLst>
      <p:ext uri="{BB962C8B-B14F-4D97-AF65-F5344CB8AC3E}">
        <p14:creationId xmlns:p14="http://schemas.microsoft.com/office/powerpoint/2010/main" val="99021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52FBB50-034D-129D-09F7-409E6BCD21E0}"/>
              </a:ext>
            </a:extLst>
          </p:cNvPr>
          <p:cNvSpPr>
            <a:spLocks noGrp="1"/>
          </p:cNvSpPr>
          <p:nvPr>
            <p:ph type="title"/>
          </p:nvPr>
        </p:nvSpPr>
        <p:spPr>
          <a:xfrm>
            <a:off x="913774" y="42216"/>
            <a:ext cx="10364451" cy="950973"/>
          </a:xfrm>
        </p:spPr>
        <p:txBody>
          <a:bodyPr/>
          <a:lstStyle/>
          <a:p>
            <a:r>
              <a:rPr lang="es-MX" dirty="0"/>
              <a:t>METODO DE ORDENAMIENTO: SHELLSORT</a:t>
            </a:r>
          </a:p>
        </p:txBody>
      </p:sp>
      <p:pic>
        <p:nvPicPr>
          <p:cNvPr id="5" name="Marcador de contenido 4">
            <a:extLst>
              <a:ext uri="{FF2B5EF4-FFF2-40B4-BE49-F238E27FC236}">
                <a16:creationId xmlns:a16="http://schemas.microsoft.com/office/drawing/2014/main" id="{C4DAA56E-AA96-C66D-F1AA-E093BBE7555F}"/>
              </a:ext>
            </a:extLst>
          </p:cNvPr>
          <p:cNvPicPr>
            <a:picLocks noGrp="1" noChangeAspect="1"/>
          </p:cNvPicPr>
          <p:nvPr>
            <p:ph idx="1"/>
          </p:nvPr>
        </p:nvPicPr>
        <p:blipFill>
          <a:blip r:embed="rId2"/>
          <a:stretch>
            <a:fillRect/>
          </a:stretch>
        </p:blipFill>
        <p:spPr>
          <a:xfrm>
            <a:off x="446303" y="993189"/>
            <a:ext cx="3799258" cy="4351338"/>
          </a:xfrm>
        </p:spPr>
      </p:pic>
      <p:pic>
        <p:nvPicPr>
          <p:cNvPr id="7" name="Imagen 6">
            <a:extLst>
              <a:ext uri="{FF2B5EF4-FFF2-40B4-BE49-F238E27FC236}">
                <a16:creationId xmlns:a16="http://schemas.microsoft.com/office/drawing/2014/main" id="{36D9E0B2-DBC9-098A-78D2-813F008EDAB4}"/>
              </a:ext>
            </a:extLst>
          </p:cNvPr>
          <p:cNvPicPr>
            <a:picLocks noChangeAspect="1"/>
          </p:cNvPicPr>
          <p:nvPr/>
        </p:nvPicPr>
        <p:blipFill>
          <a:blip r:embed="rId3"/>
          <a:stretch>
            <a:fillRect/>
          </a:stretch>
        </p:blipFill>
        <p:spPr>
          <a:xfrm>
            <a:off x="4503320" y="993189"/>
            <a:ext cx="3524165" cy="1695752"/>
          </a:xfrm>
          <a:prstGeom prst="rect">
            <a:avLst/>
          </a:prstGeom>
        </p:spPr>
      </p:pic>
      <p:sp>
        <p:nvSpPr>
          <p:cNvPr id="8" name="Rectangle 1">
            <a:extLst>
              <a:ext uri="{FF2B5EF4-FFF2-40B4-BE49-F238E27FC236}">
                <a16:creationId xmlns:a16="http://schemas.microsoft.com/office/drawing/2014/main" id="{1ECAE987-D7A9-EC72-3793-F776891367D3}"/>
              </a:ext>
            </a:extLst>
          </p:cNvPr>
          <p:cNvSpPr>
            <a:spLocks noChangeArrowheads="1"/>
          </p:cNvSpPr>
          <p:nvPr/>
        </p:nvSpPr>
        <p:spPr bwMode="auto">
          <a:xfrm>
            <a:off x="4636884" y="2688941"/>
            <a:ext cx="7555116" cy="43513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s-MX" altLang="es-MX" dirty="0"/>
              <a:t>Qué hace </a:t>
            </a:r>
            <a:r>
              <a:rPr lang="es-MX" altLang="es-MX" dirty="0" err="1"/>
              <a:t>Shellsort</a:t>
            </a:r>
            <a:r>
              <a:rPr lang="es-MX" altLang="es-MX" dirty="0"/>
              <a:t>:</a:t>
            </a:r>
          </a:p>
          <a:p>
            <a:pPr marL="0" marR="0" lvl="0" indent="0" algn="l" defTabSz="914400" rtl="0" eaLnBrk="0" fontAlgn="base" latinLnBrk="0" hangingPunct="0">
              <a:lnSpc>
                <a:spcPct val="100000"/>
              </a:lnSpc>
              <a:spcBef>
                <a:spcPct val="0"/>
              </a:spcBef>
              <a:spcAft>
                <a:spcPct val="0"/>
              </a:spcAft>
              <a:buClrTx/>
              <a:buSzTx/>
              <a:buFontTx/>
              <a:buAutoNum type="arabicPeriod"/>
              <a:tabLst/>
            </a:pPr>
            <a:r>
              <a:rPr lang="es-MX" altLang="es-MX" dirty="0"/>
              <a:t>Divide el arreglo en </a:t>
            </a:r>
            <a:r>
              <a:rPr lang="es-MX" altLang="es-MX" dirty="0" err="1"/>
              <a:t>subarreglos</a:t>
            </a:r>
            <a:r>
              <a:rPr lang="es-MX" altLang="es-MX" dirty="0"/>
              <a:t> usando un “gap” (brecha):</a:t>
            </a:r>
          </a:p>
          <a:p>
            <a:pPr marL="457200" marR="0" lvl="1" indent="0" algn="l" defTabSz="914400" rtl="0" eaLnBrk="0" fontAlgn="base" latinLnBrk="0" hangingPunct="0">
              <a:lnSpc>
                <a:spcPct val="100000"/>
              </a:lnSpc>
              <a:spcBef>
                <a:spcPct val="0"/>
              </a:spcBef>
              <a:spcAft>
                <a:spcPct val="0"/>
              </a:spcAft>
              <a:buClrTx/>
              <a:buSzTx/>
              <a:buFontTx/>
              <a:buChar char="•"/>
              <a:tabLst/>
            </a:pPr>
            <a:r>
              <a:rPr lang="es-MX" altLang="es-MX" dirty="0"/>
              <a:t>Se elige un valor gap mayor que 1 al inicio (por ejemplo, la mitad del tamaño del arreglo).</a:t>
            </a:r>
          </a:p>
          <a:p>
            <a:pPr marL="457200" marR="0" lvl="1" indent="0" algn="l" defTabSz="914400" rtl="0" eaLnBrk="0" fontAlgn="base" latinLnBrk="0" hangingPunct="0">
              <a:lnSpc>
                <a:spcPct val="100000"/>
              </a:lnSpc>
              <a:spcBef>
                <a:spcPct val="0"/>
              </a:spcBef>
              <a:spcAft>
                <a:spcPct val="0"/>
              </a:spcAft>
              <a:buClrTx/>
              <a:buSzTx/>
              <a:buFontTx/>
              <a:buChar char="•"/>
              <a:tabLst/>
            </a:pPr>
            <a:r>
              <a:rPr lang="es-MX" altLang="es-MX" dirty="0"/>
              <a:t>Se comparan y ordenan los elementos que están a gap posiciones de distancia.</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lang="es-MX" altLang="es-MX" dirty="0"/>
              <a:t>Reduce progresivamente el gap:</a:t>
            </a:r>
          </a:p>
          <a:p>
            <a:pPr marL="457200" marR="0" lvl="1" indent="0" algn="l" defTabSz="914400" rtl="0" eaLnBrk="0" fontAlgn="base" latinLnBrk="0" hangingPunct="0">
              <a:lnSpc>
                <a:spcPct val="100000"/>
              </a:lnSpc>
              <a:spcBef>
                <a:spcPct val="0"/>
              </a:spcBef>
              <a:spcAft>
                <a:spcPct val="0"/>
              </a:spcAft>
              <a:buClrTx/>
              <a:buSzTx/>
              <a:buFontTx/>
              <a:buChar char="•"/>
              <a:tabLst/>
            </a:pPr>
            <a:r>
              <a:rPr lang="es-MX" altLang="es-MX" dirty="0"/>
              <a:t>Después de ordenar con un gap grande, se reduce (por ejemplo, a la mitad) y se vuelve a ordenar.</a:t>
            </a:r>
          </a:p>
          <a:p>
            <a:pPr marL="457200" marR="0" lvl="1" indent="0" algn="l" defTabSz="914400" rtl="0" eaLnBrk="0" fontAlgn="base" latinLnBrk="0" hangingPunct="0">
              <a:lnSpc>
                <a:spcPct val="100000"/>
              </a:lnSpc>
              <a:spcBef>
                <a:spcPct val="0"/>
              </a:spcBef>
              <a:spcAft>
                <a:spcPct val="0"/>
              </a:spcAft>
              <a:buClrTx/>
              <a:buSzTx/>
              <a:buFontTx/>
              <a:buChar char="•"/>
              <a:tabLst/>
            </a:pPr>
            <a:r>
              <a:rPr lang="es-MX" altLang="es-MX" dirty="0"/>
              <a:t>Esto permite mover los elementos más rápidamente hacia su posición correcta.</a:t>
            </a: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lang="es-MX" altLang="es-MX" dirty="0"/>
              <a:t>Finalmente, gap = 1:</a:t>
            </a:r>
          </a:p>
          <a:p>
            <a:pPr marL="457200" marR="0" lvl="1" indent="0" algn="l" defTabSz="914400" rtl="0" eaLnBrk="0" fontAlgn="base" latinLnBrk="0" hangingPunct="0">
              <a:lnSpc>
                <a:spcPct val="100000"/>
              </a:lnSpc>
              <a:spcBef>
                <a:spcPct val="0"/>
              </a:spcBef>
              <a:spcAft>
                <a:spcPct val="0"/>
              </a:spcAft>
              <a:buClrTx/>
              <a:buSzTx/>
              <a:buFontTx/>
              <a:buChar char="•"/>
              <a:tabLst/>
            </a:pPr>
            <a:r>
              <a:rPr lang="es-MX" altLang="es-MX" dirty="0"/>
              <a:t>Esto equivale a un </a:t>
            </a:r>
            <a:r>
              <a:rPr lang="es-MX" altLang="es-MX" dirty="0" err="1"/>
              <a:t>insertion</a:t>
            </a:r>
            <a:r>
              <a:rPr lang="es-MX" altLang="es-MX" dirty="0"/>
              <a:t> </a:t>
            </a:r>
            <a:r>
              <a:rPr lang="es-MX" altLang="es-MX" dirty="0" err="1"/>
              <a:t>sort</a:t>
            </a:r>
            <a:r>
              <a:rPr lang="es-MX" altLang="es-MX" dirty="0"/>
              <a:t>, pero al estar casi ordenado, es mucho más rápido que aplicar </a:t>
            </a:r>
            <a:r>
              <a:rPr lang="es-MX" altLang="es-MX" dirty="0" err="1"/>
              <a:t>insertion</a:t>
            </a:r>
            <a:r>
              <a:rPr lang="es-MX" altLang="es-MX" dirty="0"/>
              <a:t> </a:t>
            </a:r>
            <a:r>
              <a:rPr lang="es-MX" altLang="es-MX" dirty="0" err="1"/>
              <a:t>sort</a:t>
            </a:r>
            <a:r>
              <a:rPr lang="es-MX" altLang="es-MX" dirty="0"/>
              <a:t> desde cero.</a:t>
            </a:r>
          </a:p>
          <a:p>
            <a:pPr marL="0" marR="0" lvl="0" indent="0" algn="l" defTabSz="914400" rtl="0" eaLnBrk="0" fontAlgn="base" latinLnBrk="0" hangingPunct="0">
              <a:lnSpc>
                <a:spcPct val="100000"/>
              </a:lnSpc>
              <a:spcBef>
                <a:spcPct val="0"/>
              </a:spcBef>
              <a:spcAft>
                <a:spcPct val="0"/>
              </a:spcAft>
              <a:buClrTx/>
              <a:buSzTx/>
              <a:buFontTx/>
              <a:buNone/>
              <a:tabLst/>
            </a:pPr>
            <a:endParaRPr lang="es-MX" altLang="es-MX" dirty="0"/>
          </a:p>
        </p:txBody>
      </p:sp>
    </p:spTree>
    <p:extLst>
      <p:ext uri="{BB962C8B-B14F-4D97-AF65-F5344CB8AC3E}">
        <p14:creationId xmlns:p14="http://schemas.microsoft.com/office/powerpoint/2010/main" val="29149158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66550D2-B02B-E9BC-207D-60C059ECA410}"/>
              </a:ext>
            </a:extLst>
          </p:cNvPr>
          <p:cNvSpPr>
            <a:spLocks noGrp="1"/>
          </p:cNvSpPr>
          <p:nvPr>
            <p:ph type="title"/>
          </p:nvPr>
        </p:nvSpPr>
        <p:spPr>
          <a:xfrm>
            <a:off x="1037065" y="390417"/>
            <a:ext cx="10364451" cy="704393"/>
          </a:xfrm>
        </p:spPr>
        <p:txBody>
          <a:bodyPr/>
          <a:lstStyle/>
          <a:p>
            <a:r>
              <a:rPr lang="es-MX" dirty="0"/>
              <a:t>RESULTADO</a:t>
            </a:r>
          </a:p>
        </p:txBody>
      </p:sp>
      <p:pic>
        <p:nvPicPr>
          <p:cNvPr id="5" name="Marcador de contenido 4">
            <a:extLst>
              <a:ext uri="{FF2B5EF4-FFF2-40B4-BE49-F238E27FC236}">
                <a16:creationId xmlns:a16="http://schemas.microsoft.com/office/drawing/2014/main" id="{44BD0278-1B3D-FA51-1075-2489FC7B5F0B}"/>
              </a:ext>
            </a:extLst>
          </p:cNvPr>
          <p:cNvPicPr>
            <a:picLocks noGrp="1" noChangeAspect="1"/>
          </p:cNvPicPr>
          <p:nvPr>
            <p:ph idx="1"/>
          </p:nvPr>
        </p:nvPicPr>
        <p:blipFill>
          <a:blip r:embed="rId2"/>
          <a:stretch>
            <a:fillRect/>
          </a:stretch>
        </p:blipFill>
        <p:spPr>
          <a:xfrm>
            <a:off x="7288051" y="1376737"/>
            <a:ext cx="4580708" cy="3503487"/>
          </a:xfrm>
        </p:spPr>
      </p:pic>
      <p:pic>
        <p:nvPicPr>
          <p:cNvPr id="7" name="Imagen 6">
            <a:extLst>
              <a:ext uri="{FF2B5EF4-FFF2-40B4-BE49-F238E27FC236}">
                <a16:creationId xmlns:a16="http://schemas.microsoft.com/office/drawing/2014/main" id="{6C3723DB-959F-8432-8722-38834D2DFF41}"/>
              </a:ext>
            </a:extLst>
          </p:cNvPr>
          <p:cNvPicPr>
            <a:picLocks noChangeAspect="1"/>
          </p:cNvPicPr>
          <p:nvPr/>
        </p:nvPicPr>
        <p:blipFill>
          <a:blip r:embed="rId3"/>
          <a:stretch>
            <a:fillRect/>
          </a:stretch>
        </p:blipFill>
        <p:spPr>
          <a:xfrm>
            <a:off x="323241" y="1376738"/>
            <a:ext cx="6781910" cy="3503487"/>
          </a:xfrm>
          <a:prstGeom prst="rect">
            <a:avLst/>
          </a:prstGeom>
        </p:spPr>
      </p:pic>
    </p:spTree>
    <p:extLst>
      <p:ext uri="{BB962C8B-B14F-4D97-AF65-F5344CB8AC3E}">
        <p14:creationId xmlns:p14="http://schemas.microsoft.com/office/powerpoint/2010/main" val="3466773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435417B-FEA0-A371-2AD7-66ACCD0B9700}"/>
              </a:ext>
            </a:extLst>
          </p:cNvPr>
          <p:cNvSpPr>
            <a:spLocks noGrp="1"/>
          </p:cNvSpPr>
          <p:nvPr>
            <p:ph type="title"/>
          </p:nvPr>
        </p:nvSpPr>
        <p:spPr>
          <a:xfrm>
            <a:off x="5034337" y="91033"/>
            <a:ext cx="6377453" cy="724941"/>
          </a:xfrm>
        </p:spPr>
        <p:txBody>
          <a:bodyPr/>
          <a:lstStyle/>
          <a:p>
            <a:r>
              <a:rPr lang="es-MX" dirty="0"/>
              <a:t>METODO DE RESULTADO: RADIX</a:t>
            </a:r>
          </a:p>
        </p:txBody>
      </p:sp>
      <p:pic>
        <p:nvPicPr>
          <p:cNvPr id="5" name="Marcador de contenido 4">
            <a:extLst>
              <a:ext uri="{FF2B5EF4-FFF2-40B4-BE49-F238E27FC236}">
                <a16:creationId xmlns:a16="http://schemas.microsoft.com/office/drawing/2014/main" id="{14A9FFB5-EC92-F6B0-95A3-66FD8C18E2A4}"/>
              </a:ext>
            </a:extLst>
          </p:cNvPr>
          <p:cNvPicPr>
            <a:picLocks noGrp="1" noChangeAspect="1"/>
          </p:cNvPicPr>
          <p:nvPr>
            <p:ph idx="1"/>
          </p:nvPr>
        </p:nvPicPr>
        <p:blipFill>
          <a:blip r:embed="rId2"/>
          <a:stretch>
            <a:fillRect/>
          </a:stretch>
        </p:blipFill>
        <p:spPr>
          <a:xfrm>
            <a:off x="343038" y="453503"/>
            <a:ext cx="4691298" cy="5353836"/>
          </a:xfrm>
        </p:spPr>
      </p:pic>
      <p:pic>
        <p:nvPicPr>
          <p:cNvPr id="7" name="Imagen 6">
            <a:extLst>
              <a:ext uri="{FF2B5EF4-FFF2-40B4-BE49-F238E27FC236}">
                <a16:creationId xmlns:a16="http://schemas.microsoft.com/office/drawing/2014/main" id="{D0361991-1ECA-183A-6E5F-9111FA1DB2A8}"/>
              </a:ext>
            </a:extLst>
          </p:cNvPr>
          <p:cNvPicPr>
            <a:picLocks noChangeAspect="1"/>
          </p:cNvPicPr>
          <p:nvPr/>
        </p:nvPicPr>
        <p:blipFill>
          <a:blip r:embed="rId3"/>
          <a:stretch>
            <a:fillRect/>
          </a:stretch>
        </p:blipFill>
        <p:spPr>
          <a:xfrm>
            <a:off x="5746971" y="3594595"/>
            <a:ext cx="4218962" cy="3167703"/>
          </a:xfrm>
          <a:prstGeom prst="rect">
            <a:avLst/>
          </a:prstGeom>
        </p:spPr>
      </p:pic>
      <p:sp>
        <p:nvSpPr>
          <p:cNvPr id="9" name="CuadroTexto 8">
            <a:extLst>
              <a:ext uri="{FF2B5EF4-FFF2-40B4-BE49-F238E27FC236}">
                <a16:creationId xmlns:a16="http://schemas.microsoft.com/office/drawing/2014/main" id="{A52CA951-5A13-D926-90E6-99C82E316BBC}"/>
              </a:ext>
            </a:extLst>
          </p:cNvPr>
          <p:cNvSpPr txBox="1"/>
          <p:nvPr/>
        </p:nvSpPr>
        <p:spPr>
          <a:xfrm>
            <a:off x="5174207" y="815974"/>
            <a:ext cx="6097712" cy="2585323"/>
          </a:xfrm>
          <a:prstGeom prst="rect">
            <a:avLst/>
          </a:prstGeom>
          <a:noFill/>
        </p:spPr>
        <p:txBody>
          <a:bodyPr wrap="square">
            <a:spAutoFit/>
          </a:bodyPr>
          <a:lstStyle/>
          <a:p>
            <a:r>
              <a:rPr lang="es-MX" b="1" dirty="0"/>
              <a:t>Qué hace </a:t>
            </a:r>
            <a:r>
              <a:rPr lang="es-MX" b="1" dirty="0" err="1"/>
              <a:t>Radix</a:t>
            </a:r>
            <a:r>
              <a:rPr lang="es-MX" b="1" dirty="0"/>
              <a:t> </a:t>
            </a:r>
            <a:r>
              <a:rPr lang="es-MX" b="1" dirty="0" err="1"/>
              <a:t>Sort</a:t>
            </a:r>
            <a:r>
              <a:rPr lang="es-MX" b="1" dirty="0"/>
              <a:t>:</a:t>
            </a:r>
          </a:p>
          <a:p>
            <a:pPr>
              <a:buFont typeface="+mj-lt"/>
              <a:buAutoNum type="arabicPeriod"/>
            </a:pPr>
            <a:r>
              <a:rPr lang="es-MX" b="1" dirty="0"/>
              <a:t>Identifica el número con más dígitos</a:t>
            </a:r>
            <a:r>
              <a:rPr lang="es-MX" dirty="0"/>
              <a:t> del arreglo.</a:t>
            </a:r>
          </a:p>
          <a:p>
            <a:pPr>
              <a:buFont typeface="+mj-lt"/>
              <a:buAutoNum type="arabicPeriod"/>
            </a:pPr>
            <a:r>
              <a:rPr lang="es-MX" b="1" dirty="0"/>
              <a:t>Ordena los elementos por cada dígito</a:t>
            </a:r>
            <a:r>
              <a:rPr lang="es-MX" dirty="0"/>
              <a:t>, empezando por el dígito menos significativo (el de las unidades).</a:t>
            </a:r>
          </a:p>
          <a:p>
            <a:pPr marL="742950" lvl="1" indent="-285750">
              <a:buFont typeface="+mj-lt"/>
              <a:buAutoNum type="arabicPeriod"/>
            </a:pPr>
            <a:r>
              <a:rPr lang="es-MX" dirty="0"/>
              <a:t>Se puede usar un algoritmo estable como </a:t>
            </a:r>
            <a:r>
              <a:rPr lang="es-MX" b="1" dirty="0" err="1"/>
              <a:t>counting</a:t>
            </a:r>
            <a:r>
              <a:rPr lang="es-MX" b="1" dirty="0"/>
              <a:t> </a:t>
            </a:r>
            <a:r>
              <a:rPr lang="es-MX" b="1" dirty="0" err="1"/>
              <a:t>sort</a:t>
            </a:r>
            <a:r>
              <a:rPr lang="es-MX" dirty="0"/>
              <a:t> para cada dígito.</a:t>
            </a:r>
          </a:p>
          <a:p>
            <a:pPr>
              <a:buFont typeface="+mj-lt"/>
              <a:buAutoNum type="arabicPeriod"/>
            </a:pPr>
            <a:r>
              <a:rPr lang="es-MX" b="1" dirty="0"/>
              <a:t>Repite el proceso para todos los dígitos</a:t>
            </a:r>
            <a:r>
              <a:rPr lang="es-MX" dirty="0"/>
              <a:t> hasta llegar al dígito más significativo.</a:t>
            </a:r>
          </a:p>
          <a:p>
            <a:pPr>
              <a:buFont typeface="+mj-lt"/>
              <a:buAutoNum type="arabicPeriod"/>
            </a:pPr>
            <a:r>
              <a:rPr lang="es-MX" dirty="0"/>
              <a:t>Al final, el arreglo queda completamente ordenado.</a:t>
            </a:r>
          </a:p>
        </p:txBody>
      </p:sp>
    </p:spTree>
    <p:extLst>
      <p:ext uri="{BB962C8B-B14F-4D97-AF65-F5344CB8AC3E}">
        <p14:creationId xmlns:p14="http://schemas.microsoft.com/office/powerpoint/2010/main" val="25213114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FB6CDD-4F9F-E10F-CC82-723B4281E19D}"/>
              </a:ext>
            </a:extLst>
          </p:cNvPr>
          <p:cNvSpPr>
            <a:spLocks noGrp="1"/>
          </p:cNvSpPr>
          <p:nvPr>
            <p:ph type="title"/>
          </p:nvPr>
        </p:nvSpPr>
        <p:spPr>
          <a:xfrm>
            <a:off x="729466" y="0"/>
            <a:ext cx="10364451" cy="1596177"/>
          </a:xfrm>
        </p:spPr>
        <p:txBody>
          <a:bodyPr/>
          <a:lstStyle/>
          <a:p>
            <a:r>
              <a:rPr lang="es-MX" dirty="0"/>
              <a:t>RESULTADO</a:t>
            </a:r>
          </a:p>
        </p:txBody>
      </p:sp>
      <p:pic>
        <p:nvPicPr>
          <p:cNvPr id="5" name="Marcador de contenido 4">
            <a:extLst>
              <a:ext uri="{FF2B5EF4-FFF2-40B4-BE49-F238E27FC236}">
                <a16:creationId xmlns:a16="http://schemas.microsoft.com/office/drawing/2014/main" id="{43885C90-FB52-B457-85F0-8D9A7C829888}"/>
              </a:ext>
            </a:extLst>
          </p:cNvPr>
          <p:cNvPicPr>
            <a:picLocks noGrp="1" noChangeAspect="1"/>
          </p:cNvPicPr>
          <p:nvPr>
            <p:ph idx="1"/>
          </p:nvPr>
        </p:nvPicPr>
        <p:blipFill>
          <a:blip r:embed="rId2"/>
          <a:stretch>
            <a:fillRect/>
          </a:stretch>
        </p:blipFill>
        <p:spPr>
          <a:xfrm>
            <a:off x="6456358" y="1397285"/>
            <a:ext cx="5405322" cy="3904180"/>
          </a:xfrm>
        </p:spPr>
      </p:pic>
      <p:pic>
        <p:nvPicPr>
          <p:cNvPr id="7" name="Imagen 6">
            <a:extLst>
              <a:ext uri="{FF2B5EF4-FFF2-40B4-BE49-F238E27FC236}">
                <a16:creationId xmlns:a16="http://schemas.microsoft.com/office/drawing/2014/main" id="{85E1570A-4259-68F3-BC4C-4952F8E6B205}"/>
              </a:ext>
            </a:extLst>
          </p:cNvPr>
          <p:cNvPicPr>
            <a:picLocks noChangeAspect="1"/>
          </p:cNvPicPr>
          <p:nvPr/>
        </p:nvPicPr>
        <p:blipFill>
          <a:blip r:embed="rId3"/>
          <a:stretch>
            <a:fillRect/>
          </a:stretch>
        </p:blipFill>
        <p:spPr>
          <a:xfrm>
            <a:off x="246580" y="1596177"/>
            <a:ext cx="6063376" cy="2757189"/>
          </a:xfrm>
          <a:prstGeom prst="rect">
            <a:avLst/>
          </a:prstGeom>
        </p:spPr>
      </p:pic>
    </p:spTree>
    <p:extLst>
      <p:ext uri="{BB962C8B-B14F-4D97-AF65-F5344CB8AC3E}">
        <p14:creationId xmlns:p14="http://schemas.microsoft.com/office/powerpoint/2010/main" val="25126966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C9F105-3DA2-65E9-5D56-F044EA0DE23B}"/>
              </a:ext>
            </a:extLst>
          </p:cNvPr>
          <p:cNvSpPr>
            <a:spLocks noGrp="1"/>
          </p:cNvSpPr>
          <p:nvPr>
            <p:ph type="title"/>
          </p:nvPr>
        </p:nvSpPr>
        <p:spPr/>
        <p:txBody>
          <a:bodyPr/>
          <a:lstStyle/>
          <a:p>
            <a:r>
              <a:rPr lang="es-MX" dirty="0"/>
              <a:t>Conclusión </a:t>
            </a:r>
          </a:p>
        </p:txBody>
      </p:sp>
      <p:sp>
        <p:nvSpPr>
          <p:cNvPr id="3" name="Marcador de contenido 2">
            <a:extLst>
              <a:ext uri="{FF2B5EF4-FFF2-40B4-BE49-F238E27FC236}">
                <a16:creationId xmlns:a16="http://schemas.microsoft.com/office/drawing/2014/main" id="{50D8CED9-3D32-FA18-49F8-0CB8EAE2B57F}"/>
              </a:ext>
            </a:extLst>
          </p:cNvPr>
          <p:cNvSpPr>
            <a:spLocks noGrp="1"/>
          </p:cNvSpPr>
          <p:nvPr>
            <p:ph idx="1"/>
          </p:nvPr>
        </p:nvSpPr>
        <p:spPr/>
        <p:txBody>
          <a:bodyPr>
            <a:normAutofit fontScale="92500"/>
          </a:bodyPr>
          <a:lstStyle/>
          <a:p>
            <a:pPr marL="0" indent="0" algn="just">
              <a:buNone/>
            </a:pPr>
            <a:r>
              <a:rPr lang="es-MX" dirty="0"/>
              <a:t>A través del desarrollo de los métodos de ordenamiento Burbuja, </a:t>
            </a:r>
            <a:r>
              <a:rPr lang="es-MX" dirty="0" err="1"/>
              <a:t>QuickSort</a:t>
            </a:r>
            <a:r>
              <a:rPr lang="es-MX" dirty="0"/>
              <a:t>, </a:t>
            </a:r>
            <a:r>
              <a:rPr lang="es-MX" dirty="0" err="1"/>
              <a:t>ShellSort</a:t>
            </a:r>
            <a:r>
              <a:rPr lang="es-MX" dirty="0"/>
              <a:t> y </a:t>
            </a:r>
            <a:r>
              <a:rPr lang="es-MX" dirty="0" err="1"/>
              <a:t>RadixSort</a:t>
            </a:r>
            <a:r>
              <a:rPr lang="es-MX" dirty="0"/>
              <a:t>, se logró reforzar el conocimiento sobre diferentes estrategias para organizar datos de manera eficiente. La práctica permitió observar las ventajas y limitaciones de cada algoritmo, así como su comportamiento en distintos escenarios.</a:t>
            </a:r>
            <a:br>
              <a:rPr lang="es-MX" dirty="0"/>
            </a:br>
            <a:r>
              <a:rPr lang="es-MX" dirty="0"/>
              <a:t>La integración de estos métodos en una aplicación con interfaz gráfica facilitó la visualización de los resultados y mejoró la comprensión del proceso de ordenamiento. En conjunto, estos ejercicios contribuyen a una mejor base en el estudio de estructuras de datos y algoritmos, habilidades esenciales en el desarrollo de software.</a:t>
            </a:r>
          </a:p>
        </p:txBody>
      </p:sp>
    </p:spTree>
    <p:extLst>
      <p:ext uri="{BB962C8B-B14F-4D97-AF65-F5344CB8AC3E}">
        <p14:creationId xmlns:p14="http://schemas.microsoft.com/office/powerpoint/2010/main" val="37684758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94C1CE-2108-2B77-1AD7-860D2B245286}"/>
              </a:ext>
            </a:extLst>
          </p:cNvPr>
          <p:cNvSpPr>
            <a:spLocks noGrp="1"/>
          </p:cNvSpPr>
          <p:nvPr>
            <p:ph type="title"/>
          </p:nvPr>
        </p:nvSpPr>
        <p:spPr/>
        <p:txBody>
          <a:bodyPr/>
          <a:lstStyle/>
          <a:p>
            <a:r>
              <a:rPr lang="es-MX" dirty="0"/>
              <a:t>Anexo Link de los ejercicios solicitados en </a:t>
            </a:r>
            <a:r>
              <a:rPr lang="es-MX" dirty="0" err="1"/>
              <a:t>intelji</a:t>
            </a:r>
            <a:r>
              <a:rPr lang="es-MX" dirty="0"/>
              <a:t> y enviados en GitHub:</a:t>
            </a:r>
          </a:p>
        </p:txBody>
      </p:sp>
      <p:sp>
        <p:nvSpPr>
          <p:cNvPr id="3" name="Marcador de contenido 2">
            <a:extLst>
              <a:ext uri="{FF2B5EF4-FFF2-40B4-BE49-F238E27FC236}">
                <a16:creationId xmlns:a16="http://schemas.microsoft.com/office/drawing/2014/main" id="{4170214D-2143-4A6B-6023-C4413BDB40F3}"/>
              </a:ext>
            </a:extLst>
          </p:cNvPr>
          <p:cNvSpPr>
            <a:spLocks noGrp="1"/>
          </p:cNvSpPr>
          <p:nvPr>
            <p:ph idx="1"/>
          </p:nvPr>
        </p:nvSpPr>
        <p:spPr>
          <a:xfrm>
            <a:off x="838200" y="2214694"/>
            <a:ext cx="10515600" cy="948397"/>
          </a:xfrm>
        </p:spPr>
        <p:txBody>
          <a:bodyPr/>
          <a:lstStyle/>
          <a:p>
            <a:pPr marL="0" indent="0">
              <a:buNone/>
            </a:pPr>
            <a:r>
              <a:rPr lang="es-MX" dirty="0">
                <a:hlinkClick r:id="rId2">
                  <a:extLst>
                    <a:ext uri="{A12FA001-AC4F-418D-AE19-62706E023703}">
                      <ahyp:hlinkClr xmlns:ahyp="http://schemas.microsoft.com/office/drawing/2018/hyperlinkcolor" val="tx"/>
                    </a:ext>
                  </a:extLst>
                </a:hlinkClick>
              </a:rPr>
              <a:t>https://github.com/Cynthia21Morales/EstructuraDeDatos_CynthiaJasmineMT/tree/main/ED-Tema-5/Codigos-Metodos-de-Ordenamiento</a:t>
            </a:r>
          </a:p>
        </p:txBody>
      </p:sp>
    </p:spTree>
    <p:extLst>
      <p:ext uri="{BB962C8B-B14F-4D97-AF65-F5344CB8AC3E}">
        <p14:creationId xmlns:p14="http://schemas.microsoft.com/office/powerpoint/2010/main" val="4086972544"/>
      </p:ext>
    </p:extLst>
  </p:cSld>
  <p:clrMapOvr>
    <a:masterClrMapping/>
  </p:clrMapOvr>
</p:sld>
</file>

<file path=ppt/theme/theme1.xml><?xml version="1.0" encoding="utf-8"?>
<a:theme xmlns:a="http://schemas.openxmlformats.org/drawingml/2006/main" name="Gota">
  <a:themeElements>
    <a:clrScheme name="Gota">
      <a:dk1>
        <a:sysClr val="windowText" lastClr="000000"/>
      </a:dk1>
      <a:lt1>
        <a:sysClr val="window" lastClr="FFFFFF"/>
      </a:lt1>
      <a:dk2>
        <a:srgbClr val="27537E"/>
      </a:dk2>
      <a:lt2>
        <a:srgbClr val="AABED7"/>
      </a:lt2>
      <a:accent1>
        <a:srgbClr val="E34B7A"/>
      </a:accent1>
      <a:accent2>
        <a:srgbClr val="AC339A"/>
      </a:accent2>
      <a:accent3>
        <a:srgbClr val="6953B7"/>
      </a:accent3>
      <a:accent4>
        <a:srgbClr val="1D7EAB"/>
      </a:accent4>
      <a:accent5>
        <a:srgbClr val="43AFD6"/>
      </a:accent5>
      <a:accent6>
        <a:srgbClr val="DE85E1"/>
      </a:accent6>
      <a:hlink>
        <a:srgbClr val="ED87A6"/>
      </a:hlink>
      <a:folHlink>
        <a:srgbClr val="C99EAC"/>
      </a:folHlink>
    </a:clrScheme>
    <a:fontScheme name="Gota">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ota">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78000"/>
                <a:shade val="100000"/>
                <a:hueMod val="136000"/>
                <a:satMod val="160000"/>
                <a:lumMod val="105000"/>
              </a:schemeClr>
            </a:gs>
            <a:gs pos="100000">
              <a:schemeClr val="phClr">
                <a:shade val="92000"/>
                <a:satMod val="170000"/>
                <a:lumMod val="96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C71B277C-C29A-4BA0-A7BA-43502DF21AB3}"/>
    </a:ext>
  </a:extLst>
</a:theme>
</file>

<file path=docProps/app.xml><?xml version="1.0" encoding="utf-8"?>
<Properties xmlns="http://schemas.openxmlformats.org/officeDocument/2006/extended-properties" xmlns:vt="http://schemas.openxmlformats.org/officeDocument/2006/docPropsVTypes">
  <Template>Gota</Template>
  <TotalTime>56</TotalTime>
  <Words>881</Words>
  <Application>Microsoft Office PowerPoint</Application>
  <PresentationFormat>Panorámica</PresentationFormat>
  <Paragraphs>68</Paragraphs>
  <Slides>13</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13</vt:i4>
      </vt:variant>
    </vt:vector>
  </HeadingPairs>
  <TitlesOfParts>
    <vt:vector size="17" baseType="lpstr">
      <vt:lpstr>Arial</vt:lpstr>
      <vt:lpstr>Century Gothic</vt:lpstr>
      <vt:lpstr>Tw Cen MT</vt:lpstr>
      <vt:lpstr>Gota</vt:lpstr>
      <vt:lpstr>Presentación de PowerPoint</vt:lpstr>
      <vt:lpstr>Introducción </vt:lpstr>
      <vt:lpstr>Justificación </vt:lpstr>
      <vt:lpstr>METODO DE ORDENAMIENTO: BURBUJA</vt:lpstr>
      <vt:lpstr>Resultado </vt:lpstr>
      <vt:lpstr>METODO DE ORDENAMIENTO: quicksort</vt:lpstr>
      <vt:lpstr>METODO DE ORDENAMIENTO: quicksort</vt:lpstr>
      <vt:lpstr>METODO DE ORDENAMIENTO: SHELLSORT</vt:lpstr>
      <vt:lpstr>RESULTADO</vt:lpstr>
      <vt:lpstr>METODO DE RESULTADO: RADIX</vt:lpstr>
      <vt:lpstr>RESULTADO</vt:lpstr>
      <vt:lpstr>Conclusión </vt:lpstr>
      <vt:lpstr>Anexo Link de los ejercicios solicitados en intelji y enviados en GitHub: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 840 G5</dc:creator>
  <cp:lastModifiedBy>HP 840 G5</cp:lastModifiedBy>
  <cp:revision>1</cp:revision>
  <dcterms:created xsi:type="dcterms:W3CDTF">2025-12-13T20:33:50Z</dcterms:created>
  <dcterms:modified xsi:type="dcterms:W3CDTF">2025-12-13T21:30:14Z</dcterms:modified>
</cp:coreProperties>
</file>