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sldIdLst>
    <p:sldId id="256" r:id="rId2"/>
    <p:sldId id="266" r:id="rId3"/>
    <p:sldId id="267" r:id="rId4"/>
    <p:sldId id="269" r:id="rId5"/>
    <p:sldId id="270" r:id="rId6"/>
    <p:sldId id="268" r:id="rId7"/>
    <p:sldId id="265"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B08D493-0876-49E4-8F8E-E497F96ECC77}"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3514923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B08D493-0876-49E4-8F8E-E497F96ECC77}"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2074115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08D493-0876-49E4-8F8E-E497F96ECC77}"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763439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B08D493-0876-49E4-8F8E-E497F96ECC77}"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359208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B08D493-0876-49E4-8F8E-E497F96ECC77}" type="datetimeFigureOut">
              <a:rPr lang="es-MX" smtClean="0"/>
              <a:t>14/12/2025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3610787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B08D493-0876-49E4-8F8E-E497F96ECC77}" type="datetimeFigureOut">
              <a:rPr lang="es-MX" smtClean="0"/>
              <a:t>14/12/2025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981479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2B08D493-0876-49E4-8F8E-E497F96ECC77}" type="datetimeFigureOut">
              <a:rPr lang="es-MX" smtClean="0"/>
              <a:t>14/12/2025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2369159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08D493-0876-49E4-8F8E-E497F96ECC77}"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3468650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08D493-0876-49E4-8F8E-E497F96ECC77}"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606643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08D493-0876-49E4-8F8E-E497F96ECC77}"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223031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08D493-0876-49E4-8F8E-E497F96ECC77}"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3097146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08D493-0876-49E4-8F8E-E497F96ECC77}"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0D0899-484C-4719-B9A3-49CAAD2A242B}"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88373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B08D493-0876-49E4-8F8E-E497F96ECC77}"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1865081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2B08D493-0876-49E4-8F8E-E497F96ECC77}" type="datetimeFigureOut">
              <a:rPr lang="es-MX" smtClean="0"/>
              <a:t>14/12/2025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20976952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2B08D493-0876-49E4-8F8E-E497F96ECC77}" type="datetimeFigureOut">
              <a:rPr lang="es-MX" smtClean="0"/>
              <a:t>14/12/2025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2691485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B08D493-0876-49E4-8F8E-E497F96ECC77}"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1709262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B08D493-0876-49E4-8F8E-E497F96ECC77}"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4117815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0C454A-8A85-C58F-DAE4-A784FE81048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FF5E3E1-CE5C-4821-A20C-EC10AA34E2B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87015CD-BEF1-FC56-22ED-F504E5FE989E}"/>
              </a:ext>
            </a:extLst>
          </p:cNvPr>
          <p:cNvSpPr>
            <a:spLocks noGrp="1"/>
          </p:cNvSpPr>
          <p:nvPr>
            <p:ph type="dt" sz="half" idx="10"/>
          </p:nvPr>
        </p:nvSpPr>
        <p:spPr/>
        <p:txBody>
          <a:bodyPr/>
          <a:lstStyle/>
          <a:p>
            <a:fld id="{2B08D493-0876-49E4-8F8E-E497F96ECC77}" type="datetimeFigureOut">
              <a:rPr lang="es-MX" smtClean="0"/>
              <a:t>14/12/2025</a:t>
            </a:fld>
            <a:endParaRPr lang="es-MX"/>
          </a:p>
        </p:txBody>
      </p:sp>
      <p:sp>
        <p:nvSpPr>
          <p:cNvPr id="5" name="Marcador de pie de página 4">
            <a:extLst>
              <a:ext uri="{FF2B5EF4-FFF2-40B4-BE49-F238E27FC236}">
                <a16:creationId xmlns:a16="http://schemas.microsoft.com/office/drawing/2014/main" id="{F1B7A6D9-AFDC-E7E1-EF3D-80B5566FE4B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CD508BB-F3B6-3B35-424D-2E5DDA217A9C}"/>
              </a:ext>
            </a:extLst>
          </p:cNvPr>
          <p:cNvSpPr>
            <a:spLocks noGrp="1"/>
          </p:cNvSpPr>
          <p:nvPr>
            <p:ph type="sldNum" sz="quarter" idx="12"/>
          </p:nvPr>
        </p:nvSpPr>
        <p:spPr/>
        <p:txBody>
          <a:bodyPr/>
          <a:lstStyle/>
          <a:p>
            <a:fld id="{CD0D0899-484C-4719-B9A3-49CAAD2A242B}" type="slidenum">
              <a:rPr lang="es-MX" smtClean="0"/>
              <a:t>‹Nº›</a:t>
            </a:fld>
            <a:endParaRPr lang="es-MX"/>
          </a:p>
        </p:txBody>
      </p:sp>
    </p:spTree>
    <p:extLst>
      <p:ext uri="{BB962C8B-B14F-4D97-AF65-F5344CB8AC3E}">
        <p14:creationId xmlns:p14="http://schemas.microsoft.com/office/powerpoint/2010/main" val="3276707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2B08D493-0876-49E4-8F8E-E497F96ECC77}" type="datetimeFigureOut">
              <a:rPr lang="es-MX" smtClean="0"/>
              <a:t>14/12/2025</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D0D0899-484C-4719-B9A3-49CAAD2A242B}" type="slidenum">
              <a:rPr lang="es-MX" smtClean="0"/>
              <a:t>‹Nº›</a:t>
            </a:fld>
            <a:endParaRPr lang="es-MX"/>
          </a:p>
        </p:txBody>
      </p:sp>
    </p:spTree>
    <p:extLst>
      <p:ext uri="{BB962C8B-B14F-4D97-AF65-F5344CB8AC3E}">
        <p14:creationId xmlns:p14="http://schemas.microsoft.com/office/powerpoint/2010/main" val="285841836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Cynthia21Morales/EstructuraDeDatos_CynthiaJasmineMT/tree/main/ED-Tema-5/Codigos-Metodos-de-Ordenamiento"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F3B4DBD5-A783-B9FF-12DC-80C104CF8585}"/>
              </a:ext>
            </a:extLst>
          </p:cNvPr>
          <p:cNvSpPr txBox="1"/>
          <p:nvPr/>
        </p:nvSpPr>
        <p:spPr>
          <a:xfrm>
            <a:off x="3073400" y="863472"/>
            <a:ext cx="6045200" cy="5504327"/>
          </a:xfrm>
          <a:prstGeom prst="rect">
            <a:avLst/>
          </a:prstGeom>
        </p:spPr>
        <p:txBody>
          <a:bodyPr wrap="square" lIns="0" tIns="0" rIns="0" bIns="0" rtlCol="0" anchor="t">
            <a:spAutoFit/>
          </a:bodyPr>
          <a:lstStyle/>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Instituto </a:t>
            </a:r>
            <a:r>
              <a:rPr lang="en-US" sz="1200" b="1" dirty="0" err="1">
                <a:solidFill>
                  <a:srgbClr val="000000"/>
                </a:solidFill>
                <a:latin typeface="Century Gothic" panose="020B0502020202020204" pitchFamily="34" charset="0"/>
                <a:ea typeface="Glacial Indifference"/>
                <a:cs typeface="Glacial Indifference"/>
                <a:sym typeface="Glacial Indifference"/>
              </a:rPr>
              <a:t>Tecnológico</a:t>
            </a:r>
            <a:r>
              <a:rPr lang="en-US" sz="1200" b="1" dirty="0">
                <a:solidFill>
                  <a:srgbClr val="000000"/>
                </a:solidFill>
                <a:latin typeface="Century Gothic" panose="020B0502020202020204" pitchFamily="34" charset="0"/>
                <a:ea typeface="Glacial Indifference"/>
                <a:cs typeface="Glacial Indifference"/>
                <a:sym typeface="Glacial Indifference"/>
              </a:rPr>
              <a:t> de Frontera </a:t>
            </a:r>
            <a:r>
              <a:rPr lang="en-US" sz="1200" b="1" dirty="0" err="1">
                <a:solidFill>
                  <a:srgbClr val="000000"/>
                </a:solidFill>
                <a:latin typeface="Century Gothic" panose="020B0502020202020204" pitchFamily="34" charset="0"/>
                <a:ea typeface="Glacial Indifference"/>
                <a:cs typeface="Glacial Indifference"/>
                <a:sym typeface="Glacial Indifference"/>
              </a:rPr>
              <a:t>Comalapa</a:t>
            </a: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Modalidad</a:t>
            </a:r>
            <a:r>
              <a:rPr lang="en-US" sz="1200" b="1" dirty="0">
                <a:solidFill>
                  <a:srgbClr val="000000"/>
                </a:solidFill>
                <a:latin typeface="Century Gothic" panose="020B0502020202020204" pitchFamily="34" charset="0"/>
                <a:ea typeface="Glacial Indifference"/>
                <a:cs typeface="Glacial Indifference"/>
                <a:sym typeface="Glacial Indifference"/>
              </a:rPr>
              <a:t> Mixta</a:t>
            </a:r>
          </a:p>
          <a:p>
            <a:pPr algn="ctr">
              <a:lnSpc>
                <a:spcPct val="150000"/>
              </a:lnSpc>
              <a:spcBef>
                <a:spcPct val="0"/>
              </a:spcBef>
            </a:pP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Materia:</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Estructura</a:t>
            </a:r>
            <a:r>
              <a:rPr lang="en-US" sz="1200" b="1" dirty="0">
                <a:solidFill>
                  <a:srgbClr val="000000"/>
                </a:solidFill>
                <a:latin typeface="Century Gothic" panose="020B0502020202020204" pitchFamily="34" charset="0"/>
                <a:ea typeface="Glacial Indifference"/>
                <a:cs typeface="Glacial Indifference"/>
                <a:sym typeface="Glacial Indifference"/>
              </a:rPr>
              <a:t> de Datos</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Semestre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Quinto </a:t>
            </a:r>
            <a:r>
              <a:rPr lang="en-US" sz="1200" b="1" dirty="0" err="1">
                <a:solidFill>
                  <a:srgbClr val="000000"/>
                </a:solidFill>
                <a:latin typeface="Century Gothic" panose="020B0502020202020204" pitchFamily="34" charset="0"/>
                <a:ea typeface="Glacial Indifference"/>
                <a:cs typeface="Glacial Indifference"/>
                <a:sym typeface="Glacial Indifference"/>
              </a:rPr>
              <a:t>semestre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Especialidad</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Ingeniería </a:t>
            </a:r>
            <a:r>
              <a:rPr lang="en-US" sz="1200" b="1" dirty="0" err="1">
                <a:solidFill>
                  <a:srgbClr val="000000"/>
                </a:solidFill>
                <a:latin typeface="Century Gothic" panose="020B0502020202020204" pitchFamily="34" charset="0"/>
                <a:ea typeface="Glacial Indifference"/>
                <a:cs typeface="Glacial Indifference"/>
                <a:sym typeface="Glacial Indifference"/>
              </a:rPr>
              <a:t>en</a:t>
            </a:r>
            <a:r>
              <a:rPr lang="en-US" sz="1200" b="1" dirty="0">
                <a:solidFill>
                  <a:srgbClr val="000000"/>
                </a:solidFill>
                <a:latin typeface="Century Gothic" panose="020B0502020202020204" pitchFamily="34" charset="0"/>
                <a:ea typeface="Glacial Indifference"/>
                <a:cs typeface="Glacial Indifference"/>
                <a:sym typeface="Glacial Indifference"/>
              </a:rPr>
              <a:t> Sistemas </a:t>
            </a:r>
            <a:r>
              <a:rPr lang="en-US" sz="1200" b="1" dirty="0" err="1">
                <a:solidFill>
                  <a:srgbClr val="000000"/>
                </a:solidFill>
                <a:latin typeface="Century Gothic" panose="020B0502020202020204" pitchFamily="34" charset="0"/>
                <a:ea typeface="Glacial Indifference"/>
                <a:cs typeface="Glacial Indifference"/>
                <a:sym typeface="Glacial Indifference"/>
              </a:rPr>
              <a:t>Computacionales</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Numero</a:t>
            </a:r>
            <a:r>
              <a:rPr lang="en-US" sz="1200" b="1" dirty="0">
                <a:solidFill>
                  <a:srgbClr val="000000"/>
                </a:solidFill>
                <a:latin typeface="Century Gothic" panose="020B0502020202020204" pitchFamily="34" charset="0"/>
                <a:ea typeface="Glacial Indifference"/>
                <a:cs typeface="Glacial Indifference"/>
                <a:sym typeface="Glacial Indifference"/>
              </a:rPr>
              <a:t> de control:</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231260014</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alumno</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Cynthia Jasmine Morales Torres</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docente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Ing. Francisco Javier Mingo Velazquez</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trabajo</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5.3 </a:t>
            </a:r>
            <a:r>
              <a:rPr lang="en-US" sz="1200" b="1" dirty="0" err="1">
                <a:solidFill>
                  <a:srgbClr val="000000"/>
                </a:solidFill>
                <a:latin typeface="Century Gothic" panose="020B0502020202020204" pitchFamily="34" charset="0"/>
                <a:ea typeface="Glacial Indifference"/>
                <a:cs typeface="Glacial Indifference"/>
                <a:sym typeface="Glacial Indifference"/>
              </a:rPr>
              <a:t>Ejercicios</a:t>
            </a:r>
            <a:r>
              <a:rPr lang="en-US" sz="1200" b="1" dirty="0">
                <a:solidFill>
                  <a:srgbClr val="000000"/>
                </a:solidFill>
                <a:latin typeface="Century Gothic" panose="020B0502020202020204" pitchFamily="34" charset="0"/>
                <a:ea typeface="Glacial Indifference"/>
                <a:cs typeface="Glacial Indifference"/>
                <a:sym typeface="Glacial Indifference"/>
              </a:rPr>
              <a:t> </a:t>
            </a:r>
            <a:r>
              <a:rPr lang="en-US" sz="1200" b="1" dirty="0" err="1">
                <a:solidFill>
                  <a:srgbClr val="000000"/>
                </a:solidFill>
                <a:latin typeface="Century Gothic" panose="020B0502020202020204" pitchFamily="34" charset="0"/>
                <a:ea typeface="Glacial Indifference"/>
                <a:cs typeface="Glacial Indifference"/>
                <a:sym typeface="Glacial Indifference"/>
              </a:rPr>
              <a:t>burbujas</a:t>
            </a:r>
            <a:r>
              <a:rPr lang="en-US" sz="1200" b="1" dirty="0">
                <a:solidFill>
                  <a:srgbClr val="000000"/>
                </a:solidFill>
                <a:latin typeface="Century Gothic" panose="020B0502020202020204" pitchFamily="34" charset="0"/>
                <a:ea typeface="Glacial Indifference"/>
                <a:cs typeface="Glacial Indifference"/>
                <a:sym typeface="Glacial Indifference"/>
              </a:rPr>
              <a:t>, quicksort, </a:t>
            </a:r>
            <a:r>
              <a:rPr lang="en-US" sz="1200" b="1" dirty="0" err="1">
                <a:solidFill>
                  <a:srgbClr val="000000"/>
                </a:solidFill>
                <a:latin typeface="Century Gothic" panose="020B0502020202020204" pitchFamily="34" charset="0"/>
                <a:ea typeface="Glacial Indifference"/>
                <a:cs typeface="Glacial Indifference"/>
                <a:sym typeface="Glacial Indifference"/>
              </a:rPr>
              <a:t>shellsort</a:t>
            </a:r>
            <a:r>
              <a:rPr lang="en-US" sz="1200" b="1" dirty="0">
                <a:solidFill>
                  <a:srgbClr val="000000"/>
                </a:solidFill>
                <a:latin typeface="Century Gothic" panose="020B0502020202020204" pitchFamily="34" charset="0"/>
                <a:ea typeface="Glacial Indifference"/>
                <a:cs typeface="Glacial Indifference"/>
                <a:sym typeface="Glacial Indifference"/>
              </a:rPr>
              <a:t>, radix</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Fecha</a:t>
            </a:r>
            <a:r>
              <a:rPr lang="en-US" sz="1200" b="1" dirty="0">
                <a:solidFill>
                  <a:srgbClr val="000000"/>
                </a:solidFill>
                <a:latin typeface="Century Gothic" panose="020B0502020202020204" pitchFamily="34" charset="0"/>
                <a:ea typeface="Glacial Indifference"/>
                <a:cs typeface="Glacial Indifference"/>
                <a:sym typeface="Glacial Indifference"/>
              </a:rPr>
              <a:t> de </a:t>
            </a:r>
            <a:r>
              <a:rPr lang="en-US" sz="1200" b="1" dirty="0" err="1">
                <a:solidFill>
                  <a:srgbClr val="000000"/>
                </a:solidFill>
                <a:latin typeface="Century Gothic" panose="020B0502020202020204" pitchFamily="34" charset="0"/>
                <a:ea typeface="Glacial Indifference"/>
                <a:cs typeface="Glacial Indifference"/>
                <a:sym typeface="Glacial Indifference"/>
              </a:rPr>
              <a:t>entrega</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Frontera </a:t>
            </a:r>
            <a:r>
              <a:rPr lang="en-US" sz="1200" b="1" dirty="0" err="1">
                <a:solidFill>
                  <a:srgbClr val="000000"/>
                </a:solidFill>
                <a:latin typeface="Century Gothic" panose="020B0502020202020204" pitchFamily="34" charset="0"/>
                <a:ea typeface="Glacial Indifference"/>
                <a:cs typeface="Glacial Indifference"/>
                <a:sym typeface="Glacial Indifference"/>
              </a:rPr>
              <a:t>Comalapa</a:t>
            </a:r>
            <a:r>
              <a:rPr lang="en-US" sz="1200" b="1" dirty="0">
                <a:solidFill>
                  <a:srgbClr val="000000"/>
                </a:solidFill>
                <a:latin typeface="Century Gothic" panose="020B0502020202020204" pitchFamily="34" charset="0"/>
                <a:ea typeface="Glacial Indifference"/>
                <a:cs typeface="Glacial Indifference"/>
                <a:sym typeface="Glacial Indifference"/>
              </a:rPr>
              <a:t>, Chiapas. A 13 de </a:t>
            </a:r>
            <a:r>
              <a:rPr lang="en-US" sz="1200" b="1" dirty="0" err="1">
                <a:solidFill>
                  <a:srgbClr val="000000"/>
                </a:solidFill>
                <a:latin typeface="Century Gothic" panose="020B0502020202020204" pitchFamily="34" charset="0"/>
                <a:ea typeface="Glacial Indifference"/>
                <a:cs typeface="Glacial Indifference"/>
                <a:sym typeface="Glacial Indifference"/>
              </a:rPr>
              <a:t>diciembre</a:t>
            </a:r>
            <a:r>
              <a:rPr lang="en-US" sz="1200" b="1" dirty="0">
                <a:solidFill>
                  <a:srgbClr val="000000"/>
                </a:solidFill>
                <a:latin typeface="Century Gothic" panose="020B0502020202020204" pitchFamily="34" charset="0"/>
                <a:ea typeface="Glacial Indifference"/>
                <a:cs typeface="Glacial Indifference"/>
                <a:sym typeface="Glacial Indifference"/>
              </a:rPr>
              <a:t> de 2025</a:t>
            </a:r>
          </a:p>
        </p:txBody>
      </p:sp>
      <p:sp>
        <p:nvSpPr>
          <p:cNvPr id="5" name="Freeform 3">
            <a:extLst>
              <a:ext uri="{FF2B5EF4-FFF2-40B4-BE49-F238E27FC236}">
                <a16:creationId xmlns:a16="http://schemas.microsoft.com/office/drawing/2014/main" id="{3B1EC564-151A-EE0B-1D1C-5592335418DB}"/>
              </a:ext>
            </a:extLst>
          </p:cNvPr>
          <p:cNvSpPr/>
          <p:nvPr/>
        </p:nvSpPr>
        <p:spPr>
          <a:xfrm>
            <a:off x="1835071" y="130506"/>
            <a:ext cx="1985447" cy="917245"/>
          </a:xfrm>
          <a:custGeom>
            <a:avLst/>
            <a:gdLst/>
            <a:ahLst/>
            <a:cxnLst/>
            <a:rect l="l" t="t" r="r" b="b"/>
            <a:pathLst>
              <a:path w="3135296" h="1339792">
                <a:moveTo>
                  <a:pt x="0" y="0"/>
                </a:moveTo>
                <a:lnTo>
                  <a:pt x="3135296" y="0"/>
                </a:lnTo>
                <a:lnTo>
                  <a:pt x="3135296" y="1339792"/>
                </a:lnTo>
                <a:lnTo>
                  <a:pt x="0" y="1339792"/>
                </a:lnTo>
                <a:lnTo>
                  <a:pt x="0" y="0"/>
                </a:lnTo>
                <a:close/>
              </a:path>
            </a:pathLst>
          </a:custGeom>
          <a:blipFill>
            <a:blip r:embed="rId2"/>
            <a:stretch>
              <a:fillRect/>
            </a:stretch>
          </a:blipFill>
        </p:spPr>
      </p:sp>
      <p:sp>
        <p:nvSpPr>
          <p:cNvPr id="6" name="Freeform 4">
            <a:extLst>
              <a:ext uri="{FF2B5EF4-FFF2-40B4-BE49-F238E27FC236}">
                <a16:creationId xmlns:a16="http://schemas.microsoft.com/office/drawing/2014/main" id="{B82FEB0E-D32C-4483-F031-7291BA70841F}"/>
              </a:ext>
            </a:extLst>
          </p:cNvPr>
          <p:cNvSpPr/>
          <p:nvPr/>
        </p:nvSpPr>
        <p:spPr>
          <a:xfrm>
            <a:off x="8907659" y="203069"/>
            <a:ext cx="1385614" cy="844682"/>
          </a:xfrm>
          <a:custGeom>
            <a:avLst/>
            <a:gdLst/>
            <a:ahLst/>
            <a:cxnLst/>
            <a:rect l="l" t="t" r="r" b="b"/>
            <a:pathLst>
              <a:path w="2019078" h="1652713">
                <a:moveTo>
                  <a:pt x="0" y="0"/>
                </a:moveTo>
                <a:lnTo>
                  <a:pt x="2019078" y="0"/>
                </a:lnTo>
                <a:lnTo>
                  <a:pt x="2019078" y="1652713"/>
                </a:lnTo>
                <a:lnTo>
                  <a:pt x="0" y="1652713"/>
                </a:lnTo>
                <a:lnTo>
                  <a:pt x="0" y="0"/>
                </a:lnTo>
                <a:close/>
              </a:path>
            </a:pathLst>
          </a:custGeom>
          <a:blipFill>
            <a:blip r:embed="rId3"/>
            <a:stretch>
              <a:fillRect/>
            </a:stretch>
          </a:blipFill>
        </p:spPr>
      </p:sp>
      <p:sp>
        <p:nvSpPr>
          <p:cNvPr id="7" name="Freeform 5">
            <a:extLst>
              <a:ext uri="{FF2B5EF4-FFF2-40B4-BE49-F238E27FC236}">
                <a16:creationId xmlns:a16="http://schemas.microsoft.com/office/drawing/2014/main" id="{318CDCE1-E774-3BB9-6F39-B8ABED5063D7}"/>
              </a:ext>
            </a:extLst>
          </p:cNvPr>
          <p:cNvSpPr/>
          <p:nvPr/>
        </p:nvSpPr>
        <p:spPr>
          <a:xfrm>
            <a:off x="4694917" y="181027"/>
            <a:ext cx="2802166" cy="584341"/>
          </a:xfrm>
          <a:custGeom>
            <a:avLst/>
            <a:gdLst/>
            <a:ahLst/>
            <a:cxnLst/>
            <a:rect l="l" t="t" r="r" b="b"/>
            <a:pathLst>
              <a:path w="4428347" h="916210">
                <a:moveTo>
                  <a:pt x="0" y="0"/>
                </a:moveTo>
                <a:lnTo>
                  <a:pt x="4428347" y="0"/>
                </a:lnTo>
                <a:lnTo>
                  <a:pt x="4428347" y="916210"/>
                </a:lnTo>
                <a:lnTo>
                  <a:pt x="0" y="916210"/>
                </a:lnTo>
                <a:lnTo>
                  <a:pt x="0" y="0"/>
                </a:lnTo>
                <a:close/>
              </a:path>
            </a:pathLst>
          </a:custGeom>
          <a:blipFill>
            <a:blip r:embed="rId4"/>
            <a:stretch>
              <a:fillRect/>
            </a:stretch>
          </a:blipFill>
        </p:spPr>
      </p:sp>
    </p:spTree>
    <p:extLst>
      <p:ext uri="{BB962C8B-B14F-4D97-AF65-F5344CB8AC3E}">
        <p14:creationId xmlns:p14="http://schemas.microsoft.com/office/powerpoint/2010/main" val="2046975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09DF15-A2AE-1FE9-B59F-8960C7DB8EA6}"/>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FFF5C933-CD9C-8939-79E8-CD0D3B6A0A69}"/>
              </a:ext>
            </a:extLst>
          </p:cNvPr>
          <p:cNvSpPr>
            <a:spLocks noGrp="1"/>
          </p:cNvSpPr>
          <p:nvPr>
            <p:ph idx="1"/>
          </p:nvPr>
        </p:nvSpPr>
        <p:spPr/>
        <p:txBody>
          <a:bodyPr/>
          <a:lstStyle/>
          <a:p>
            <a:pPr marL="0" indent="0" algn="just">
              <a:buNone/>
            </a:pPr>
            <a:r>
              <a:rPr lang="es-MX" dirty="0"/>
              <a:t>Los métodos de ordenamiento son una parte fundamental de las estructuras de datos, ya que permiten organizar la información de manera eficiente para facilitar su búsqueda, análisis y procesamiento. En el desarrollo de aplicaciones, ordenar datos correctamente mejora el rendimiento del sistema y la experiencia del usuario.</a:t>
            </a:r>
            <a:br>
              <a:rPr lang="es-MX" dirty="0"/>
            </a:br>
            <a:r>
              <a:rPr lang="es-MX" dirty="0"/>
              <a:t>En estos ejercicios se implementan cuatro algoritmos de ordenamiento: Burbuja, </a:t>
            </a:r>
            <a:r>
              <a:rPr lang="es-MX" dirty="0" err="1"/>
              <a:t>QuickSort</a:t>
            </a:r>
            <a:r>
              <a:rPr lang="es-MX" dirty="0"/>
              <a:t>, </a:t>
            </a:r>
            <a:r>
              <a:rPr lang="es-MX" dirty="0" err="1"/>
              <a:t>ShellSort</a:t>
            </a:r>
            <a:r>
              <a:rPr lang="es-MX" dirty="0"/>
              <a:t> y </a:t>
            </a:r>
            <a:r>
              <a:rPr lang="es-MX" dirty="0" err="1"/>
              <a:t>RadixSort</a:t>
            </a:r>
            <a:r>
              <a:rPr lang="es-MX" dirty="0"/>
              <a:t>, utilizando el lenguaje Java y una interfaz gráfica con </a:t>
            </a:r>
            <a:r>
              <a:rPr lang="es-MX" dirty="0" err="1"/>
              <a:t>JavaFX</a:t>
            </a:r>
            <a:r>
              <a:rPr lang="es-MX" dirty="0"/>
              <a:t>, lo que permite observar de forma práctica cómo funciona cada método y cómo se comportan al ordenar un conjunto de números.</a:t>
            </a:r>
          </a:p>
        </p:txBody>
      </p:sp>
    </p:spTree>
    <p:extLst>
      <p:ext uri="{BB962C8B-B14F-4D97-AF65-F5344CB8AC3E}">
        <p14:creationId xmlns:p14="http://schemas.microsoft.com/office/powerpoint/2010/main" val="1987980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F39B32-7DCA-72DE-BC21-CAEED6639BEC}"/>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F008B19B-2D40-0DDE-1360-01B28D1F541D}"/>
              </a:ext>
            </a:extLst>
          </p:cNvPr>
          <p:cNvSpPr>
            <a:spLocks noGrp="1"/>
          </p:cNvSpPr>
          <p:nvPr>
            <p:ph idx="1"/>
          </p:nvPr>
        </p:nvSpPr>
        <p:spPr/>
        <p:txBody>
          <a:bodyPr>
            <a:normAutofit fontScale="92500" lnSpcReduction="10000"/>
          </a:bodyPr>
          <a:lstStyle/>
          <a:p>
            <a:pPr marL="0" indent="0" algn="just">
              <a:buNone/>
            </a:pPr>
            <a:r>
              <a:rPr lang="es-MX" dirty="0"/>
              <a:t>La implementación de distintos métodos de ordenamiento permite comprender que no todos los algoritmos funcionan de la misma manera ni tienen el mismo rendimiento. Cada uno de los ejercicios desarrollados muestra un enfoque diferente para resolver el mismo problema: ordenar una lista de datos.</a:t>
            </a:r>
            <a:br>
              <a:rPr lang="es-MX" dirty="0"/>
            </a:br>
            <a:r>
              <a:rPr lang="es-MX" dirty="0"/>
              <a:t>El método Burbuja facilita el aprendizaje por su simplicidad, mientras que </a:t>
            </a:r>
            <a:r>
              <a:rPr lang="es-MX" dirty="0" err="1"/>
              <a:t>QuickSort</a:t>
            </a:r>
            <a:r>
              <a:rPr lang="es-MX" dirty="0"/>
              <a:t> y </a:t>
            </a:r>
            <a:r>
              <a:rPr lang="es-MX" dirty="0" err="1"/>
              <a:t>ShellSort</a:t>
            </a:r>
            <a:r>
              <a:rPr lang="es-MX" dirty="0"/>
              <a:t> introducen técnicas más eficientes y avanzadas. Por su parte, </a:t>
            </a:r>
            <a:r>
              <a:rPr lang="es-MX" dirty="0" err="1"/>
              <a:t>RadixSort</a:t>
            </a:r>
            <a:r>
              <a:rPr lang="es-MX" dirty="0"/>
              <a:t> demuestra una estrategia distinta al no basarse en comparaciones directas.</a:t>
            </a:r>
            <a:br>
              <a:rPr lang="es-MX" dirty="0"/>
            </a:br>
            <a:r>
              <a:rPr lang="es-MX" dirty="0"/>
              <a:t>Estos ejercicios fortalecen la comprensión práctica de los algoritmos, fomentan el análisis de eficiencia y ayudan a identificar cuál método es más adecuado según el tipo y tamaño de los datos a ordenar.</a:t>
            </a:r>
          </a:p>
        </p:txBody>
      </p:sp>
    </p:spTree>
    <p:extLst>
      <p:ext uri="{BB962C8B-B14F-4D97-AF65-F5344CB8AC3E}">
        <p14:creationId xmlns:p14="http://schemas.microsoft.com/office/powerpoint/2010/main" val="686543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0AFDF3-5EEF-09E2-4291-7BAC5EA66295}"/>
              </a:ext>
            </a:extLst>
          </p:cNvPr>
          <p:cNvSpPr>
            <a:spLocks noGrp="1"/>
          </p:cNvSpPr>
          <p:nvPr>
            <p:ph type="title"/>
          </p:nvPr>
        </p:nvSpPr>
        <p:spPr/>
        <p:txBody>
          <a:bodyPr/>
          <a:lstStyle/>
          <a:p>
            <a:r>
              <a:rPr lang="es-MX" dirty="0"/>
              <a:t>Métodos de ordenamiento pantallas principal al momento de ejecutar</a:t>
            </a:r>
          </a:p>
        </p:txBody>
      </p:sp>
      <p:pic>
        <p:nvPicPr>
          <p:cNvPr id="5" name="Marcador de contenido 4">
            <a:extLst>
              <a:ext uri="{FF2B5EF4-FFF2-40B4-BE49-F238E27FC236}">
                <a16:creationId xmlns:a16="http://schemas.microsoft.com/office/drawing/2014/main" id="{D312FA0A-1630-E96A-11F9-7725A6BF08F2}"/>
              </a:ext>
            </a:extLst>
          </p:cNvPr>
          <p:cNvPicPr>
            <a:picLocks noGrp="1" noChangeAspect="1"/>
          </p:cNvPicPr>
          <p:nvPr>
            <p:ph idx="1"/>
          </p:nvPr>
        </p:nvPicPr>
        <p:blipFill>
          <a:blip r:embed="rId2"/>
          <a:stretch>
            <a:fillRect/>
          </a:stretch>
        </p:blipFill>
        <p:spPr>
          <a:xfrm>
            <a:off x="7807847" y="2214694"/>
            <a:ext cx="3562734" cy="3424237"/>
          </a:xfrm>
        </p:spPr>
      </p:pic>
      <p:sp>
        <p:nvSpPr>
          <p:cNvPr id="7" name="CuadroTexto 6">
            <a:extLst>
              <a:ext uri="{FF2B5EF4-FFF2-40B4-BE49-F238E27FC236}">
                <a16:creationId xmlns:a16="http://schemas.microsoft.com/office/drawing/2014/main" id="{C648C042-24BA-D1FA-B2CE-6F04C7B75BFE}"/>
              </a:ext>
            </a:extLst>
          </p:cNvPr>
          <p:cNvSpPr txBox="1"/>
          <p:nvPr/>
        </p:nvSpPr>
        <p:spPr>
          <a:xfrm>
            <a:off x="1055098" y="4900267"/>
            <a:ext cx="6097712" cy="1477328"/>
          </a:xfrm>
          <a:prstGeom prst="rect">
            <a:avLst/>
          </a:prstGeom>
          <a:noFill/>
        </p:spPr>
        <p:txBody>
          <a:bodyPr wrap="square">
            <a:spAutoFit/>
          </a:bodyPr>
          <a:lstStyle/>
          <a:p>
            <a:pPr algn="just"/>
            <a:r>
              <a:rPr lang="es-MX" dirty="0"/>
              <a:t>Este proyecto está diseñado para </a:t>
            </a:r>
            <a:r>
              <a:rPr lang="es-MX" b="1" dirty="0"/>
              <a:t>demostrar el funcionamiento de diferentes métodos de ordenamiento</a:t>
            </a:r>
            <a:r>
              <a:rPr lang="es-MX" dirty="0"/>
              <a:t>, tanto internos como externos, mediante una interfaz gráfica en </a:t>
            </a:r>
            <a:r>
              <a:rPr lang="es-MX" b="1" dirty="0" err="1"/>
              <a:t>JavaFX</a:t>
            </a:r>
            <a:r>
              <a:rPr lang="es-MX" dirty="0"/>
              <a:t>. Los métodos incluidos permiten estudiar la eficiencia y la forma en que se reorganizan los datos.</a:t>
            </a:r>
          </a:p>
        </p:txBody>
      </p:sp>
      <p:pic>
        <p:nvPicPr>
          <p:cNvPr id="9" name="Imagen 8">
            <a:extLst>
              <a:ext uri="{FF2B5EF4-FFF2-40B4-BE49-F238E27FC236}">
                <a16:creationId xmlns:a16="http://schemas.microsoft.com/office/drawing/2014/main" id="{9B1B1607-0172-940E-77F4-7FC852271062}"/>
              </a:ext>
            </a:extLst>
          </p:cNvPr>
          <p:cNvPicPr>
            <a:picLocks noChangeAspect="1"/>
          </p:cNvPicPr>
          <p:nvPr/>
        </p:nvPicPr>
        <p:blipFill>
          <a:blip r:embed="rId3"/>
          <a:stretch>
            <a:fillRect/>
          </a:stretch>
        </p:blipFill>
        <p:spPr>
          <a:xfrm>
            <a:off x="1639901" y="2025463"/>
            <a:ext cx="4456099" cy="2776989"/>
          </a:xfrm>
          <a:prstGeom prst="rect">
            <a:avLst/>
          </a:prstGeom>
        </p:spPr>
      </p:pic>
    </p:spTree>
    <p:extLst>
      <p:ext uri="{BB962C8B-B14F-4D97-AF65-F5344CB8AC3E}">
        <p14:creationId xmlns:p14="http://schemas.microsoft.com/office/powerpoint/2010/main" val="2416910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39AE1-F20F-A848-2DE2-AB4819BF3A8A}"/>
              </a:ext>
            </a:extLst>
          </p:cNvPr>
          <p:cNvSpPr>
            <a:spLocks noGrp="1"/>
          </p:cNvSpPr>
          <p:nvPr>
            <p:ph type="title"/>
          </p:nvPr>
        </p:nvSpPr>
        <p:spPr/>
        <p:txBody>
          <a:bodyPr/>
          <a:lstStyle/>
          <a:p>
            <a:r>
              <a:rPr lang="es-MX" dirty="0"/>
              <a:t>Pantalla grafica de cada método de ordenamiento</a:t>
            </a:r>
          </a:p>
        </p:txBody>
      </p:sp>
      <p:pic>
        <p:nvPicPr>
          <p:cNvPr id="5" name="Marcador de contenido 4">
            <a:extLst>
              <a:ext uri="{FF2B5EF4-FFF2-40B4-BE49-F238E27FC236}">
                <a16:creationId xmlns:a16="http://schemas.microsoft.com/office/drawing/2014/main" id="{DBA92169-136C-7241-0648-3FE7D84E0A2B}"/>
              </a:ext>
            </a:extLst>
          </p:cNvPr>
          <p:cNvPicPr>
            <a:picLocks noGrp="1" noChangeAspect="1"/>
          </p:cNvPicPr>
          <p:nvPr>
            <p:ph idx="1"/>
          </p:nvPr>
        </p:nvPicPr>
        <p:blipFill>
          <a:blip r:embed="rId2"/>
          <a:stretch>
            <a:fillRect/>
          </a:stretch>
        </p:blipFill>
        <p:spPr>
          <a:xfrm>
            <a:off x="650500" y="2214694"/>
            <a:ext cx="2364868" cy="2276344"/>
          </a:xfrm>
        </p:spPr>
      </p:pic>
      <p:pic>
        <p:nvPicPr>
          <p:cNvPr id="7" name="Imagen 6">
            <a:extLst>
              <a:ext uri="{FF2B5EF4-FFF2-40B4-BE49-F238E27FC236}">
                <a16:creationId xmlns:a16="http://schemas.microsoft.com/office/drawing/2014/main" id="{B6301118-BC36-7306-11A7-F330A34E0B4F}"/>
              </a:ext>
            </a:extLst>
          </p:cNvPr>
          <p:cNvPicPr>
            <a:picLocks noChangeAspect="1"/>
          </p:cNvPicPr>
          <p:nvPr/>
        </p:nvPicPr>
        <p:blipFill>
          <a:blip r:embed="rId3"/>
          <a:stretch>
            <a:fillRect/>
          </a:stretch>
        </p:blipFill>
        <p:spPr>
          <a:xfrm>
            <a:off x="3326737" y="2214694"/>
            <a:ext cx="2364868" cy="2264503"/>
          </a:xfrm>
          <a:prstGeom prst="rect">
            <a:avLst/>
          </a:prstGeom>
        </p:spPr>
      </p:pic>
      <p:pic>
        <p:nvPicPr>
          <p:cNvPr id="9" name="Imagen 8">
            <a:extLst>
              <a:ext uri="{FF2B5EF4-FFF2-40B4-BE49-F238E27FC236}">
                <a16:creationId xmlns:a16="http://schemas.microsoft.com/office/drawing/2014/main" id="{B2558A37-9FDE-8689-57BD-8650A1BDF783}"/>
              </a:ext>
            </a:extLst>
          </p:cNvPr>
          <p:cNvPicPr>
            <a:picLocks noChangeAspect="1"/>
          </p:cNvPicPr>
          <p:nvPr/>
        </p:nvPicPr>
        <p:blipFill>
          <a:blip r:embed="rId4"/>
          <a:stretch>
            <a:fillRect/>
          </a:stretch>
        </p:blipFill>
        <p:spPr>
          <a:xfrm>
            <a:off x="6127251" y="2214694"/>
            <a:ext cx="2364869" cy="2285511"/>
          </a:xfrm>
          <a:prstGeom prst="rect">
            <a:avLst/>
          </a:prstGeom>
        </p:spPr>
      </p:pic>
      <p:pic>
        <p:nvPicPr>
          <p:cNvPr id="11" name="Imagen 10">
            <a:extLst>
              <a:ext uri="{FF2B5EF4-FFF2-40B4-BE49-F238E27FC236}">
                <a16:creationId xmlns:a16="http://schemas.microsoft.com/office/drawing/2014/main" id="{8A94B5BC-57CE-AB49-F5F2-F27B8D70E906}"/>
              </a:ext>
            </a:extLst>
          </p:cNvPr>
          <p:cNvPicPr>
            <a:picLocks noChangeAspect="1"/>
          </p:cNvPicPr>
          <p:nvPr/>
        </p:nvPicPr>
        <p:blipFill>
          <a:blip r:embed="rId5"/>
          <a:stretch>
            <a:fillRect/>
          </a:stretch>
        </p:blipFill>
        <p:spPr>
          <a:xfrm>
            <a:off x="9399313" y="2290709"/>
            <a:ext cx="2364869" cy="2276581"/>
          </a:xfrm>
          <a:prstGeom prst="rect">
            <a:avLst/>
          </a:prstGeom>
        </p:spPr>
      </p:pic>
      <p:pic>
        <p:nvPicPr>
          <p:cNvPr id="13" name="Imagen 12">
            <a:extLst>
              <a:ext uri="{FF2B5EF4-FFF2-40B4-BE49-F238E27FC236}">
                <a16:creationId xmlns:a16="http://schemas.microsoft.com/office/drawing/2014/main" id="{FBC07D7C-94AA-3AAF-73F7-B7E3E63A133E}"/>
              </a:ext>
            </a:extLst>
          </p:cNvPr>
          <p:cNvPicPr>
            <a:picLocks noChangeAspect="1"/>
          </p:cNvPicPr>
          <p:nvPr/>
        </p:nvPicPr>
        <p:blipFill>
          <a:blip r:embed="rId6"/>
          <a:stretch>
            <a:fillRect/>
          </a:stretch>
        </p:blipFill>
        <p:spPr>
          <a:xfrm>
            <a:off x="2214550" y="4567290"/>
            <a:ext cx="2224374" cy="2134802"/>
          </a:xfrm>
          <a:prstGeom prst="rect">
            <a:avLst/>
          </a:prstGeom>
        </p:spPr>
      </p:pic>
      <p:pic>
        <p:nvPicPr>
          <p:cNvPr id="15" name="Imagen 14">
            <a:extLst>
              <a:ext uri="{FF2B5EF4-FFF2-40B4-BE49-F238E27FC236}">
                <a16:creationId xmlns:a16="http://schemas.microsoft.com/office/drawing/2014/main" id="{D4118A62-7DEA-9963-43DE-BF1F1F36C377}"/>
              </a:ext>
            </a:extLst>
          </p:cNvPr>
          <p:cNvPicPr>
            <a:picLocks noChangeAspect="1"/>
          </p:cNvPicPr>
          <p:nvPr/>
        </p:nvPicPr>
        <p:blipFill>
          <a:blip r:embed="rId7"/>
          <a:stretch>
            <a:fillRect/>
          </a:stretch>
        </p:blipFill>
        <p:spPr>
          <a:xfrm>
            <a:off x="4720538" y="4567290"/>
            <a:ext cx="2224374" cy="2126108"/>
          </a:xfrm>
          <a:prstGeom prst="rect">
            <a:avLst/>
          </a:prstGeom>
        </p:spPr>
      </p:pic>
      <p:pic>
        <p:nvPicPr>
          <p:cNvPr id="17" name="Imagen 16">
            <a:extLst>
              <a:ext uri="{FF2B5EF4-FFF2-40B4-BE49-F238E27FC236}">
                <a16:creationId xmlns:a16="http://schemas.microsoft.com/office/drawing/2014/main" id="{EA0072C0-3D48-8D8E-6B3E-B61B0A4A4485}"/>
              </a:ext>
            </a:extLst>
          </p:cNvPr>
          <p:cNvPicPr>
            <a:picLocks noChangeAspect="1"/>
          </p:cNvPicPr>
          <p:nvPr/>
        </p:nvPicPr>
        <p:blipFill>
          <a:blip r:embed="rId8"/>
          <a:stretch>
            <a:fillRect/>
          </a:stretch>
        </p:blipFill>
        <p:spPr>
          <a:xfrm>
            <a:off x="7309686" y="4575836"/>
            <a:ext cx="2224375" cy="2109015"/>
          </a:xfrm>
          <a:prstGeom prst="rect">
            <a:avLst/>
          </a:prstGeom>
        </p:spPr>
      </p:pic>
    </p:spTree>
    <p:extLst>
      <p:ext uri="{BB962C8B-B14F-4D97-AF65-F5344CB8AC3E}">
        <p14:creationId xmlns:p14="http://schemas.microsoft.com/office/powerpoint/2010/main" val="2708314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C9F105-3DA2-65E9-5D56-F044EA0DE23B}"/>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50D8CED9-3D32-FA18-49F8-0CB8EAE2B57F}"/>
              </a:ext>
            </a:extLst>
          </p:cNvPr>
          <p:cNvSpPr>
            <a:spLocks noGrp="1"/>
          </p:cNvSpPr>
          <p:nvPr>
            <p:ph idx="1"/>
          </p:nvPr>
        </p:nvSpPr>
        <p:spPr/>
        <p:txBody>
          <a:bodyPr>
            <a:normAutofit fontScale="92500"/>
          </a:bodyPr>
          <a:lstStyle/>
          <a:p>
            <a:pPr marL="0" indent="0" algn="just">
              <a:buNone/>
            </a:pPr>
            <a:r>
              <a:rPr lang="es-MX" dirty="0"/>
              <a:t>A través del desarrollo de los métodos de ordenamiento Burbuja, </a:t>
            </a:r>
            <a:r>
              <a:rPr lang="es-MX" dirty="0" err="1"/>
              <a:t>QuickSort</a:t>
            </a:r>
            <a:r>
              <a:rPr lang="es-MX" dirty="0"/>
              <a:t>, </a:t>
            </a:r>
            <a:r>
              <a:rPr lang="es-MX" dirty="0" err="1"/>
              <a:t>ShellSort</a:t>
            </a:r>
            <a:r>
              <a:rPr lang="es-MX" dirty="0"/>
              <a:t> y </a:t>
            </a:r>
            <a:r>
              <a:rPr lang="es-MX" dirty="0" err="1"/>
              <a:t>RadixSort</a:t>
            </a:r>
            <a:r>
              <a:rPr lang="es-MX" dirty="0"/>
              <a:t>, se logró reforzar el conocimiento sobre diferentes estrategias para organizar datos de manera eficiente. La práctica permitió observar las ventajas y limitaciones de cada algoritmo, así como su comportamiento en distintos escenarios.</a:t>
            </a:r>
            <a:br>
              <a:rPr lang="es-MX" dirty="0"/>
            </a:br>
            <a:r>
              <a:rPr lang="es-MX" dirty="0"/>
              <a:t>La integración de estos métodos en una aplicación con interfaz gráfica facilitó la visualización de los resultados y mejoró la comprensión del proceso de ordenamiento. En conjunto, estos ejercicios contribuyen a una mejor base en el estudio de estructuras de datos y algoritmos, habilidades esenciales en el desarrollo de software.</a:t>
            </a:r>
          </a:p>
        </p:txBody>
      </p:sp>
    </p:spTree>
    <p:extLst>
      <p:ext uri="{BB962C8B-B14F-4D97-AF65-F5344CB8AC3E}">
        <p14:creationId xmlns:p14="http://schemas.microsoft.com/office/powerpoint/2010/main" val="3768475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94C1CE-2108-2B77-1AD7-860D2B245286}"/>
              </a:ext>
            </a:extLst>
          </p:cNvPr>
          <p:cNvSpPr>
            <a:spLocks noGrp="1"/>
          </p:cNvSpPr>
          <p:nvPr>
            <p:ph type="title"/>
          </p:nvPr>
        </p:nvSpPr>
        <p:spPr/>
        <p:txBody>
          <a:bodyPr/>
          <a:lstStyle/>
          <a:p>
            <a:r>
              <a:rPr lang="es-MX" dirty="0"/>
              <a:t>Anexo Link de los ejercicios solicitados en </a:t>
            </a:r>
            <a:r>
              <a:rPr lang="es-MX" dirty="0" err="1"/>
              <a:t>intelji</a:t>
            </a:r>
            <a:r>
              <a:rPr lang="es-MX" dirty="0"/>
              <a:t> y enviados en GitHub:</a:t>
            </a:r>
          </a:p>
        </p:txBody>
      </p:sp>
      <p:sp>
        <p:nvSpPr>
          <p:cNvPr id="3" name="Marcador de contenido 2">
            <a:extLst>
              <a:ext uri="{FF2B5EF4-FFF2-40B4-BE49-F238E27FC236}">
                <a16:creationId xmlns:a16="http://schemas.microsoft.com/office/drawing/2014/main" id="{4170214D-2143-4A6B-6023-C4413BDB40F3}"/>
              </a:ext>
            </a:extLst>
          </p:cNvPr>
          <p:cNvSpPr>
            <a:spLocks noGrp="1"/>
          </p:cNvSpPr>
          <p:nvPr>
            <p:ph idx="1"/>
          </p:nvPr>
        </p:nvSpPr>
        <p:spPr>
          <a:xfrm>
            <a:off x="838200" y="2214694"/>
            <a:ext cx="10515600" cy="948397"/>
          </a:xfrm>
        </p:spPr>
        <p:txBody>
          <a:bodyPr/>
          <a:lstStyle/>
          <a:p>
            <a:pPr marL="0" indent="0">
              <a:buNone/>
            </a:pPr>
            <a:endParaRPr lang="es-MX" dirty="0">
              <a:hlinkClick r:id="rId2">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086972544"/>
      </p:ext>
    </p:extLst>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Gota</Template>
  <TotalTime>88</TotalTime>
  <Words>482</Words>
  <Application>Microsoft Office PowerPoint</Application>
  <PresentationFormat>Panorámica</PresentationFormat>
  <Paragraphs>30</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Century Gothic</vt:lpstr>
      <vt:lpstr>Tw Cen MT</vt:lpstr>
      <vt:lpstr>Gota</vt:lpstr>
      <vt:lpstr>Presentación de PowerPoint</vt:lpstr>
      <vt:lpstr>Introducción </vt:lpstr>
      <vt:lpstr>Justificación </vt:lpstr>
      <vt:lpstr>Métodos de ordenamiento pantallas principal al momento de ejecutar</vt:lpstr>
      <vt:lpstr>Pantalla grafica de cada método de ordenamiento</vt:lpstr>
      <vt:lpstr>Conclusión </vt:lpstr>
      <vt:lpstr>Anexo Link de los ejercicios solicitados en intelji y enviados en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2</cp:revision>
  <dcterms:created xsi:type="dcterms:W3CDTF">2025-12-13T20:33:50Z</dcterms:created>
  <dcterms:modified xsi:type="dcterms:W3CDTF">2025-12-15T02:32:17Z</dcterms:modified>
</cp:coreProperties>
</file>