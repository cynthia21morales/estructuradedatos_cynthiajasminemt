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61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55716-E614-4F00-BBFB-E5811B19B667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3A022-2045-48D4-B8EC-41755C897F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99414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55716-E614-4F00-BBFB-E5811B19B667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3A022-2045-48D4-B8EC-41755C897F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20487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55716-E614-4F00-BBFB-E5811B19B667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3A022-2045-48D4-B8EC-41755C897F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708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55716-E614-4F00-BBFB-E5811B19B667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3A022-2045-48D4-B8EC-41755C897F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0617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55716-E614-4F00-BBFB-E5811B19B667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3A022-2045-48D4-B8EC-41755C897F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0933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55716-E614-4F00-BBFB-E5811B19B667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3A022-2045-48D4-B8EC-41755C897F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634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55716-E614-4F00-BBFB-E5811B19B667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3A022-2045-48D4-B8EC-41755C897F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7767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55716-E614-4F00-BBFB-E5811B19B667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3A022-2045-48D4-B8EC-41755C897F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65813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55716-E614-4F00-BBFB-E5811B19B667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3A022-2045-48D4-B8EC-41755C897F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598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55716-E614-4F00-BBFB-E5811B19B667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3A022-2045-48D4-B8EC-41755C897F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1325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55716-E614-4F00-BBFB-E5811B19B667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3A022-2045-48D4-B8EC-41755C897F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74137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55716-E614-4F00-BBFB-E5811B19B667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3A022-2045-48D4-B8EC-41755C897F42}" type="slidenum">
              <a:rPr lang="es-MX" smtClean="0"/>
              <a:t>‹Nº›</a:t>
            </a:fld>
            <a:endParaRPr lang="es-MX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314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55716-E614-4F00-BBFB-E5811B19B667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3A022-2045-48D4-B8EC-41755C897F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1042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55716-E614-4F00-BBFB-E5811B19B667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3A022-2045-48D4-B8EC-41755C897F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08581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55716-E614-4F00-BBFB-E5811B19B667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3A022-2045-48D4-B8EC-41755C897F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8018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55716-E614-4F00-BBFB-E5811B19B667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3A022-2045-48D4-B8EC-41755C897F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430152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55716-E614-4F00-BBFB-E5811B19B667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3A022-2045-48D4-B8EC-41755C897F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642237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55716-E614-4F00-BBFB-E5811B19B667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3A022-2045-48D4-B8EC-41755C897F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2158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0255716-E614-4F00-BBFB-E5811B19B667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133A022-2045-48D4-B8EC-41755C897F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431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EBB90343-36AB-CE2C-8755-3B6CF43252EF}"/>
              </a:ext>
            </a:extLst>
          </p:cNvPr>
          <p:cNvSpPr txBox="1"/>
          <p:nvPr/>
        </p:nvSpPr>
        <p:spPr>
          <a:xfrm>
            <a:off x="3073400" y="884020"/>
            <a:ext cx="6045200" cy="55043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Tecnológico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Frontera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Comalapa</a:t>
            </a:r>
            <a:endParaRPr lang="en-US" sz="1200" b="1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Mixta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endParaRPr lang="en-US" sz="1200" b="1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Estructura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Datos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 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Quinto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Ingeniería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en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Sistemas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Computacionales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.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Numero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control: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231260014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alumno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 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Cynthia Jasmine Morales Torres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docente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 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trabajo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5.2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Reporte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Practica</a:t>
            </a:r>
            <a:endParaRPr lang="en-US" sz="1200" b="1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Fecha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entrega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endParaRPr lang="en-US" sz="1200" b="1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Frontera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Comalapa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, Chiapas. A 05 de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diciembre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2025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8FE434AA-76FB-3518-EC8D-2FF16B8066BA}"/>
              </a:ext>
            </a:extLst>
          </p:cNvPr>
          <p:cNvSpPr/>
          <p:nvPr/>
        </p:nvSpPr>
        <p:spPr>
          <a:xfrm>
            <a:off x="1835071" y="151054"/>
            <a:ext cx="1985447" cy="917245"/>
          </a:xfrm>
          <a:custGeom>
            <a:avLst/>
            <a:gdLst/>
            <a:ahLst/>
            <a:cxnLst/>
            <a:rect l="l" t="t" r="r" b="b"/>
            <a:pathLst>
              <a:path w="3135296" h="1339792">
                <a:moveTo>
                  <a:pt x="0" y="0"/>
                </a:moveTo>
                <a:lnTo>
                  <a:pt x="3135296" y="0"/>
                </a:lnTo>
                <a:lnTo>
                  <a:pt x="3135296" y="1339792"/>
                </a:lnTo>
                <a:lnTo>
                  <a:pt x="0" y="13397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B078BED9-1476-18E9-468B-7BA3E76462DA}"/>
              </a:ext>
            </a:extLst>
          </p:cNvPr>
          <p:cNvSpPr/>
          <p:nvPr/>
        </p:nvSpPr>
        <p:spPr>
          <a:xfrm>
            <a:off x="8907659" y="223617"/>
            <a:ext cx="1385614" cy="844682"/>
          </a:xfrm>
          <a:custGeom>
            <a:avLst/>
            <a:gdLst/>
            <a:ahLst/>
            <a:cxnLst/>
            <a:rect l="l" t="t" r="r" b="b"/>
            <a:pathLst>
              <a:path w="2019078" h="1652713">
                <a:moveTo>
                  <a:pt x="0" y="0"/>
                </a:moveTo>
                <a:lnTo>
                  <a:pt x="2019078" y="0"/>
                </a:lnTo>
                <a:lnTo>
                  <a:pt x="2019078" y="1652713"/>
                </a:lnTo>
                <a:lnTo>
                  <a:pt x="0" y="16527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EBBFD35F-77B1-7F4F-EB75-2614FE3D84A2}"/>
              </a:ext>
            </a:extLst>
          </p:cNvPr>
          <p:cNvSpPr/>
          <p:nvPr/>
        </p:nvSpPr>
        <p:spPr>
          <a:xfrm>
            <a:off x="4694917" y="201575"/>
            <a:ext cx="2802166" cy="584341"/>
          </a:xfrm>
          <a:custGeom>
            <a:avLst/>
            <a:gdLst/>
            <a:ahLst/>
            <a:cxnLst/>
            <a:rect l="l" t="t" r="r" b="b"/>
            <a:pathLst>
              <a:path w="4428347" h="916210">
                <a:moveTo>
                  <a:pt x="0" y="0"/>
                </a:moveTo>
                <a:lnTo>
                  <a:pt x="4428347" y="0"/>
                </a:lnTo>
                <a:lnTo>
                  <a:pt x="4428347" y="916210"/>
                </a:lnTo>
                <a:lnTo>
                  <a:pt x="0" y="9162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623697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A82E9-D52C-25D2-D4B7-2640F155F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87" y="613836"/>
            <a:ext cx="8911687" cy="1280890"/>
          </a:xfrm>
        </p:spPr>
        <p:txBody>
          <a:bodyPr/>
          <a:lstStyle/>
          <a:p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8CDCE0-A226-3BC8-F242-295074220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6183" y="2133600"/>
            <a:ext cx="8915400" cy="3777622"/>
          </a:xfrm>
        </p:spPr>
        <p:txBody>
          <a:bodyPr/>
          <a:lstStyle/>
          <a:p>
            <a:pPr marL="0" indent="0" algn="just">
              <a:buNone/>
            </a:pPr>
            <a:r>
              <a:rPr lang="es-MX" dirty="0"/>
              <a:t>el </a:t>
            </a:r>
            <a:r>
              <a:rPr lang="es-MX" b="1" dirty="0"/>
              <a:t>ordenamiento de datos</a:t>
            </a:r>
            <a:r>
              <a:rPr lang="es-MX" dirty="0"/>
              <a:t> es fundamental para optimizar búsquedas, análisis y almacenamiento eficiente. Este proyecto tiene como objetivo </a:t>
            </a:r>
            <a:r>
              <a:rPr lang="es-MX" b="1" dirty="0"/>
              <a:t>implementar y visualizar distintos métodos de ordenamiento</a:t>
            </a:r>
            <a:r>
              <a:rPr lang="es-MX" dirty="0"/>
              <a:t>, tanto internos como externos, mediante una interfaz gráfica interactiva. Con él, se busca que los usuarios comprendan la lógica de cada algoritmo y su funcionamiento práctico.</a:t>
            </a:r>
          </a:p>
        </p:txBody>
      </p:sp>
    </p:spTree>
    <p:extLst>
      <p:ext uri="{BB962C8B-B14F-4D97-AF65-F5344CB8AC3E}">
        <p14:creationId xmlns:p14="http://schemas.microsoft.com/office/powerpoint/2010/main" val="1618166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A3EC09-7108-F352-F831-28118DB65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747" y="603562"/>
            <a:ext cx="8911687" cy="1280890"/>
          </a:xfrm>
        </p:spPr>
        <p:txBody>
          <a:bodyPr/>
          <a:lstStyle/>
          <a:p>
            <a:r>
              <a:rPr lang="es-MX" dirty="0"/>
              <a:t>Justificación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ECF52F-AAC5-892F-F67A-A20E40030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9747" y="2174696"/>
            <a:ext cx="8915400" cy="3777622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s-MX" dirty="0"/>
              <a:t>La necesidad de ordenar datos es fundamental en la informática y en la gestión de información, ya que los datos ordenados facilitan la búsqueda, comparación y análisis eficiente. Implementar un proyecto que combine </a:t>
            </a:r>
            <a:r>
              <a:rPr lang="es-MX" b="1" dirty="0"/>
              <a:t>ordenamiento interno</a:t>
            </a:r>
            <a:r>
              <a:rPr lang="es-MX" dirty="0"/>
              <a:t> y </a:t>
            </a:r>
            <a:r>
              <a:rPr lang="es-MX" b="1" dirty="0"/>
              <a:t>ordenamiento externo</a:t>
            </a:r>
            <a:r>
              <a:rPr lang="es-MX" dirty="0"/>
              <a:t> permite abordar casos prácticos: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b="1" dirty="0"/>
              <a:t>Ordenamiento interno</a:t>
            </a:r>
            <a:r>
              <a:rPr lang="es-MX" dirty="0"/>
              <a:t>, ideal para conjuntos de datos que caben completamente en memoria.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b="1" dirty="0"/>
              <a:t>Ordenamiento externo</a:t>
            </a:r>
            <a:r>
              <a:rPr lang="es-MX" dirty="0"/>
              <a:t>, necesario cuando los datos son muy grandes y no es posible cargarlos completamente en memoria.</a:t>
            </a:r>
          </a:p>
          <a:p>
            <a:pPr marL="0" indent="0" algn="just">
              <a:buNone/>
            </a:pPr>
            <a:r>
              <a:rPr lang="es-MX" dirty="0"/>
              <a:t>El uso de </a:t>
            </a:r>
            <a:r>
              <a:rPr lang="es-MX" b="1" dirty="0" err="1"/>
              <a:t>JavaFX</a:t>
            </a:r>
            <a:r>
              <a:rPr lang="es-MX" dirty="0"/>
              <a:t> como herramienta de desarrollo se justifica por su capacidad para crear interfaces gráficas modernas y atractivas, que mejoran la interacción con el usuario y permiten visualizar resultados de manera clara y comprensible. Además, la modularidad del código facilita la comprensión de cada algoritmo y su reutilización en futuros proyectos.</a:t>
            </a:r>
          </a:p>
          <a:p>
            <a:pPr marL="0" indent="0" algn="just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2172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CD7B0A-3671-0DD1-E77F-AD01E24A3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286" y="544301"/>
            <a:ext cx="8911687" cy="1280890"/>
          </a:xfrm>
        </p:spPr>
        <p:txBody>
          <a:bodyPr/>
          <a:lstStyle/>
          <a:p>
            <a:r>
              <a:rPr lang="es-MX" dirty="0"/>
              <a:t>Pantalla Inicial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2CCD8F-7981-6611-D6C2-02C5807E82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3407" y="5032809"/>
            <a:ext cx="1202859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/>
              <a:t>Es la primera vista que se carga al ejecutar el proyecto.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/>
              <a:t>Permite navegar hacia los distintos métodos de ordenamiento, divididos en internos y externos.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/>
              <a:t>Cada botón abre una ventana específica donde el usuario puede ingresar los datos, ejecutar el algoritmo y ver el resultado.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2361A9D-906A-83FE-6CE2-53A85A3FE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2705" y="1797784"/>
            <a:ext cx="3171281" cy="304800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37D0A07-87F8-5391-F5B4-C73B9A61E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481" y="1715769"/>
            <a:ext cx="4986391" cy="310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508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07F690-DAC0-4AB3-E131-809E107B9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8120" y="118153"/>
            <a:ext cx="8911687" cy="1280890"/>
          </a:xfrm>
        </p:spPr>
        <p:txBody>
          <a:bodyPr/>
          <a:lstStyle/>
          <a:p>
            <a:r>
              <a:rPr lang="es-MX" dirty="0"/>
              <a:t>Métodos internos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437A0F-52E9-9A68-2D69-162638F5A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905" y="4024044"/>
            <a:ext cx="3008308" cy="27158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400" b="1" cap="none" dirty="0"/>
              <a:t>Burbuja (</a:t>
            </a:r>
            <a:r>
              <a:rPr lang="es-MX" sz="1400" b="1" cap="none" dirty="0" err="1"/>
              <a:t>bubble</a:t>
            </a:r>
            <a:r>
              <a:rPr lang="es-MX" sz="1400" b="1" cap="none" dirty="0"/>
              <a:t> </a:t>
            </a:r>
            <a:r>
              <a:rPr lang="es-MX" sz="1400" b="1" cap="none" dirty="0" err="1"/>
              <a:t>sort</a:t>
            </a:r>
            <a:r>
              <a:rPr lang="es-MX" sz="1400" b="1" cap="none" dirty="0"/>
              <a:t>)</a:t>
            </a:r>
            <a:endParaRPr lang="es-MX" sz="1400" cap="none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1400" cap="none" dirty="0"/>
              <a:t>Compara pares de elementos adyacentes y los intercambia si están en el orden incorrecto.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400" cap="none" dirty="0"/>
              <a:t>Se repite hasta que el array está completamente ordenado.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400" cap="none" dirty="0"/>
              <a:t>Fácil de entender, pero ineficiente para </a:t>
            </a:r>
            <a:r>
              <a:rPr lang="es-MX" sz="1400" cap="none" dirty="0" err="1"/>
              <a:t>arrays</a:t>
            </a:r>
            <a:r>
              <a:rPr lang="es-MX" sz="1400" cap="none" dirty="0"/>
              <a:t> grandes.</a:t>
            </a:r>
          </a:p>
          <a:p>
            <a:pPr marL="0" indent="0">
              <a:buNone/>
            </a:pPr>
            <a:endParaRPr lang="es-MX" sz="1400" cap="non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1D8CCF6-F355-7744-8950-4F2FB0992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05" y="1137863"/>
            <a:ext cx="2929533" cy="275758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9D82EC9-338B-640D-F18E-C6FBD6419005}"/>
              </a:ext>
            </a:extLst>
          </p:cNvPr>
          <p:cNvSpPr txBox="1"/>
          <p:nvPr/>
        </p:nvSpPr>
        <p:spPr>
          <a:xfrm>
            <a:off x="3485655" y="4024044"/>
            <a:ext cx="2130753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/>
              <a:t>Quicksort</a:t>
            </a:r>
            <a:endParaRPr lang="es-MX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1400" dirty="0"/>
              <a:t>Selecciona un pivote y divide el array en dos </a:t>
            </a:r>
            <a:r>
              <a:rPr lang="es-MX" sz="1400" dirty="0" err="1"/>
              <a:t>subarrays</a:t>
            </a:r>
            <a:r>
              <a:rPr lang="es-MX" sz="1400" dirty="0"/>
              <a:t>: menores y mayores que el pivote.</a:t>
            </a:r>
          </a:p>
          <a:p>
            <a:endParaRPr lang="es-MX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1400" dirty="0"/>
              <a:t>Aplica recursivamente el mismo procedimiento.</a:t>
            </a:r>
          </a:p>
          <a:p>
            <a:endParaRPr lang="es-MX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1400" dirty="0"/>
              <a:t>Muy eficiente para grandes volúmenes de datos.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ABC05BF-66A6-4C96-2EA0-CABF5953C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655" y="1173680"/>
            <a:ext cx="2130753" cy="2721765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5AE5EDC8-C926-D1E2-DAAD-47A4E39E8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4415" y="4024044"/>
            <a:ext cx="2716151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600" dirty="0" err="1"/>
              <a:t>ShellSort</a:t>
            </a:r>
            <a:endParaRPr lang="es-MX" altLang="es-MX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1400" dirty="0"/>
              <a:t>Generalización de inserción directa que permite intercambiar elementos que están lejos.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MX" altLang="es-MX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1400" dirty="0"/>
              <a:t>Utiliza un valor gap que disminuye progresivamente hasta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MX" altLang="es-MX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1400" dirty="0"/>
              <a:t>Es más rápido que burbuja o inserción para listas medianas.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sz="16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78357FD-AD9E-1321-0347-431D461F5C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9625" y="1666885"/>
            <a:ext cx="3047518" cy="222856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DBB41FD-1EB1-10F5-5C28-F809301E33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0105" y="571755"/>
            <a:ext cx="2181410" cy="332369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ADDA4706-C21C-A96B-C94C-AF9FCF4C07A7}"/>
              </a:ext>
            </a:extLst>
          </p:cNvPr>
          <p:cNvSpPr txBox="1"/>
          <p:nvPr/>
        </p:nvSpPr>
        <p:spPr>
          <a:xfrm>
            <a:off x="8948573" y="4249640"/>
            <a:ext cx="31235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 err="1"/>
              <a:t>Radix</a:t>
            </a:r>
            <a:r>
              <a:rPr lang="es-MX" dirty="0"/>
              <a:t> </a:t>
            </a:r>
            <a:r>
              <a:rPr lang="es-MX" dirty="0" err="1"/>
              <a:t>Sort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1400" dirty="0"/>
              <a:t>Ordena números por dígitos, empezando por el menos significativo hasta el más significativo.</a:t>
            </a:r>
          </a:p>
          <a:p>
            <a:endParaRPr lang="es-MX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1400" dirty="0"/>
              <a:t>No se basa en comparaciones directas, sino en conteo de dígitos.</a:t>
            </a:r>
          </a:p>
          <a:p>
            <a:endParaRPr lang="es-MX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1400" dirty="0"/>
              <a:t>Muy eficiente para datos numéricos grandes.</a:t>
            </a:r>
          </a:p>
        </p:txBody>
      </p:sp>
    </p:spTree>
    <p:extLst>
      <p:ext uri="{BB962C8B-B14F-4D97-AF65-F5344CB8AC3E}">
        <p14:creationId xmlns:p14="http://schemas.microsoft.com/office/powerpoint/2010/main" val="3288415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907CF0-F11F-24F4-FBE8-DEE5545FE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4871" y="89001"/>
            <a:ext cx="8911687" cy="1280890"/>
          </a:xfrm>
        </p:spPr>
        <p:txBody>
          <a:bodyPr/>
          <a:lstStyle/>
          <a:p>
            <a:r>
              <a:rPr lang="es-MX" dirty="0"/>
              <a:t>Métodos externos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FDCC4B-AD74-15B7-1B85-E6CA93EF9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72" y="4306584"/>
            <a:ext cx="3842410" cy="2551416"/>
          </a:xfrm>
        </p:spPr>
        <p:txBody>
          <a:bodyPr>
            <a:normAutofit/>
          </a:bodyPr>
          <a:lstStyle/>
          <a:p>
            <a:r>
              <a:rPr lang="es-MX" sz="1600" b="1" cap="none" dirty="0"/>
              <a:t>Intercalación</a:t>
            </a:r>
            <a:endParaRPr lang="es-MX" sz="1600" cap="none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1600" cap="none" dirty="0"/>
              <a:t>Divide el array en </a:t>
            </a:r>
            <a:r>
              <a:rPr lang="es-MX" sz="1600" cap="none" dirty="0" err="1"/>
              <a:t>subarrays</a:t>
            </a:r>
            <a:r>
              <a:rPr lang="es-MX" sz="1600" cap="none" dirty="0"/>
              <a:t>, los ordena y luego los combina (</a:t>
            </a:r>
            <a:r>
              <a:rPr lang="es-MX" sz="1600" cap="none" dirty="0" err="1"/>
              <a:t>merge</a:t>
            </a:r>
            <a:r>
              <a:rPr lang="es-MX" sz="1600" cap="none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cap="none" dirty="0"/>
              <a:t>Simula cómo se procesan archivos grandes en discos.</a:t>
            </a:r>
          </a:p>
          <a:p>
            <a:endParaRPr lang="es-MX" sz="1600" cap="none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DC8915E-7F42-D385-8937-DBA5CFCD1A94}"/>
              </a:ext>
            </a:extLst>
          </p:cNvPr>
          <p:cNvSpPr txBox="1"/>
          <p:nvPr/>
        </p:nvSpPr>
        <p:spPr>
          <a:xfrm>
            <a:off x="5052317" y="4306584"/>
            <a:ext cx="373208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/>
              <a:t>Mezcla Directa</a:t>
            </a:r>
            <a:endParaRPr lang="es-MX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1600" dirty="0"/>
              <a:t>Similar a la intercalación, pero divide siempre en dos mitades y combina recursivamente.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5DEC783-EBEF-2402-376B-F0B89E226ACF}"/>
              </a:ext>
            </a:extLst>
          </p:cNvPr>
          <p:cNvSpPr txBox="1"/>
          <p:nvPr/>
        </p:nvSpPr>
        <p:spPr>
          <a:xfrm>
            <a:off x="8784405" y="4260503"/>
            <a:ext cx="314401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/>
              <a:t>Mezcla Natural</a:t>
            </a:r>
            <a:endParaRPr lang="es-MX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1400" dirty="0"/>
              <a:t>Detecta secuencias ordenadas existentes en los datos y las combina de manera natural.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400" dirty="0"/>
              <a:t>Optimiza el número de pasadas comparado con la mezcla directa.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C2D69BE-A902-78D3-A5AF-AC136410F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028" y="991142"/>
            <a:ext cx="2328767" cy="312054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EF7A15A-09C8-1D24-E6BF-7DF9643F0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115" y="1474198"/>
            <a:ext cx="2328768" cy="278334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C0F02C0-6037-72BD-5B67-997163D3B7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7829" y="991142"/>
            <a:ext cx="2088729" cy="329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318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A6F31-D834-929F-5250-2AAECB666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Pantallas de los métodos de ordenamiento</a:t>
            </a:r>
          </a:p>
        </p:txBody>
      </p:sp>
      <p:pic>
        <p:nvPicPr>
          <p:cNvPr id="4" name="Marcador de contenido 4">
            <a:extLst>
              <a:ext uri="{FF2B5EF4-FFF2-40B4-BE49-F238E27FC236}">
                <a16:creationId xmlns:a16="http://schemas.microsoft.com/office/drawing/2014/main" id="{6EF98E7C-171B-3D65-65CD-2FB9F115F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00" y="2214694"/>
            <a:ext cx="2364868" cy="227634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99BA0A4-49E4-A02C-BDF0-01FDC775F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737" y="2214694"/>
            <a:ext cx="2364868" cy="226450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A1216F9-7DFF-0F96-0A8D-B97465D62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7251" y="2214694"/>
            <a:ext cx="2364869" cy="228551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77FB7D4-ED4B-3693-4AB7-47AF7D6883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9313" y="2290709"/>
            <a:ext cx="2364869" cy="227658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BE8CC12-8439-78DB-F9D3-BE5D34AB0B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4550" y="4567290"/>
            <a:ext cx="2224374" cy="213480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F56FDE2-B640-D473-DAEF-69262A2091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0538" y="4567290"/>
            <a:ext cx="2224374" cy="212610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B7027E7-CBEA-A3F8-0246-09202D27E1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9686" y="4575836"/>
            <a:ext cx="2224375" cy="210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401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6F560-8874-0C0B-389E-B2F20D3AF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93288"/>
            <a:ext cx="8911687" cy="1280890"/>
          </a:xfrm>
        </p:spPr>
        <p:txBody>
          <a:bodyPr/>
          <a:lstStyle/>
          <a:p>
            <a:r>
              <a:rPr lang="es-MX" dirty="0"/>
              <a:t>Conclusión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A31C25-9F15-3C0A-7CDF-558328117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1019" y="2293670"/>
            <a:ext cx="10515600" cy="4050242"/>
          </a:xfrm>
        </p:spPr>
        <p:txBody>
          <a:bodyPr>
            <a:normAutofit fontScale="92500"/>
          </a:bodyPr>
          <a:lstStyle/>
          <a:p>
            <a:r>
              <a:rPr lang="es-MX" dirty="0"/>
              <a:t>Se desarrolló un proyecto completo de métodos de ordenamiento internos y externos con interfaz gráfica, lo que permite: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Comprender la lógica de algoritmos clásicos como </a:t>
            </a:r>
            <a:r>
              <a:rPr lang="es-MX" b="1" dirty="0"/>
              <a:t>Burbuja, </a:t>
            </a:r>
            <a:r>
              <a:rPr lang="es-MX" b="1" dirty="0" err="1"/>
              <a:t>QuickSort</a:t>
            </a:r>
            <a:r>
              <a:rPr lang="es-MX" b="1" dirty="0"/>
              <a:t>, </a:t>
            </a:r>
            <a:r>
              <a:rPr lang="es-MX" b="1" dirty="0" err="1"/>
              <a:t>ShellSort</a:t>
            </a:r>
            <a:r>
              <a:rPr lang="es-MX" b="1" dirty="0"/>
              <a:t> y </a:t>
            </a:r>
            <a:r>
              <a:rPr lang="es-MX" b="1" dirty="0" err="1"/>
              <a:t>Radix</a:t>
            </a:r>
            <a:r>
              <a:rPr lang="es-MX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Visualizar métodos externos como </a:t>
            </a:r>
            <a:r>
              <a:rPr lang="es-MX" b="1" dirty="0"/>
              <a:t>Intercalación, Mezcla Directa y Mezcla Natural</a:t>
            </a:r>
            <a:r>
              <a:rPr lang="es-MX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Comparar la eficiencia de cada algoritmo según el tipo y tamaño de los datos.</a:t>
            </a:r>
          </a:p>
          <a:p>
            <a:r>
              <a:rPr lang="es-MX" dirty="0"/>
              <a:t>El proyecto demuestra cómo se puede integrar la programación orientada a objetos, la recursión y la manipulación de </a:t>
            </a:r>
            <a:r>
              <a:rPr lang="es-MX" dirty="0" err="1"/>
              <a:t>arrays</a:t>
            </a:r>
            <a:r>
              <a:rPr lang="es-MX" dirty="0"/>
              <a:t> o estructuras de datos con </a:t>
            </a:r>
            <a:r>
              <a:rPr lang="es-MX" b="1" dirty="0"/>
              <a:t>interfaces gráficas modernas</a:t>
            </a:r>
            <a:r>
              <a:rPr lang="es-MX" dirty="0"/>
              <a:t>, consolidando conocimientos teóricos en una práctica visual y funcional.</a:t>
            </a:r>
          </a:p>
        </p:txBody>
      </p:sp>
    </p:spTree>
    <p:extLst>
      <p:ext uri="{BB962C8B-B14F-4D97-AF65-F5344CB8AC3E}">
        <p14:creationId xmlns:p14="http://schemas.microsoft.com/office/powerpoint/2010/main" val="4014250979"/>
      </p:ext>
    </p:extLst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Gota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Gota</Template>
  <TotalTime>40</TotalTime>
  <Words>641</Words>
  <Application>Microsoft Office PowerPoint</Application>
  <PresentationFormat>Panorámica</PresentationFormat>
  <Paragraphs>70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Tw Cen MT</vt:lpstr>
      <vt:lpstr>Gota</vt:lpstr>
      <vt:lpstr>Presentación de PowerPoint</vt:lpstr>
      <vt:lpstr>Introducción </vt:lpstr>
      <vt:lpstr>Justificación </vt:lpstr>
      <vt:lpstr>Pantalla Inicial</vt:lpstr>
      <vt:lpstr>Métodos internos</vt:lpstr>
      <vt:lpstr>Métodos externos</vt:lpstr>
      <vt:lpstr>Pantallas de los métodos de ordenamiento</vt:lpstr>
      <vt:lpstr>Conclusión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 840 G5</dc:creator>
  <cp:lastModifiedBy>HP 840 G5</cp:lastModifiedBy>
  <cp:revision>2</cp:revision>
  <dcterms:created xsi:type="dcterms:W3CDTF">2025-12-13T22:05:27Z</dcterms:created>
  <dcterms:modified xsi:type="dcterms:W3CDTF">2025-12-15T02:31:45Z</dcterms:modified>
</cp:coreProperties>
</file>