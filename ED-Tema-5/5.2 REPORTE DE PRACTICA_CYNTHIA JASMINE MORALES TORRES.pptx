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sldIdLst>
    <p:sldId id="256" r:id="rId2"/>
    <p:sldId id="257" r:id="rId3"/>
    <p:sldId id="258" r:id="rId4"/>
    <p:sldId id="261" r:id="rId5"/>
    <p:sldId id="262" r:id="rId6"/>
    <p:sldId id="263" r:id="rId7"/>
    <p:sldId id="259" r:id="rId8"/>
    <p:sldId id="260"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804"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B0255716-E614-4F00-BBFB-E5811B19B66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1999414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0255716-E614-4F00-BBFB-E5811B19B66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24204876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B0255716-E614-4F00-BBFB-E5811B19B66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75708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s-ES"/>
              <a:t>Haga clic para modificar el estilo de título del patrón</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B0255716-E614-4F00-BBFB-E5811B19B66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28306176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Content Placeholder 3"/>
          <p:cNvSpPr>
            <a:spLocks noGrp="1"/>
          </p:cNvSpPr>
          <p:nvPr>
            <p:ph sz="quarter" idx="13"/>
          </p:nvPr>
        </p:nvSpPr>
        <p:spPr>
          <a:xfrm>
            <a:off x="913774" y="3051012"/>
            <a:ext cx="5106027" cy="274018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3" name="Content Placeholder 5"/>
          <p:cNvSpPr>
            <a:spLocks noGrp="1"/>
          </p:cNvSpPr>
          <p:nvPr>
            <p:ph sz="quarter" idx="14"/>
          </p:nvPr>
        </p:nvSpPr>
        <p:spPr>
          <a:xfrm>
            <a:off x="6172200" y="3051012"/>
            <a:ext cx="5105401" cy="274018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B0255716-E614-4F00-BBFB-E5811B19B667}" type="datetimeFigureOut">
              <a:rPr lang="es-MX" smtClean="0"/>
              <a:t>13/12/2025</a:t>
            </a:fld>
            <a:endParaRPr lang="es-MX"/>
          </a:p>
        </p:txBody>
      </p:sp>
      <p:sp>
        <p:nvSpPr>
          <p:cNvPr id="8" name="Footer Placeholder 7"/>
          <p:cNvSpPr>
            <a:spLocks noGrp="1"/>
          </p:cNvSpPr>
          <p:nvPr>
            <p:ph type="ftr" sz="quarter" idx="11"/>
          </p:nvPr>
        </p:nvSpPr>
        <p:spPr/>
        <p:txBody>
          <a:bodyPr/>
          <a:lstStyle/>
          <a:p>
            <a:endParaRPr lang="es-MX"/>
          </a:p>
        </p:txBody>
      </p:sp>
      <p:sp>
        <p:nvSpPr>
          <p:cNvPr id="9" name="Slide Number Placeholder 8"/>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3680933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B0255716-E614-4F00-BBFB-E5811B19B667}" type="datetimeFigureOut">
              <a:rPr lang="es-MX" smtClean="0"/>
              <a:t>13/12/2025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1406342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B0255716-E614-4F00-BBFB-E5811B19B667}" type="datetimeFigureOut">
              <a:rPr lang="es-MX" smtClean="0"/>
              <a:t>13/12/2025</a:t>
            </a:fld>
            <a:endParaRPr lang="es-MX"/>
          </a:p>
        </p:txBody>
      </p:sp>
      <p:sp>
        <p:nvSpPr>
          <p:cNvPr id="3" name="Footer Placeholder 2"/>
          <p:cNvSpPr>
            <a:spLocks noGrp="1"/>
          </p:cNvSpPr>
          <p:nvPr>
            <p:ph type="ftr" sz="quarter" idx="11"/>
          </p:nvPr>
        </p:nvSpPr>
        <p:spPr/>
        <p:txBody>
          <a:bodyPr/>
          <a:lstStyle/>
          <a:p>
            <a:endParaRPr lang="es-MX"/>
          </a:p>
        </p:txBody>
      </p:sp>
      <p:sp>
        <p:nvSpPr>
          <p:cNvPr id="4" name="Slide Number Placeholder 3"/>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8477673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s-ES"/>
              <a:t>Haga clic para modificar el estilo de título del patrón</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0255716-E614-4F00-BBFB-E5811B19B66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5658132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0255716-E614-4F00-BBFB-E5811B19B66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3415988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0255716-E614-4F00-BBFB-E5811B19B66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4313254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0255716-E614-4F00-BBFB-E5811B19B66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42741370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s-ES"/>
              <a:t>Haga clic para modificar el estilo de título del patrón</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0255716-E614-4F00-BBFB-E5811B19B66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1133A022-2045-48D4-B8EC-41755C897F42}" type="slidenum">
              <a:rPr lang="es-MX" smtClean="0"/>
              <a:t>‹Nº›</a:t>
            </a:fld>
            <a:endParaRPr lang="es-MX"/>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863141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0255716-E614-4F00-BBFB-E5811B19B667}" type="datetimeFigureOut">
              <a:rPr lang="es-MX" smtClean="0"/>
              <a:t>13/12/2025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414104201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lumna 3">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s-ES"/>
              <a:t>Haga clic para modificar el estilo de título del patrón</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B0255716-E614-4F00-BBFB-E5811B19B667}" type="datetimeFigureOut">
              <a:rPr lang="es-MX" smtClean="0"/>
              <a:t>13/12/2025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116085817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lumna de imagen 3">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s-ES"/>
              <a:t>Haga clic para modificar el estilo de título del patrón</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B0255716-E614-4F00-BBFB-E5811B19B667}" type="datetimeFigureOut">
              <a:rPr lang="es-MX" smtClean="0"/>
              <a:t>13/12/2025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2978018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0255716-E614-4F00-BBFB-E5811B19B66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38430152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s-ES"/>
              <a:t>Haga clic para modificar el estilo de título del patrón</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0255716-E614-4F00-BBFB-E5811B19B66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186422373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ítulo y objetos">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s-ES"/>
              <a:t>Haga clic para modificar el estilo de título del patrón</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0255716-E614-4F00-BBFB-E5811B19B667}" type="datetimeFigureOut">
              <a:rPr lang="es-MX" smtClean="0"/>
              <a:t>13/12/2025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1133A022-2045-48D4-B8EC-41755C897F42}" type="slidenum">
              <a:rPr lang="es-MX" smtClean="0"/>
              <a:t>‹Nº›</a:t>
            </a:fld>
            <a:endParaRPr lang="es-MX"/>
          </a:p>
        </p:txBody>
      </p:sp>
    </p:spTree>
    <p:extLst>
      <p:ext uri="{BB962C8B-B14F-4D97-AF65-F5344CB8AC3E}">
        <p14:creationId xmlns:p14="http://schemas.microsoft.com/office/powerpoint/2010/main" val="3582158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mt="7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B0255716-E614-4F00-BBFB-E5811B19B667}" type="datetimeFigureOut">
              <a:rPr lang="es-MX" smtClean="0"/>
              <a:t>13/12/2025</a:t>
            </a:fld>
            <a:endParaRPr lang="es-MX"/>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s-MX"/>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1133A022-2045-48D4-B8EC-41755C897F42}" type="slidenum">
              <a:rPr lang="es-MX" smtClean="0"/>
              <a:t>‹Nº›</a:t>
            </a:fld>
            <a:endParaRPr lang="es-MX"/>
          </a:p>
        </p:txBody>
      </p:sp>
    </p:spTree>
    <p:extLst>
      <p:ext uri="{BB962C8B-B14F-4D97-AF65-F5344CB8AC3E}">
        <p14:creationId xmlns:p14="http://schemas.microsoft.com/office/powerpoint/2010/main" val="374319485"/>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 id="2147483714" r:id="rId18"/>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8.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2">
            <a:extLst>
              <a:ext uri="{FF2B5EF4-FFF2-40B4-BE49-F238E27FC236}">
                <a16:creationId xmlns:a16="http://schemas.microsoft.com/office/drawing/2014/main" id="{EBB90343-36AB-CE2C-8755-3B6CF43252EF}"/>
              </a:ext>
            </a:extLst>
          </p:cNvPr>
          <p:cNvSpPr txBox="1"/>
          <p:nvPr/>
        </p:nvSpPr>
        <p:spPr>
          <a:xfrm>
            <a:off x="3073400" y="884020"/>
            <a:ext cx="6045200" cy="5504327"/>
          </a:xfrm>
          <a:prstGeom prst="rect">
            <a:avLst/>
          </a:prstGeom>
        </p:spPr>
        <p:txBody>
          <a:bodyPr wrap="square" lIns="0" tIns="0" rIns="0" bIns="0" rtlCol="0" anchor="t">
            <a:spAutoFit/>
          </a:bodyPr>
          <a:lstStyle/>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Instituto </a:t>
            </a:r>
            <a:r>
              <a:rPr lang="en-US" sz="1200" b="1" dirty="0" err="1">
                <a:solidFill>
                  <a:srgbClr val="000000"/>
                </a:solidFill>
                <a:latin typeface="Century Gothic" panose="020B0502020202020204" pitchFamily="34" charset="0"/>
                <a:ea typeface="Glacial Indifference"/>
                <a:cs typeface="Glacial Indifference"/>
                <a:sym typeface="Glacial Indifference"/>
              </a:rPr>
              <a:t>Tecnológico</a:t>
            </a:r>
            <a:r>
              <a:rPr lang="en-US" sz="1200" b="1" dirty="0">
                <a:solidFill>
                  <a:srgbClr val="000000"/>
                </a:solidFill>
                <a:latin typeface="Century Gothic" panose="020B0502020202020204" pitchFamily="34" charset="0"/>
                <a:ea typeface="Glacial Indifference"/>
                <a:cs typeface="Glacial Indifference"/>
                <a:sym typeface="Glacial Indifference"/>
              </a:rPr>
              <a:t> de 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Modalidad</a:t>
            </a:r>
            <a:r>
              <a:rPr lang="en-US" sz="1200" b="1" dirty="0">
                <a:solidFill>
                  <a:srgbClr val="000000"/>
                </a:solidFill>
                <a:latin typeface="Century Gothic" panose="020B0502020202020204" pitchFamily="34" charset="0"/>
                <a:ea typeface="Glacial Indifference"/>
                <a:cs typeface="Glacial Indifference"/>
                <a:sym typeface="Glacial Indifference"/>
              </a:rPr>
              <a:t> Mixta</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Materia:</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Estructura</a:t>
            </a:r>
            <a:r>
              <a:rPr lang="en-US" sz="1200" b="1" dirty="0">
                <a:solidFill>
                  <a:srgbClr val="000000"/>
                </a:solidFill>
                <a:latin typeface="Century Gothic" panose="020B0502020202020204" pitchFamily="34" charset="0"/>
                <a:ea typeface="Glacial Indifference"/>
                <a:cs typeface="Glacial Indifference"/>
                <a:sym typeface="Glacial Indifference"/>
              </a:rPr>
              <a:t> de Datos</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Quinto </a:t>
            </a:r>
            <a:r>
              <a:rPr lang="en-US" sz="1200" b="1" dirty="0" err="1">
                <a:solidFill>
                  <a:srgbClr val="000000"/>
                </a:solidFill>
                <a:latin typeface="Century Gothic" panose="020B0502020202020204" pitchFamily="34" charset="0"/>
                <a:ea typeface="Glacial Indifference"/>
                <a:cs typeface="Glacial Indifference"/>
                <a:sym typeface="Glacial Indifference"/>
              </a:rPr>
              <a:t>semestre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Especialidad</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Ingeniería </a:t>
            </a:r>
            <a:r>
              <a:rPr lang="en-US" sz="1200" b="1" dirty="0" err="1">
                <a:solidFill>
                  <a:srgbClr val="000000"/>
                </a:solidFill>
                <a:latin typeface="Century Gothic" panose="020B0502020202020204" pitchFamily="34" charset="0"/>
                <a:ea typeface="Glacial Indifference"/>
                <a:cs typeface="Glacial Indifference"/>
                <a:sym typeface="Glacial Indifference"/>
              </a:rPr>
              <a:t>en</a:t>
            </a:r>
            <a:r>
              <a:rPr lang="en-US" sz="1200" b="1" dirty="0">
                <a:solidFill>
                  <a:srgbClr val="000000"/>
                </a:solidFill>
                <a:latin typeface="Century Gothic" panose="020B0502020202020204" pitchFamily="34" charset="0"/>
                <a:ea typeface="Glacial Indifference"/>
                <a:cs typeface="Glacial Indifference"/>
                <a:sym typeface="Glacial Indifference"/>
              </a:rPr>
              <a:t> Sistemas </a:t>
            </a:r>
            <a:r>
              <a:rPr lang="en-US" sz="1200" b="1" dirty="0" err="1">
                <a:solidFill>
                  <a:srgbClr val="000000"/>
                </a:solidFill>
                <a:latin typeface="Century Gothic" panose="020B0502020202020204" pitchFamily="34" charset="0"/>
                <a:ea typeface="Glacial Indifference"/>
                <a:cs typeface="Glacial Indifference"/>
                <a:sym typeface="Glacial Indifference"/>
              </a:rPr>
              <a:t>Computacionales</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Numero</a:t>
            </a:r>
            <a:r>
              <a:rPr lang="en-US" sz="1200" b="1" dirty="0">
                <a:solidFill>
                  <a:srgbClr val="000000"/>
                </a:solidFill>
                <a:latin typeface="Century Gothic" panose="020B0502020202020204" pitchFamily="34" charset="0"/>
                <a:ea typeface="Glacial Indifference"/>
                <a:cs typeface="Glacial Indifference"/>
                <a:sym typeface="Glacial Indifference"/>
              </a:rPr>
              <a:t> de control:</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231260014</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alumno</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Cynthia Jasmine Morales Torres</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docente</a:t>
            </a:r>
            <a:r>
              <a:rPr lang="en-US" sz="1200" b="1" dirty="0">
                <a:solidFill>
                  <a:srgbClr val="000000"/>
                </a:solidFill>
                <a:latin typeface="Century Gothic" panose="020B0502020202020204" pitchFamily="34" charset="0"/>
                <a:ea typeface="Glacial Indifference"/>
                <a:cs typeface="Glacial Indifference"/>
                <a:sym typeface="Glacial Indifference"/>
              </a:rPr>
              <a:t>: </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Ing. Francisco Javier Mingo Velazquez</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Nombre del </a:t>
            </a:r>
            <a:r>
              <a:rPr lang="en-US" sz="1200" b="1" dirty="0" err="1">
                <a:solidFill>
                  <a:srgbClr val="000000"/>
                </a:solidFill>
                <a:latin typeface="Century Gothic" panose="020B0502020202020204" pitchFamily="34" charset="0"/>
                <a:ea typeface="Glacial Indifference"/>
                <a:cs typeface="Glacial Indifference"/>
                <a:sym typeface="Glacial Indifference"/>
              </a:rPr>
              <a:t>trabajo</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5.2 </a:t>
            </a:r>
            <a:r>
              <a:rPr lang="en-US" sz="1200" b="1" dirty="0" err="1">
                <a:solidFill>
                  <a:srgbClr val="000000"/>
                </a:solidFill>
                <a:latin typeface="Century Gothic" panose="020B0502020202020204" pitchFamily="34" charset="0"/>
                <a:ea typeface="Glacial Indifference"/>
                <a:cs typeface="Glacial Indifference"/>
                <a:sym typeface="Glacial Indifference"/>
              </a:rPr>
              <a:t>Reporte</a:t>
            </a:r>
            <a:r>
              <a:rPr lang="en-US" sz="1200" b="1" dirty="0">
                <a:solidFill>
                  <a:srgbClr val="000000"/>
                </a:solidFill>
                <a:latin typeface="Century Gothic" panose="020B0502020202020204" pitchFamily="34" charset="0"/>
                <a:ea typeface="Glacial Indifference"/>
                <a:cs typeface="Glacial Indifference"/>
                <a:sym typeface="Glacial Indifference"/>
              </a:rPr>
              <a:t> de </a:t>
            </a:r>
            <a:r>
              <a:rPr lang="en-US" sz="1200" b="1" dirty="0" err="1">
                <a:solidFill>
                  <a:srgbClr val="000000"/>
                </a:solidFill>
                <a:latin typeface="Century Gothic" panose="020B0502020202020204" pitchFamily="34" charset="0"/>
                <a:ea typeface="Glacial Indifference"/>
                <a:cs typeface="Glacial Indifference"/>
                <a:sym typeface="Glacial Indifference"/>
              </a:rPr>
              <a:t>Practica</a:t>
            </a: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err="1">
                <a:solidFill>
                  <a:srgbClr val="000000"/>
                </a:solidFill>
                <a:latin typeface="Century Gothic" panose="020B0502020202020204" pitchFamily="34" charset="0"/>
                <a:ea typeface="Glacial Indifference"/>
                <a:cs typeface="Glacial Indifference"/>
                <a:sym typeface="Glacial Indifference"/>
              </a:rPr>
              <a:t>Fecha</a:t>
            </a:r>
            <a:r>
              <a:rPr lang="en-US" sz="1200" b="1" dirty="0">
                <a:solidFill>
                  <a:srgbClr val="000000"/>
                </a:solidFill>
                <a:latin typeface="Century Gothic" panose="020B0502020202020204" pitchFamily="34" charset="0"/>
                <a:ea typeface="Glacial Indifference"/>
                <a:cs typeface="Glacial Indifference"/>
                <a:sym typeface="Glacial Indifference"/>
              </a:rPr>
              <a:t> de </a:t>
            </a:r>
            <a:r>
              <a:rPr lang="en-US" sz="1200" b="1" dirty="0" err="1">
                <a:solidFill>
                  <a:srgbClr val="000000"/>
                </a:solidFill>
                <a:latin typeface="Century Gothic" panose="020B0502020202020204" pitchFamily="34" charset="0"/>
                <a:ea typeface="Glacial Indifference"/>
                <a:cs typeface="Glacial Indifference"/>
                <a:sym typeface="Glacial Indifference"/>
              </a:rPr>
              <a:t>entrega</a:t>
            </a:r>
            <a:r>
              <a:rPr lang="en-US" sz="1200" b="1" dirty="0">
                <a:solidFill>
                  <a:srgbClr val="000000"/>
                </a:solidFill>
                <a:latin typeface="Century Gothic" panose="020B0502020202020204" pitchFamily="34" charset="0"/>
                <a:ea typeface="Glacial Indifference"/>
                <a:cs typeface="Glacial Indifference"/>
                <a:sym typeface="Glacial Indifference"/>
              </a:rPr>
              <a:t>:</a:t>
            </a:r>
          </a:p>
          <a:p>
            <a:pPr algn="ctr">
              <a:lnSpc>
                <a:spcPct val="150000"/>
              </a:lnSpc>
              <a:spcBef>
                <a:spcPct val="0"/>
              </a:spcBef>
            </a:pPr>
            <a:endParaRPr lang="en-US" sz="1200" b="1" dirty="0">
              <a:solidFill>
                <a:srgbClr val="000000"/>
              </a:solidFill>
              <a:latin typeface="Century Gothic" panose="020B0502020202020204" pitchFamily="34" charset="0"/>
              <a:ea typeface="Glacial Indifference"/>
              <a:cs typeface="Glacial Indifference"/>
              <a:sym typeface="Glacial Indifference"/>
            </a:endParaRPr>
          </a:p>
          <a:p>
            <a:pPr algn="ctr">
              <a:lnSpc>
                <a:spcPct val="150000"/>
              </a:lnSpc>
              <a:spcBef>
                <a:spcPct val="0"/>
              </a:spcBef>
            </a:pPr>
            <a:r>
              <a:rPr lang="en-US" sz="1200" b="1" dirty="0">
                <a:solidFill>
                  <a:srgbClr val="000000"/>
                </a:solidFill>
                <a:latin typeface="Century Gothic" panose="020B0502020202020204" pitchFamily="34" charset="0"/>
                <a:ea typeface="Glacial Indifference"/>
                <a:cs typeface="Glacial Indifference"/>
                <a:sym typeface="Glacial Indifference"/>
              </a:rPr>
              <a:t>Frontera </a:t>
            </a:r>
            <a:r>
              <a:rPr lang="en-US" sz="1200" b="1" dirty="0" err="1">
                <a:solidFill>
                  <a:srgbClr val="000000"/>
                </a:solidFill>
                <a:latin typeface="Century Gothic" panose="020B0502020202020204" pitchFamily="34" charset="0"/>
                <a:ea typeface="Glacial Indifference"/>
                <a:cs typeface="Glacial Indifference"/>
                <a:sym typeface="Glacial Indifference"/>
              </a:rPr>
              <a:t>Comalapa</a:t>
            </a:r>
            <a:r>
              <a:rPr lang="en-US" sz="1200" b="1" dirty="0">
                <a:solidFill>
                  <a:srgbClr val="000000"/>
                </a:solidFill>
                <a:latin typeface="Century Gothic" panose="020B0502020202020204" pitchFamily="34" charset="0"/>
                <a:ea typeface="Glacial Indifference"/>
                <a:cs typeface="Glacial Indifference"/>
                <a:sym typeface="Glacial Indifference"/>
              </a:rPr>
              <a:t>, Chiapas. A 13 de </a:t>
            </a:r>
            <a:r>
              <a:rPr lang="en-US" sz="1200" b="1" dirty="0" err="1">
                <a:solidFill>
                  <a:srgbClr val="000000"/>
                </a:solidFill>
                <a:latin typeface="Century Gothic" panose="020B0502020202020204" pitchFamily="34" charset="0"/>
                <a:ea typeface="Glacial Indifference"/>
                <a:cs typeface="Glacial Indifference"/>
                <a:sym typeface="Glacial Indifference"/>
              </a:rPr>
              <a:t>diciembre</a:t>
            </a:r>
            <a:r>
              <a:rPr lang="en-US" sz="1200" b="1" dirty="0">
                <a:solidFill>
                  <a:srgbClr val="000000"/>
                </a:solidFill>
                <a:latin typeface="Century Gothic" panose="020B0502020202020204" pitchFamily="34" charset="0"/>
                <a:ea typeface="Glacial Indifference"/>
                <a:cs typeface="Glacial Indifference"/>
                <a:sym typeface="Glacial Indifference"/>
              </a:rPr>
              <a:t> de 2025</a:t>
            </a:r>
          </a:p>
        </p:txBody>
      </p:sp>
      <p:sp>
        <p:nvSpPr>
          <p:cNvPr id="5" name="Freeform 3">
            <a:extLst>
              <a:ext uri="{FF2B5EF4-FFF2-40B4-BE49-F238E27FC236}">
                <a16:creationId xmlns:a16="http://schemas.microsoft.com/office/drawing/2014/main" id="{8FE434AA-76FB-3518-EC8D-2FF16B8066BA}"/>
              </a:ext>
            </a:extLst>
          </p:cNvPr>
          <p:cNvSpPr/>
          <p:nvPr/>
        </p:nvSpPr>
        <p:spPr>
          <a:xfrm>
            <a:off x="1835071" y="151054"/>
            <a:ext cx="1985447" cy="917245"/>
          </a:xfrm>
          <a:custGeom>
            <a:avLst/>
            <a:gdLst/>
            <a:ahLst/>
            <a:cxnLst/>
            <a:rect l="l" t="t" r="r" b="b"/>
            <a:pathLst>
              <a:path w="3135296" h="1339792">
                <a:moveTo>
                  <a:pt x="0" y="0"/>
                </a:moveTo>
                <a:lnTo>
                  <a:pt x="3135296" y="0"/>
                </a:lnTo>
                <a:lnTo>
                  <a:pt x="3135296" y="1339792"/>
                </a:lnTo>
                <a:lnTo>
                  <a:pt x="0" y="1339792"/>
                </a:lnTo>
                <a:lnTo>
                  <a:pt x="0" y="0"/>
                </a:lnTo>
                <a:close/>
              </a:path>
            </a:pathLst>
          </a:custGeom>
          <a:blipFill>
            <a:blip r:embed="rId2"/>
            <a:stretch>
              <a:fillRect/>
            </a:stretch>
          </a:blipFill>
        </p:spPr>
      </p:sp>
      <p:sp>
        <p:nvSpPr>
          <p:cNvPr id="6" name="Freeform 4">
            <a:extLst>
              <a:ext uri="{FF2B5EF4-FFF2-40B4-BE49-F238E27FC236}">
                <a16:creationId xmlns:a16="http://schemas.microsoft.com/office/drawing/2014/main" id="{B078BED9-1476-18E9-468B-7BA3E76462DA}"/>
              </a:ext>
            </a:extLst>
          </p:cNvPr>
          <p:cNvSpPr/>
          <p:nvPr/>
        </p:nvSpPr>
        <p:spPr>
          <a:xfrm>
            <a:off x="8907659" y="223617"/>
            <a:ext cx="1385614" cy="844682"/>
          </a:xfrm>
          <a:custGeom>
            <a:avLst/>
            <a:gdLst/>
            <a:ahLst/>
            <a:cxnLst/>
            <a:rect l="l" t="t" r="r" b="b"/>
            <a:pathLst>
              <a:path w="2019078" h="1652713">
                <a:moveTo>
                  <a:pt x="0" y="0"/>
                </a:moveTo>
                <a:lnTo>
                  <a:pt x="2019078" y="0"/>
                </a:lnTo>
                <a:lnTo>
                  <a:pt x="2019078" y="1652713"/>
                </a:lnTo>
                <a:lnTo>
                  <a:pt x="0" y="1652713"/>
                </a:lnTo>
                <a:lnTo>
                  <a:pt x="0" y="0"/>
                </a:lnTo>
                <a:close/>
              </a:path>
            </a:pathLst>
          </a:custGeom>
          <a:blipFill>
            <a:blip r:embed="rId3"/>
            <a:stretch>
              <a:fillRect/>
            </a:stretch>
          </a:blipFill>
        </p:spPr>
      </p:sp>
      <p:sp>
        <p:nvSpPr>
          <p:cNvPr id="7" name="Freeform 5">
            <a:extLst>
              <a:ext uri="{FF2B5EF4-FFF2-40B4-BE49-F238E27FC236}">
                <a16:creationId xmlns:a16="http://schemas.microsoft.com/office/drawing/2014/main" id="{EBBFD35F-77B1-7F4F-EB75-2614FE3D84A2}"/>
              </a:ext>
            </a:extLst>
          </p:cNvPr>
          <p:cNvSpPr/>
          <p:nvPr/>
        </p:nvSpPr>
        <p:spPr>
          <a:xfrm>
            <a:off x="4694917" y="201575"/>
            <a:ext cx="2802166" cy="584341"/>
          </a:xfrm>
          <a:custGeom>
            <a:avLst/>
            <a:gdLst/>
            <a:ahLst/>
            <a:cxnLst/>
            <a:rect l="l" t="t" r="r" b="b"/>
            <a:pathLst>
              <a:path w="4428347" h="916210">
                <a:moveTo>
                  <a:pt x="0" y="0"/>
                </a:moveTo>
                <a:lnTo>
                  <a:pt x="4428347" y="0"/>
                </a:lnTo>
                <a:lnTo>
                  <a:pt x="4428347" y="916210"/>
                </a:lnTo>
                <a:lnTo>
                  <a:pt x="0" y="916210"/>
                </a:lnTo>
                <a:lnTo>
                  <a:pt x="0" y="0"/>
                </a:lnTo>
                <a:close/>
              </a:path>
            </a:pathLst>
          </a:custGeom>
          <a:blipFill>
            <a:blip r:embed="rId4"/>
            <a:stretch>
              <a:fillRect/>
            </a:stretch>
          </a:blipFill>
        </p:spPr>
      </p:sp>
    </p:spTree>
    <p:extLst>
      <p:ext uri="{BB962C8B-B14F-4D97-AF65-F5344CB8AC3E}">
        <p14:creationId xmlns:p14="http://schemas.microsoft.com/office/powerpoint/2010/main" val="2623697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AA82E9-D52C-25D2-D4B7-2640F155F155}"/>
              </a:ext>
            </a:extLst>
          </p:cNvPr>
          <p:cNvSpPr>
            <a:spLocks noGrp="1"/>
          </p:cNvSpPr>
          <p:nvPr>
            <p:ph type="title"/>
          </p:nvPr>
        </p:nvSpPr>
        <p:spPr>
          <a:xfrm>
            <a:off x="1534687" y="613836"/>
            <a:ext cx="8911687" cy="1280890"/>
          </a:xfrm>
        </p:spPr>
        <p:txBody>
          <a:bodyPr/>
          <a:lstStyle/>
          <a:p>
            <a:r>
              <a:rPr lang="es-MX" dirty="0"/>
              <a:t>Introducción </a:t>
            </a:r>
          </a:p>
        </p:txBody>
      </p:sp>
      <p:sp>
        <p:nvSpPr>
          <p:cNvPr id="3" name="Marcador de contenido 2">
            <a:extLst>
              <a:ext uri="{FF2B5EF4-FFF2-40B4-BE49-F238E27FC236}">
                <a16:creationId xmlns:a16="http://schemas.microsoft.com/office/drawing/2014/main" id="{A88CDCE0-A226-3BC8-F242-295074220072}"/>
              </a:ext>
            </a:extLst>
          </p:cNvPr>
          <p:cNvSpPr>
            <a:spLocks noGrp="1"/>
          </p:cNvSpPr>
          <p:nvPr>
            <p:ph idx="1"/>
          </p:nvPr>
        </p:nvSpPr>
        <p:spPr>
          <a:xfrm>
            <a:off x="1726183" y="2133600"/>
            <a:ext cx="8915400" cy="3777622"/>
          </a:xfrm>
        </p:spPr>
        <p:txBody>
          <a:bodyPr/>
          <a:lstStyle/>
          <a:p>
            <a:pPr marL="0" indent="0" algn="just">
              <a:buNone/>
            </a:pPr>
            <a:r>
              <a:rPr lang="es-MX" dirty="0"/>
              <a:t>El presente proyecto tiene como objetivo desarrollar una aplicación en </a:t>
            </a:r>
            <a:r>
              <a:rPr lang="es-MX" b="1" dirty="0" err="1"/>
              <a:t>JavaFX</a:t>
            </a:r>
            <a:r>
              <a:rPr lang="es-MX" dirty="0"/>
              <a:t> que permita realizar diferentes métodos de </a:t>
            </a:r>
            <a:r>
              <a:rPr lang="es-MX" b="1" dirty="0"/>
              <a:t>ordenamiento de datos</a:t>
            </a:r>
            <a:r>
              <a:rPr lang="es-MX" dirty="0"/>
              <a:t>, tanto de manera </a:t>
            </a:r>
            <a:r>
              <a:rPr lang="es-MX" b="1" dirty="0"/>
              <a:t>interna</a:t>
            </a:r>
            <a:r>
              <a:rPr lang="es-MX" dirty="0"/>
              <a:t> (en memoria) como </a:t>
            </a:r>
            <a:r>
              <a:rPr lang="es-MX" b="1" dirty="0"/>
              <a:t>externa</a:t>
            </a:r>
            <a:r>
              <a:rPr lang="es-MX" dirty="0"/>
              <a:t> (desde archivos). La aplicación incluye un entorno gráfico interactivo, que facilita la visualización de los resultados de los procesos de ordenamiento, ofreciendo al usuario una experiencia más intuitiva que la tradicional ejecución por consola. El enfoque en la interfaz gráfica también permite comprender mejor el comportamiento de los algoritmos y cómo se aplican a distintos tipos de datos.</a:t>
            </a:r>
          </a:p>
        </p:txBody>
      </p:sp>
    </p:spTree>
    <p:extLst>
      <p:ext uri="{BB962C8B-B14F-4D97-AF65-F5344CB8AC3E}">
        <p14:creationId xmlns:p14="http://schemas.microsoft.com/office/powerpoint/2010/main" val="16181660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5A3EC09-7108-F352-F831-28118DB65D6A}"/>
              </a:ext>
            </a:extLst>
          </p:cNvPr>
          <p:cNvSpPr>
            <a:spLocks noGrp="1"/>
          </p:cNvSpPr>
          <p:nvPr>
            <p:ph type="title"/>
          </p:nvPr>
        </p:nvSpPr>
        <p:spPr>
          <a:xfrm>
            <a:off x="1859747" y="603562"/>
            <a:ext cx="8911687" cy="1280890"/>
          </a:xfrm>
        </p:spPr>
        <p:txBody>
          <a:bodyPr/>
          <a:lstStyle/>
          <a:p>
            <a:r>
              <a:rPr lang="es-MX" dirty="0"/>
              <a:t>Justificación </a:t>
            </a:r>
          </a:p>
        </p:txBody>
      </p:sp>
      <p:sp>
        <p:nvSpPr>
          <p:cNvPr id="3" name="Marcador de contenido 2">
            <a:extLst>
              <a:ext uri="{FF2B5EF4-FFF2-40B4-BE49-F238E27FC236}">
                <a16:creationId xmlns:a16="http://schemas.microsoft.com/office/drawing/2014/main" id="{00ECF52F-AAC5-892F-F67A-A20E40030BF5}"/>
              </a:ext>
            </a:extLst>
          </p:cNvPr>
          <p:cNvSpPr>
            <a:spLocks noGrp="1"/>
          </p:cNvSpPr>
          <p:nvPr>
            <p:ph idx="1"/>
          </p:nvPr>
        </p:nvSpPr>
        <p:spPr>
          <a:xfrm>
            <a:off x="1859747" y="2174696"/>
            <a:ext cx="8915400" cy="3777622"/>
          </a:xfrm>
        </p:spPr>
        <p:txBody>
          <a:bodyPr>
            <a:normAutofit fontScale="77500" lnSpcReduction="20000"/>
          </a:bodyPr>
          <a:lstStyle/>
          <a:p>
            <a:pPr marL="0" indent="0" algn="just">
              <a:buNone/>
            </a:pPr>
            <a:r>
              <a:rPr lang="es-MX" dirty="0"/>
              <a:t>La necesidad de ordenar datos es fundamental en la informática y en la gestión de información, ya que los datos ordenados facilitan la búsqueda, comparación y análisis eficiente. Implementar un proyecto que combine </a:t>
            </a:r>
            <a:r>
              <a:rPr lang="es-MX" b="1" dirty="0"/>
              <a:t>ordenamiento interno</a:t>
            </a:r>
            <a:r>
              <a:rPr lang="es-MX" dirty="0"/>
              <a:t> y </a:t>
            </a:r>
            <a:r>
              <a:rPr lang="es-MX" b="1" dirty="0"/>
              <a:t>ordenamiento externo</a:t>
            </a:r>
            <a:r>
              <a:rPr lang="es-MX" dirty="0"/>
              <a:t> permite abordar casos prácticos:</a:t>
            </a:r>
          </a:p>
          <a:p>
            <a:pPr algn="just">
              <a:buFont typeface="Arial" panose="020B0604020202020204" pitchFamily="34" charset="0"/>
              <a:buChar char="•"/>
            </a:pPr>
            <a:r>
              <a:rPr lang="es-MX" b="1" dirty="0"/>
              <a:t>Ordenamiento interno</a:t>
            </a:r>
            <a:r>
              <a:rPr lang="es-MX" dirty="0"/>
              <a:t>, ideal para conjuntos de datos que caben completamente en memoria.</a:t>
            </a:r>
          </a:p>
          <a:p>
            <a:pPr algn="just">
              <a:buFont typeface="Arial" panose="020B0604020202020204" pitchFamily="34" charset="0"/>
              <a:buChar char="•"/>
            </a:pPr>
            <a:r>
              <a:rPr lang="es-MX" b="1" dirty="0"/>
              <a:t>Ordenamiento externo</a:t>
            </a:r>
            <a:r>
              <a:rPr lang="es-MX" dirty="0"/>
              <a:t>, necesario cuando los datos son muy grandes y no es posible cargarlos completamente en memoria.</a:t>
            </a:r>
          </a:p>
          <a:p>
            <a:pPr marL="0" indent="0" algn="just">
              <a:buNone/>
            </a:pPr>
            <a:r>
              <a:rPr lang="es-MX" dirty="0"/>
              <a:t>El uso de </a:t>
            </a:r>
            <a:r>
              <a:rPr lang="es-MX" b="1" dirty="0" err="1"/>
              <a:t>JavaFX</a:t>
            </a:r>
            <a:r>
              <a:rPr lang="es-MX" dirty="0"/>
              <a:t> como herramienta de desarrollo se justifica por su capacidad para crear interfaces gráficas modernas y atractivas, que mejoran la interacción con el usuario y permiten visualizar resultados de manera clara y comprensible. Además, la modularidad del código facilita la comprensión de cada algoritmo y su reutilización en futuros proyectos.</a:t>
            </a:r>
          </a:p>
          <a:p>
            <a:pPr marL="0" indent="0" algn="just">
              <a:buNone/>
            </a:pPr>
            <a:endParaRPr lang="es-MX" dirty="0"/>
          </a:p>
        </p:txBody>
      </p:sp>
    </p:spTree>
    <p:extLst>
      <p:ext uri="{BB962C8B-B14F-4D97-AF65-F5344CB8AC3E}">
        <p14:creationId xmlns:p14="http://schemas.microsoft.com/office/powerpoint/2010/main" val="402172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689ABB1-5023-7FCB-BA11-1154A4F103B9}"/>
              </a:ext>
            </a:extLst>
          </p:cNvPr>
          <p:cNvSpPr>
            <a:spLocks noGrp="1"/>
          </p:cNvSpPr>
          <p:nvPr>
            <p:ph type="title"/>
          </p:nvPr>
        </p:nvSpPr>
        <p:spPr>
          <a:xfrm>
            <a:off x="6096000" y="285063"/>
            <a:ext cx="3470221" cy="865643"/>
          </a:xfrm>
        </p:spPr>
        <p:txBody>
          <a:bodyPr>
            <a:normAutofit fontScale="90000"/>
          </a:bodyPr>
          <a:lstStyle/>
          <a:p>
            <a:r>
              <a:rPr lang="es-MX" dirty="0"/>
              <a:t>1. controlador</a:t>
            </a:r>
          </a:p>
        </p:txBody>
      </p:sp>
      <p:sp>
        <p:nvSpPr>
          <p:cNvPr id="4" name="Rectangle 1">
            <a:extLst>
              <a:ext uri="{FF2B5EF4-FFF2-40B4-BE49-F238E27FC236}">
                <a16:creationId xmlns:a16="http://schemas.microsoft.com/office/drawing/2014/main" id="{DC06B0C6-6267-BFAA-03C3-D94A41DB2232}"/>
              </a:ext>
            </a:extLst>
          </p:cNvPr>
          <p:cNvSpPr>
            <a:spLocks noGrp="1" noChangeArrowheads="1"/>
          </p:cNvSpPr>
          <p:nvPr>
            <p:ph idx="1"/>
          </p:nvPr>
        </p:nvSpPr>
        <p:spPr bwMode="auto">
          <a:xfrm>
            <a:off x="6184505" y="1261783"/>
            <a:ext cx="4829390"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None/>
              <a:tabLst/>
            </a:pPr>
            <a:r>
              <a:rPr lang="es-MX" altLang="es-MX" sz="1800" cap="none" dirty="0"/>
              <a:t>Controlador asociado al FXML.</a:t>
            </a:r>
          </a:p>
          <a:p>
            <a:pPr marL="0" marR="0" lvl="0" indent="0" algn="just" defTabSz="914400" rtl="0" eaLnBrk="0" fontAlgn="base" latinLnBrk="0" hangingPunct="0">
              <a:lnSpc>
                <a:spcPct val="100000"/>
              </a:lnSpc>
              <a:spcBef>
                <a:spcPct val="0"/>
              </a:spcBef>
              <a:spcAft>
                <a:spcPct val="0"/>
              </a:spcAft>
              <a:buClrTx/>
              <a:buSzTx/>
              <a:buNone/>
              <a:tabLst/>
            </a:pPr>
            <a:endParaRPr lang="es-MX" altLang="es-MX" sz="1800" cap="none" dirty="0"/>
          </a:p>
          <a:p>
            <a:pPr marL="0" marR="0" lvl="0" indent="0" algn="just" defTabSz="914400" rtl="0" eaLnBrk="0" fontAlgn="base" latinLnBrk="0" hangingPunct="0">
              <a:lnSpc>
                <a:spcPct val="100000"/>
              </a:lnSpc>
              <a:spcBef>
                <a:spcPct val="0"/>
              </a:spcBef>
              <a:spcAft>
                <a:spcPct val="0"/>
              </a:spcAft>
              <a:buClrTx/>
              <a:buSzTx/>
              <a:buNone/>
              <a:tabLst/>
            </a:pPr>
            <a:r>
              <a:rPr lang="es-MX" altLang="es-MX" sz="1800" cap="none" dirty="0"/>
              <a:t>Contiene los métodos que se ejecutan al presionar los botones:</a:t>
            </a:r>
          </a:p>
          <a:p>
            <a:pPr algn="just" eaLnBrk="0" fontAlgn="base" hangingPunct="0">
              <a:lnSpc>
                <a:spcPct val="100000"/>
              </a:lnSpc>
              <a:spcBef>
                <a:spcPct val="0"/>
              </a:spcBef>
              <a:spcAft>
                <a:spcPct val="0"/>
              </a:spcAft>
              <a:buClrTx/>
            </a:pPr>
            <a:r>
              <a:rPr lang="es-MX" altLang="es-MX" sz="1800" cap="none" dirty="0"/>
              <a:t>Ordenamiento interno: se crea un arreglo en memoria, se muestra el arreglo original en un </a:t>
            </a:r>
            <a:r>
              <a:rPr lang="es-MX" altLang="es-MX" sz="1800" cap="none" dirty="0" err="1"/>
              <a:t>textarea</a:t>
            </a:r>
            <a:r>
              <a:rPr lang="es-MX" altLang="es-MX" sz="1800" cap="none" dirty="0"/>
              <a:t>, se aplica el método burbuja y luego se muestra el arreglo ordenado.</a:t>
            </a:r>
          </a:p>
          <a:p>
            <a:pPr algn="just" eaLnBrk="0" fontAlgn="base" hangingPunct="0">
              <a:lnSpc>
                <a:spcPct val="100000"/>
              </a:lnSpc>
              <a:spcBef>
                <a:spcPct val="0"/>
              </a:spcBef>
              <a:spcAft>
                <a:spcPct val="0"/>
              </a:spcAft>
              <a:buClrTx/>
            </a:pPr>
            <a:r>
              <a:rPr lang="es-MX" altLang="es-MX" sz="1800" cap="none" dirty="0"/>
              <a:t>Ordenamiento externo: permite seleccionar un archivo de entrada y guardar el archivo ordenado. Se leen los números del archivo, se ordenan usando </a:t>
            </a:r>
            <a:r>
              <a:rPr lang="es-MX" altLang="es-MX" sz="1800" cap="none" dirty="0" err="1"/>
              <a:t>collections.Sort</a:t>
            </a:r>
            <a:r>
              <a:rPr lang="es-MX" altLang="es-MX" sz="1800" cap="none" dirty="0"/>
              <a:t>() y se escribe el resultado en un archivo de salida.</a:t>
            </a:r>
          </a:p>
          <a:p>
            <a:pPr marL="0" marR="0" lvl="0" indent="0" algn="just" defTabSz="914400" rtl="0" eaLnBrk="0" fontAlgn="base" latinLnBrk="0" hangingPunct="0">
              <a:lnSpc>
                <a:spcPct val="100000"/>
              </a:lnSpc>
              <a:spcBef>
                <a:spcPct val="0"/>
              </a:spcBef>
              <a:spcAft>
                <a:spcPct val="0"/>
              </a:spcAft>
              <a:buClrTx/>
              <a:buSzTx/>
              <a:buFontTx/>
              <a:buNone/>
              <a:tabLst/>
            </a:pPr>
            <a:endParaRPr lang="es-MX" altLang="es-MX" sz="1800" cap="none" dirty="0"/>
          </a:p>
        </p:txBody>
      </p:sp>
      <p:pic>
        <p:nvPicPr>
          <p:cNvPr id="6" name="Imagen 5">
            <a:extLst>
              <a:ext uri="{FF2B5EF4-FFF2-40B4-BE49-F238E27FC236}">
                <a16:creationId xmlns:a16="http://schemas.microsoft.com/office/drawing/2014/main" id="{E51545FA-099C-F7A7-2920-8456FE46EE2E}"/>
              </a:ext>
            </a:extLst>
          </p:cNvPr>
          <p:cNvPicPr>
            <a:picLocks noChangeAspect="1"/>
          </p:cNvPicPr>
          <p:nvPr/>
        </p:nvPicPr>
        <p:blipFill>
          <a:blip r:embed="rId2"/>
          <a:stretch>
            <a:fillRect/>
          </a:stretch>
        </p:blipFill>
        <p:spPr>
          <a:xfrm>
            <a:off x="0" y="80887"/>
            <a:ext cx="4829390" cy="3493841"/>
          </a:xfrm>
          <a:prstGeom prst="rect">
            <a:avLst/>
          </a:prstGeom>
        </p:spPr>
      </p:pic>
      <p:pic>
        <p:nvPicPr>
          <p:cNvPr id="8" name="Imagen 7">
            <a:extLst>
              <a:ext uri="{FF2B5EF4-FFF2-40B4-BE49-F238E27FC236}">
                <a16:creationId xmlns:a16="http://schemas.microsoft.com/office/drawing/2014/main" id="{161CEBB0-35E4-242A-F9B1-E743A34E7485}"/>
              </a:ext>
            </a:extLst>
          </p:cNvPr>
          <p:cNvPicPr>
            <a:picLocks noChangeAspect="1"/>
          </p:cNvPicPr>
          <p:nvPr/>
        </p:nvPicPr>
        <p:blipFill>
          <a:blip r:embed="rId3"/>
          <a:stretch>
            <a:fillRect/>
          </a:stretch>
        </p:blipFill>
        <p:spPr>
          <a:xfrm>
            <a:off x="0" y="3574728"/>
            <a:ext cx="5219272" cy="3314746"/>
          </a:xfrm>
          <a:prstGeom prst="rect">
            <a:avLst/>
          </a:prstGeom>
        </p:spPr>
      </p:pic>
    </p:spTree>
    <p:extLst>
      <p:ext uri="{BB962C8B-B14F-4D97-AF65-F5344CB8AC3E}">
        <p14:creationId xmlns:p14="http://schemas.microsoft.com/office/powerpoint/2010/main" val="2352804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7C4EC9-3F4A-9556-763B-DD05B266C26D}"/>
              </a:ext>
            </a:extLst>
          </p:cNvPr>
          <p:cNvSpPr>
            <a:spLocks noGrp="1"/>
          </p:cNvSpPr>
          <p:nvPr>
            <p:ph type="title"/>
          </p:nvPr>
        </p:nvSpPr>
        <p:spPr>
          <a:xfrm>
            <a:off x="2130588" y="0"/>
            <a:ext cx="8911687" cy="1280890"/>
          </a:xfrm>
        </p:spPr>
        <p:txBody>
          <a:bodyPr/>
          <a:lstStyle/>
          <a:p>
            <a:r>
              <a:rPr lang="es-MX" dirty="0"/>
              <a:t>Clase interna y externa</a:t>
            </a:r>
          </a:p>
        </p:txBody>
      </p:sp>
      <p:pic>
        <p:nvPicPr>
          <p:cNvPr id="5" name="Marcador de contenido 4">
            <a:extLst>
              <a:ext uri="{FF2B5EF4-FFF2-40B4-BE49-F238E27FC236}">
                <a16:creationId xmlns:a16="http://schemas.microsoft.com/office/drawing/2014/main" id="{1210AD84-C13B-A4E8-0B1D-E82E250E84BE}"/>
              </a:ext>
            </a:extLst>
          </p:cNvPr>
          <p:cNvPicPr>
            <a:picLocks noGrp="1" noChangeAspect="1"/>
          </p:cNvPicPr>
          <p:nvPr>
            <p:ph idx="1"/>
          </p:nvPr>
        </p:nvPicPr>
        <p:blipFill>
          <a:blip r:embed="rId2"/>
          <a:stretch>
            <a:fillRect/>
          </a:stretch>
        </p:blipFill>
        <p:spPr>
          <a:xfrm>
            <a:off x="241251" y="771396"/>
            <a:ext cx="3621832" cy="2731348"/>
          </a:xfrm>
        </p:spPr>
      </p:pic>
      <p:pic>
        <p:nvPicPr>
          <p:cNvPr id="7" name="Imagen 6">
            <a:extLst>
              <a:ext uri="{FF2B5EF4-FFF2-40B4-BE49-F238E27FC236}">
                <a16:creationId xmlns:a16="http://schemas.microsoft.com/office/drawing/2014/main" id="{DE351D3A-61E8-D5A0-B29A-EB8265DE0B09}"/>
              </a:ext>
            </a:extLst>
          </p:cNvPr>
          <p:cNvPicPr>
            <a:picLocks noChangeAspect="1"/>
          </p:cNvPicPr>
          <p:nvPr/>
        </p:nvPicPr>
        <p:blipFill>
          <a:blip r:embed="rId3"/>
          <a:stretch>
            <a:fillRect/>
          </a:stretch>
        </p:blipFill>
        <p:spPr>
          <a:xfrm>
            <a:off x="241251" y="3596016"/>
            <a:ext cx="3272511" cy="3127400"/>
          </a:xfrm>
          <a:prstGeom prst="rect">
            <a:avLst/>
          </a:prstGeom>
        </p:spPr>
      </p:pic>
      <p:sp>
        <p:nvSpPr>
          <p:cNvPr id="8" name="Rectangle 1">
            <a:extLst>
              <a:ext uri="{FF2B5EF4-FFF2-40B4-BE49-F238E27FC236}">
                <a16:creationId xmlns:a16="http://schemas.microsoft.com/office/drawing/2014/main" id="{3446D77B-3D4C-F037-AF96-2A04481313F2}"/>
              </a:ext>
            </a:extLst>
          </p:cNvPr>
          <p:cNvSpPr>
            <a:spLocks noChangeArrowheads="1"/>
          </p:cNvSpPr>
          <p:nvPr/>
        </p:nvSpPr>
        <p:spPr bwMode="auto">
          <a:xfrm>
            <a:off x="4571999" y="4315812"/>
            <a:ext cx="531174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s-MX" altLang="es-MX" dirty="0"/>
              <a:t>Ordenamiento Interno</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dirty="0"/>
              <a:t>Clase que contiene el método Burbuja, que recorre el arreglo comparando elementos consecutivos y los intercambia si están fuera de orden.</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dirty="0"/>
              <a:t>Incluye un método auxiliar </a:t>
            </a:r>
            <a:r>
              <a:rPr lang="es-MX" altLang="es-MX" dirty="0" err="1"/>
              <a:t>arregloToString</a:t>
            </a:r>
            <a:r>
              <a:rPr lang="es-MX" altLang="es-MX" dirty="0"/>
              <a:t>() para convertir el arreglo a texto y mostrarlo en la interfaz.</a:t>
            </a:r>
          </a:p>
          <a:p>
            <a:pPr marL="0" marR="0" lvl="0" indent="0" algn="l" defTabSz="914400" rtl="0" eaLnBrk="0" fontAlgn="base" latinLnBrk="0" hangingPunct="0">
              <a:lnSpc>
                <a:spcPct val="100000"/>
              </a:lnSpc>
              <a:spcBef>
                <a:spcPct val="0"/>
              </a:spcBef>
              <a:spcAft>
                <a:spcPct val="0"/>
              </a:spcAft>
              <a:buClrTx/>
              <a:buSzTx/>
              <a:buFontTx/>
              <a:buNone/>
              <a:tabLst/>
            </a:pPr>
            <a:endParaRPr lang="es-MX" altLang="es-MX" dirty="0"/>
          </a:p>
        </p:txBody>
      </p:sp>
      <p:sp>
        <p:nvSpPr>
          <p:cNvPr id="9" name="Rectangle 2">
            <a:extLst>
              <a:ext uri="{FF2B5EF4-FFF2-40B4-BE49-F238E27FC236}">
                <a16:creationId xmlns:a16="http://schemas.microsoft.com/office/drawing/2014/main" id="{233B1198-2022-D8A3-8B1E-25111C7274D2}"/>
              </a:ext>
            </a:extLst>
          </p:cNvPr>
          <p:cNvSpPr>
            <a:spLocks noChangeArrowheads="1"/>
          </p:cNvSpPr>
          <p:nvPr/>
        </p:nvSpPr>
        <p:spPr bwMode="auto">
          <a:xfrm>
            <a:off x="4346346" y="1199019"/>
            <a:ext cx="5927431"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s-MX" altLang="es-MX" dirty="0" err="1"/>
              <a:t>OrdenamientoExterno</a:t>
            </a:r>
            <a:endParaRPr lang="es-MX" altLang="es-MX" dirty="0"/>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dirty="0"/>
              <a:t>Clase encargada de manejar la lectura y escritura de archivos.</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dirty="0"/>
              <a:t>Implementa la lógica de ordenamiento externo, que permite trabajar con conjuntos de datos grandes que no caben completamente en memoria.</a:t>
            </a:r>
          </a:p>
          <a:p>
            <a:pPr marL="0" marR="0" lvl="0" indent="0" algn="l" defTabSz="914400" rtl="0" eaLnBrk="0" fontAlgn="base" latinLnBrk="0" hangingPunct="0">
              <a:lnSpc>
                <a:spcPct val="100000"/>
              </a:lnSpc>
              <a:spcBef>
                <a:spcPct val="0"/>
              </a:spcBef>
              <a:spcAft>
                <a:spcPct val="0"/>
              </a:spcAft>
              <a:buClrTx/>
              <a:buSzTx/>
              <a:buFontTx/>
              <a:buNone/>
              <a:tabLst/>
            </a:pPr>
            <a:endParaRPr lang="es-MX" altLang="es-MX" dirty="0"/>
          </a:p>
        </p:txBody>
      </p:sp>
      <p:sp>
        <p:nvSpPr>
          <p:cNvPr id="10" name="Rectángulo 9">
            <a:extLst>
              <a:ext uri="{FF2B5EF4-FFF2-40B4-BE49-F238E27FC236}">
                <a16:creationId xmlns:a16="http://schemas.microsoft.com/office/drawing/2014/main" id="{522347B7-0D47-E16A-52CB-03B81021BF43}"/>
              </a:ext>
            </a:extLst>
          </p:cNvPr>
          <p:cNvSpPr/>
          <p:nvPr/>
        </p:nvSpPr>
        <p:spPr>
          <a:xfrm>
            <a:off x="102742" y="421240"/>
            <a:ext cx="10089222" cy="31274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11" name="Rectángulo 10">
            <a:extLst>
              <a:ext uri="{FF2B5EF4-FFF2-40B4-BE49-F238E27FC236}">
                <a16:creationId xmlns:a16="http://schemas.microsoft.com/office/drawing/2014/main" id="{5101BC5C-A047-9C7B-3358-FCAC538D40F0}"/>
              </a:ext>
            </a:extLst>
          </p:cNvPr>
          <p:cNvSpPr/>
          <p:nvPr/>
        </p:nvSpPr>
        <p:spPr>
          <a:xfrm>
            <a:off x="102742" y="3627657"/>
            <a:ext cx="10171035" cy="323034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Tree>
    <p:extLst>
      <p:ext uri="{BB962C8B-B14F-4D97-AF65-F5344CB8AC3E}">
        <p14:creationId xmlns:p14="http://schemas.microsoft.com/office/powerpoint/2010/main" val="7979871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23EA8F-AA81-7836-4733-B19AF28B25A8}"/>
              </a:ext>
            </a:extLst>
          </p:cNvPr>
          <p:cNvSpPr>
            <a:spLocks noGrp="1"/>
          </p:cNvSpPr>
          <p:nvPr>
            <p:ph type="title"/>
          </p:nvPr>
        </p:nvSpPr>
        <p:spPr/>
        <p:txBody>
          <a:bodyPr/>
          <a:lstStyle/>
          <a:p>
            <a:r>
              <a:rPr lang="es-MX" dirty="0" err="1"/>
              <a:t>Main-view.fxml</a:t>
            </a:r>
            <a:endParaRPr lang="es-MX" dirty="0"/>
          </a:p>
        </p:txBody>
      </p:sp>
      <p:sp>
        <p:nvSpPr>
          <p:cNvPr id="4" name="Rectangle 1">
            <a:extLst>
              <a:ext uri="{FF2B5EF4-FFF2-40B4-BE49-F238E27FC236}">
                <a16:creationId xmlns:a16="http://schemas.microsoft.com/office/drawing/2014/main" id="{01341100-4ABC-623A-D5B8-F35B9A92400F}"/>
              </a:ext>
            </a:extLst>
          </p:cNvPr>
          <p:cNvSpPr>
            <a:spLocks noGrp="1" noChangeArrowheads="1"/>
          </p:cNvSpPr>
          <p:nvPr>
            <p:ph idx="1"/>
          </p:nvPr>
        </p:nvSpPr>
        <p:spPr bwMode="auto">
          <a:xfrm>
            <a:off x="5910943" y="2445379"/>
            <a:ext cx="6612650" cy="246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s-MX" altLang="es-MX" cap="none" dirty="0" err="1"/>
              <a:t>Main-view.Fxml</a:t>
            </a:r>
            <a:endParaRPr lang="es-MX" altLang="es-MX" cap="none" dirty="0"/>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cap="none" dirty="0"/>
              <a:t>Archivo FXML que define la interfaz gráfica, incluyendo:</a:t>
            </a:r>
          </a:p>
          <a:p>
            <a:pPr marL="457200" marR="0" lvl="1" indent="0" algn="l" defTabSz="914400" rtl="0" eaLnBrk="0" fontAlgn="base" latinLnBrk="0" hangingPunct="0">
              <a:lnSpc>
                <a:spcPct val="100000"/>
              </a:lnSpc>
              <a:spcBef>
                <a:spcPct val="0"/>
              </a:spcBef>
              <a:spcAft>
                <a:spcPct val="0"/>
              </a:spcAft>
              <a:buClrTx/>
              <a:buSzTx/>
              <a:buFontTx/>
              <a:buChar char="•"/>
              <a:tabLst/>
            </a:pPr>
            <a:r>
              <a:rPr lang="es-MX" altLang="es-MX" cap="none" dirty="0"/>
              <a:t>Botón para ordenamiento interno</a:t>
            </a:r>
          </a:p>
          <a:p>
            <a:pPr marL="457200" marR="0" lvl="1" indent="0" algn="l" defTabSz="914400" rtl="0" eaLnBrk="0" fontAlgn="base" latinLnBrk="0" hangingPunct="0">
              <a:lnSpc>
                <a:spcPct val="100000"/>
              </a:lnSpc>
              <a:spcBef>
                <a:spcPct val="0"/>
              </a:spcBef>
              <a:spcAft>
                <a:spcPct val="0"/>
              </a:spcAft>
              <a:buClrTx/>
              <a:buSzTx/>
              <a:buFontTx/>
              <a:buChar char="•"/>
              <a:tabLst/>
            </a:pPr>
            <a:r>
              <a:rPr lang="es-MX" altLang="es-MX" cap="none" dirty="0"/>
              <a:t>Botón para ordenamiento externo</a:t>
            </a:r>
          </a:p>
          <a:p>
            <a:pPr marL="457200" marR="0" lvl="1" indent="0" algn="l" defTabSz="914400" rtl="0" eaLnBrk="0" fontAlgn="base" latinLnBrk="0" hangingPunct="0">
              <a:lnSpc>
                <a:spcPct val="100000"/>
              </a:lnSpc>
              <a:spcBef>
                <a:spcPct val="0"/>
              </a:spcBef>
              <a:spcAft>
                <a:spcPct val="0"/>
              </a:spcAft>
              <a:buClrTx/>
              <a:buSzTx/>
              <a:buFontTx/>
              <a:buChar char="•"/>
              <a:tabLst/>
            </a:pPr>
            <a:r>
              <a:rPr lang="es-MX" altLang="es-MX" cap="none" dirty="0" err="1"/>
              <a:t>Textarea</a:t>
            </a:r>
            <a:r>
              <a:rPr lang="es-MX" altLang="es-MX" cap="none" dirty="0"/>
              <a:t> para mostrar resultados</a:t>
            </a:r>
          </a:p>
          <a:p>
            <a:pPr marL="0" marR="0" lvl="0" indent="0" algn="l" defTabSz="914400" rtl="0" eaLnBrk="0" fontAlgn="base" latinLnBrk="0" hangingPunct="0">
              <a:lnSpc>
                <a:spcPct val="100000"/>
              </a:lnSpc>
              <a:spcBef>
                <a:spcPct val="0"/>
              </a:spcBef>
              <a:spcAft>
                <a:spcPct val="0"/>
              </a:spcAft>
              <a:buClrTx/>
              <a:buSzTx/>
              <a:buFontTx/>
              <a:buChar char="•"/>
              <a:tabLst/>
            </a:pPr>
            <a:r>
              <a:rPr lang="es-MX" altLang="es-MX" cap="none" dirty="0"/>
              <a:t>Está vinculado al controlador para que las acciones de los botones ejecuten los métodos correspondientes.</a:t>
            </a:r>
          </a:p>
          <a:p>
            <a:pPr marL="0" marR="0" lvl="0" indent="0" algn="l" defTabSz="914400" rtl="0" eaLnBrk="0" fontAlgn="base" latinLnBrk="0" hangingPunct="0">
              <a:lnSpc>
                <a:spcPct val="100000"/>
              </a:lnSpc>
              <a:spcBef>
                <a:spcPct val="0"/>
              </a:spcBef>
              <a:spcAft>
                <a:spcPct val="0"/>
              </a:spcAft>
              <a:buClrTx/>
              <a:buSzTx/>
              <a:buFontTx/>
              <a:buNone/>
              <a:tabLst/>
            </a:pPr>
            <a:endParaRPr lang="es-MX" altLang="es-MX" cap="none" dirty="0"/>
          </a:p>
        </p:txBody>
      </p:sp>
      <p:pic>
        <p:nvPicPr>
          <p:cNvPr id="6" name="Imagen 5">
            <a:extLst>
              <a:ext uri="{FF2B5EF4-FFF2-40B4-BE49-F238E27FC236}">
                <a16:creationId xmlns:a16="http://schemas.microsoft.com/office/drawing/2014/main" id="{439BA571-4C42-9B76-2D44-7DBAAC16EBA1}"/>
              </a:ext>
            </a:extLst>
          </p:cNvPr>
          <p:cNvPicPr>
            <a:picLocks noChangeAspect="1"/>
          </p:cNvPicPr>
          <p:nvPr/>
        </p:nvPicPr>
        <p:blipFill>
          <a:blip r:embed="rId2"/>
          <a:stretch>
            <a:fillRect/>
          </a:stretch>
        </p:blipFill>
        <p:spPr>
          <a:xfrm>
            <a:off x="379766" y="1858063"/>
            <a:ext cx="5422729" cy="3636844"/>
          </a:xfrm>
          <a:prstGeom prst="rect">
            <a:avLst/>
          </a:prstGeom>
        </p:spPr>
      </p:pic>
    </p:spTree>
    <p:extLst>
      <p:ext uri="{BB962C8B-B14F-4D97-AF65-F5344CB8AC3E}">
        <p14:creationId xmlns:p14="http://schemas.microsoft.com/office/powerpoint/2010/main" val="4026852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0A86CF-961D-F6FC-1FB9-AA6A65E80B94}"/>
              </a:ext>
            </a:extLst>
          </p:cNvPr>
          <p:cNvSpPr>
            <a:spLocks noGrp="1"/>
          </p:cNvSpPr>
          <p:nvPr>
            <p:ph type="title"/>
          </p:nvPr>
        </p:nvSpPr>
        <p:spPr>
          <a:xfrm>
            <a:off x="1779085" y="0"/>
            <a:ext cx="8911687" cy="1280890"/>
          </a:xfrm>
        </p:spPr>
        <p:txBody>
          <a:bodyPr/>
          <a:lstStyle/>
          <a:p>
            <a:r>
              <a:rPr lang="es-MX" dirty="0"/>
              <a:t>Resultado final: METODOS DE ORDENAMIENTO INTERNOS Y EXTERNOS</a:t>
            </a:r>
          </a:p>
        </p:txBody>
      </p:sp>
      <p:pic>
        <p:nvPicPr>
          <p:cNvPr id="5" name="Marcador de contenido 4">
            <a:extLst>
              <a:ext uri="{FF2B5EF4-FFF2-40B4-BE49-F238E27FC236}">
                <a16:creationId xmlns:a16="http://schemas.microsoft.com/office/drawing/2014/main" id="{C22512E1-9FA3-7A4E-AB45-063724D8F60B}"/>
              </a:ext>
            </a:extLst>
          </p:cNvPr>
          <p:cNvPicPr>
            <a:picLocks noGrp="1" noChangeAspect="1"/>
          </p:cNvPicPr>
          <p:nvPr>
            <p:ph idx="1"/>
          </p:nvPr>
        </p:nvPicPr>
        <p:blipFill>
          <a:blip r:embed="rId2"/>
          <a:stretch>
            <a:fillRect/>
          </a:stretch>
        </p:blipFill>
        <p:spPr>
          <a:xfrm>
            <a:off x="7629546" y="3494824"/>
            <a:ext cx="4562454" cy="3166837"/>
          </a:xfrm>
        </p:spPr>
      </p:pic>
      <p:pic>
        <p:nvPicPr>
          <p:cNvPr id="7" name="Imagen 6">
            <a:extLst>
              <a:ext uri="{FF2B5EF4-FFF2-40B4-BE49-F238E27FC236}">
                <a16:creationId xmlns:a16="http://schemas.microsoft.com/office/drawing/2014/main" id="{52367389-8195-0D25-BBC8-EACF7C919088}"/>
              </a:ext>
            </a:extLst>
          </p:cNvPr>
          <p:cNvPicPr>
            <a:picLocks noChangeAspect="1"/>
          </p:cNvPicPr>
          <p:nvPr/>
        </p:nvPicPr>
        <p:blipFill>
          <a:blip r:embed="rId3"/>
          <a:stretch>
            <a:fillRect/>
          </a:stretch>
        </p:blipFill>
        <p:spPr>
          <a:xfrm>
            <a:off x="558228" y="3637052"/>
            <a:ext cx="4282085" cy="3024610"/>
          </a:xfrm>
          <a:prstGeom prst="rect">
            <a:avLst/>
          </a:prstGeom>
        </p:spPr>
      </p:pic>
      <p:pic>
        <p:nvPicPr>
          <p:cNvPr id="9" name="Imagen 8">
            <a:extLst>
              <a:ext uri="{FF2B5EF4-FFF2-40B4-BE49-F238E27FC236}">
                <a16:creationId xmlns:a16="http://schemas.microsoft.com/office/drawing/2014/main" id="{6E969867-693A-7779-7570-D9ABAA35D91B}"/>
              </a:ext>
            </a:extLst>
          </p:cNvPr>
          <p:cNvPicPr>
            <a:picLocks noChangeAspect="1"/>
          </p:cNvPicPr>
          <p:nvPr/>
        </p:nvPicPr>
        <p:blipFill>
          <a:blip r:embed="rId4"/>
          <a:stretch>
            <a:fillRect/>
          </a:stretch>
        </p:blipFill>
        <p:spPr>
          <a:xfrm>
            <a:off x="3802536" y="1086384"/>
            <a:ext cx="4586927" cy="2276792"/>
          </a:xfrm>
          <a:prstGeom prst="rect">
            <a:avLst/>
          </a:prstGeom>
        </p:spPr>
      </p:pic>
      <p:sp>
        <p:nvSpPr>
          <p:cNvPr id="10" name="CuadroTexto 9">
            <a:extLst>
              <a:ext uri="{FF2B5EF4-FFF2-40B4-BE49-F238E27FC236}">
                <a16:creationId xmlns:a16="http://schemas.microsoft.com/office/drawing/2014/main" id="{BDEDFB90-228B-6C3D-891C-9E4338CD904A}"/>
              </a:ext>
            </a:extLst>
          </p:cNvPr>
          <p:cNvSpPr txBox="1"/>
          <p:nvPr/>
        </p:nvSpPr>
        <p:spPr>
          <a:xfrm>
            <a:off x="568873" y="3036282"/>
            <a:ext cx="3561709" cy="369332"/>
          </a:xfrm>
          <a:prstGeom prst="rect">
            <a:avLst/>
          </a:prstGeom>
          <a:noFill/>
        </p:spPr>
        <p:txBody>
          <a:bodyPr wrap="square" rtlCol="0">
            <a:spAutoFit/>
          </a:bodyPr>
          <a:lstStyle/>
          <a:p>
            <a:r>
              <a:rPr lang="es-MX" dirty="0"/>
              <a:t>ORDENAMIENTO INTERNO</a:t>
            </a:r>
          </a:p>
        </p:txBody>
      </p:sp>
      <p:sp>
        <p:nvSpPr>
          <p:cNvPr id="11" name="CuadroTexto 10">
            <a:extLst>
              <a:ext uri="{FF2B5EF4-FFF2-40B4-BE49-F238E27FC236}">
                <a16:creationId xmlns:a16="http://schemas.microsoft.com/office/drawing/2014/main" id="{F31F9386-DAC3-3460-2679-20E7F5E7DE19}"/>
              </a:ext>
            </a:extLst>
          </p:cNvPr>
          <p:cNvSpPr txBox="1"/>
          <p:nvPr/>
        </p:nvSpPr>
        <p:spPr>
          <a:xfrm>
            <a:off x="4840313" y="3791533"/>
            <a:ext cx="2789233" cy="1477328"/>
          </a:xfrm>
          <a:prstGeom prst="rect">
            <a:avLst/>
          </a:prstGeom>
          <a:noFill/>
        </p:spPr>
        <p:txBody>
          <a:bodyPr wrap="square" rtlCol="0">
            <a:spAutoFit/>
          </a:bodyPr>
          <a:lstStyle/>
          <a:p>
            <a:r>
              <a:rPr lang="es-MX" dirty="0"/>
              <a:t>ORDENAMIENTO EXTERNO: ADENTRAREMOS A NUESTROS ARCHIVOS Y SE REPRENTARA DE LA SIGUIENTE MANERA</a:t>
            </a:r>
          </a:p>
        </p:txBody>
      </p:sp>
    </p:spTree>
    <p:extLst>
      <p:ext uri="{BB962C8B-B14F-4D97-AF65-F5344CB8AC3E}">
        <p14:creationId xmlns:p14="http://schemas.microsoft.com/office/powerpoint/2010/main" val="41957796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3D6F560-8874-0C0B-389E-B2F20D3AF49B}"/>
              </a:ext>
            </a:extLst>
          </p:cNvPr>
          <p:cNvSpPr>
            <a:spLocks noGrp="1"/>
          </p:cNvSpPr>
          <p:nvPr>
            <p:ph type="title"/>
          </p:nvPr>
        </p:nvSpPr>
        <p:spPr>
          <a:xfrm>
            <a:off x="1640156" y="593288"/>
            <a:ext cx="8911687" cy="1280890"/>
          </a:xfrm>
        </p:spPr>
        <p:txBody>
          <a:bodyPr/>
          <a:lstStyle/>
          <a:p>
            <a:r>
              <a:rPr lang="es-MX" dirty="0"/>
              <a:t>Conclusión </a:t>
            </a:r>
          </a:p>
        </p:txBody>
      </p:sp>
      <p:sp>
        <p:nvSpPr>
          <p:cNvPr id="3" name="Marcador de contenido 2">
            <a:extLst>
              <a:ext uri="{FF2B5EF4-FFF2-40B4-BE49-F238E27FC236}">
                <a16:creationId xmlns:a16="http://schemas.microsoft.com/office/drawing/2014/main" id="{BAA31C25-9F15-3C0A-7CDF-558328117D2C}"/>
              </a:ext>
            </a:extLst>
          </p:cNvPr>
          <p:cNvSpPr>
            <a:spLocks noGrp="1"/>
          </p:cNvSpPr>
          <p:nvPr>
            <p:ph idx="1"/>
          </p:nvPr>
        </p:nvSpPr>
        <p:spPr>
          <a:xfrm>
            <a:off x="1211019" y="2293670"/>
            <a:ext cx="10515600" cy="4050242"/>
          </a:xfrm>
        </p:spPr>
        <p:txBody>
          <a:bodyPr/>
          <a:lstStyle/>
          <a:p>
            <a:pPr marL="0" indent="0" algn="just">
              <a:buNone/>
            </a:pPr>
            <a:r>
              <a:rPr lang="es-MX" dirty="0"/>
              <a:t>La práctica permitió aplicar los conceptos teóricos de </a:t>
            </a:r>
            <a:r>
              <a:rPr lang="es-MX" b="1" dirty="0"/>
              <a:t>ordenamiento interno y externo</a:t>
            </a:r>
            <a:r>
              <a:rPr lang="es-MX" dirty="0"/>
              <a:t> en un proyecto práctico con </a:t>
            </a:r>
            <a:r>
              <a:rPr lang="es-MX" b="1" dirty="0" err="1"/>
              <a:t>JavaFX</a:t>
            </a:r>
            <a:r>
              <a:rPr lang="es-MX" dirty="0"/>
              <a:t>, demostrando la eficiencia de los algoritmos y la importancia de adaptar el método según el tamaño de los datos. Además, el desarrollo de la interfaz gráfica refuerza la comprensión de la interacción entre la lógica de programación y la visualización de resultados, mejorando la experiencia del usuario y la claridad del proceso de ordenamiento.</a:t>
            </a:r>
          </a:p>
        </p:txBody>
      </p:sp>
    </p:spTree>
    <p:extLst>
      <p:ext uri="{BB962C8B-B14F-4D97-AF65-F5344CB8AC3E}">
        <p14:creationId xmlns:p14="http://schemas.microsoft.com/office/powerpoint/2010/main" val="4014250979"/>
      </p:ext>
    </p:extLst>
  </p:cSld>
  <p:clrMapOvr>
    <a:masterClrMapping/>
  </p:clrMapOvr>
</p:sld>
</file>

<file path=ppt/theme/theme1.xml><?xml version="1.0" encoding="utf-8"?>
<a:theme xmlns:a="http://schemas.openxmlformats.org/drawingml/2006/main" name="Gota">
  <a:themeElements>
    <a:clrScheme name="Gota">
      <a:dk1>
        <a:sysClr val="windowText" lastClr="000000"/>
      </a:dk1>
      <a:lt1>
        <a:sysClr val="window" lastClr="FFFFFF"/>
      </a:lt1>
      <a:dk2>
        <a:srgbClr val="1C647B"/>
      </a:dk2>
      <a:lt2>
        <a:srgbClr val="98B7D3"/>
      </a:lt2>
      <a:accent1>
        <a:srgbClr val="274FA4"/>
      </a:accent1>
      <a:accent2>
        <a:srgbClr val="48A8D0"/>
      </a:accent2>
      <a:accent3>
        <a:srgbClr val="53B18F"/>
      </a:accent3>
      <a:accent4>
        <a:srgbClr val="D78D38"/>
      </a:accent4>
      <a:accent5>
        <a:srgbClr val="BA3F51"/>
      </a:accent5>
      <a:accent6>
        <a:srgbClr val="AE52D9"/>
      </a:accent6>
      <a:hlink>
        <a:srgbClr val="2AA2DA"/>
      </a:hlink>
      <a:folHlink>
        <a:srgbClr val="76A3B8"/>
      </a:folHlink>
    </a:clrScheme>
    <a:fontScheme name="Gota">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ota">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92000"/>
                <a:satMod val="180000"/>
                <a:lumMod val="114000"/>
              </a:schemeClr>
            </a:gs>
            <a:gs pos="100000">
              <a:schemeClr val="phClr">
                <a:shade val="92000"/>
                <a:satMod val="170000"/>
                <a:lumMod val="96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DEB094D4-7FD8-4F86-93D5-B0F1341EF586}"/>
    </a:ext>
  </a:extLst>
</a:theme>
</file>

<file path=docProps/app.xml><?xml version="1.0" encoding="utf-8"?>
<Properties xmlns="http://schemas.openxmlformats.org/officeDocument/2006/extended-properties" xmlns:vt="http://schemas.openxmlformats.org/officeDocument/2006/docPropsVTypes">
  <Template>Gota</Template>
  <TotalTime>19</TotalTime>
  <Words>621</Words>
  <Application>Microsoft Office PowerPoint</Application>
  <PresentationFormat>Panorámica</PresentationFormat>
  <Paragraphs>52</Paragraphs>
  <Slides>8</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8</vt:i4>
      </vt:variant>
    </vt:vector>
  </HeadingPairs>
  <TitlesOfParts>
    <vt:vector size="12" baseType="lpstr">
      <vt:lpstr>Arial</vt:lpstr>
      <vt:lpstr>Century Gothic</vt:lpstr>
      <vt:lpstr>Tw Cen MT</vt:lpstr>
      <vt:lpstr>Gota</vt:lpstr>
      <vt:lpstr>Presentación de PowerPoint</vt:lpstr>
      <vt:lpstr>Introducción </vt:lpstr>
      <vt:lpstr>Justificación </vt:lpstr>
      <vt:lpstr>1. controlador</vt:lpstr>
      <vt:lpstr>Clase interna y externa</vt:lpstr>
      <vt:lpstr>Main-view.fxml</vt:lpstr>
      <vt:lpstr>Resultado final: METODOS DE ORDENAMIENTO INTERNOS Y EXTERNOS</vt:lpstr>
      <vt:lpstr>Conclusión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 840 G5</dc:creator>
  <cp:lastModifiedBy>HP 840 G5</cp:lastModifiedBy>
  <cp:revision>1</cp:revision>
  <dcterms:created xsi:type="dcterms:W3CDTF">2025-12-13T22:05:27Z</dcterms:created>
  <dcterms:modified xsi:type="dcterms:W3CDTF">2025-12-13T22:24:44Z</dcterms:modified>
</cp:coreProperties>
</file>