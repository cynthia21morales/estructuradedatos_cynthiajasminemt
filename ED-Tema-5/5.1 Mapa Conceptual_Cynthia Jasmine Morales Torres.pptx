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9753600" cy="7315200"/>
  <p:notesSz cx="6858000" cy="9144000"/>
  <p:embeddedFontLst>
    <p:embeddedFont>
      <p:font typeface="Glacial Indifference" charset="1" panose="00000000000000000000"/>
      <p:regular r:id="rId10"/>
    </p:embeddedFont>
    <p:embeddedFont>
      <p:font typeface="Open Sans" charset="1" panose="020B0606030504020204"/>
      <p:regular r:id="rId11"/>
    </p:embeddedFont>
    <p:embeddedFont>
      <p:font typeface="TT Hazelnuts" charset="1" panose="02000503030000020004"/>
      <p:regular r:id="rId12"/>
    </p:embeddedFont>
    <p:embeddedFont>
      <p:font typeface="TT Hazelnuts Bold" charset="1" panose="020008030400000200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 Id="rId8" Target="../media/image10.png" Type="http://schemas.openxmlformats.org/officeDocument/2006/relationships/image"/><Relationship Id="rId9"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868748" y="1224240"/>
            <a:ext cx="6067192" cy="5651049"/>
          </a:xfrm>
          <a:prstGeom prst="rect">
            <a:avLst/>
          </a:prstGeom>
        </p:spPr>
        <p:txBody>
          <a:bodyPr anchor="t" rtlCol="false" tIns="0" lIns="0" bIns="0" rIns="0">
            <a:spAutoFit/>
          </a:bodyPr>
          <a:lstStyle/>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Instituto Tecnológico de Frontera Comalapa</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Modalidad Mixta</a:t>
            </a:r>
          </a:p>
          <a:p>
            <a:pPr algn="ctr">
              <a:lnSpc>
                <a:spcPts val="2148"/>
              </a:lnSpc>
              <a:spcBef>
                <a:spcPct val="0"/>
              </a:spcBef>
            </a:pP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 </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Materia:</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Estructura de Datos</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Semestre: </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Quinto semestre </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Especialidad:</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Ingeniería en Sistemas Computacionales.</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Numero de control:</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231260014</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Nombre del alumno: </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Cynthia Jasmine Morales Torres</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Nombre del docente: </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Ing. Francisco Javier Mingo Velazquez</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Nombre del trabajo:</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5.1 Mapa Conceptual</a:t>
            </a: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Fecha de entrega:</a:t>
            </a:r>
          </a:p>
          <a:p>
            <a:pPr algn="ctr">
              <a:lnSpc>
                <a:spcPts val="2148"/>
              </a:lnSpc>
              <a:spcBef>
                <a:spcPct val="0"/>
              </a:spcBef>
            </a:pPr>
          </a:p>
          <a:p>
            <a:pPr algn="ctr">
              <a:lnSpc>
                <a:spcPts val="2148"/>
              </a:lnSpc>
              <a:spcBef>
                <a:spcPct val="0"/>
              </a:spcBef>
            </a:pPr>
            <a:r>
              <a:rPr lang="en-US" sz="1936">
                <a:solidFill>
                  <a:srgbClr val="000000"/>
                </a:solidFill>
                <a:latin typeface="Glacial Indifference"/>
                <a:ea typeface="Glacial Indifference"/>
                <a:cs typeface="Glacial Indifference"/>
                <a:sym typeface="Glacial Indifference"/>
              </a:rPr>
              <a:t>Frontera Comalapa, Chiapas. A 13 de diciembre de 2025</a:t>
            </a:r>
          </a:p>
        </p:txBody>
      </p:sp>
      <p:sp>
        <p:nvSpPr>
          <p:cNvPr name="Freeform 3" id="3"/>
          <p:cNvSpPr/>
          <p:nvPr/>
        </p:nvSpPr>
        <p:spPr>
          <a:xfrm flipH="false" flipV="false" rot="0">
            <a:off x="320593" y="114996"/>
            <a:ext cx="2304388" cy="984724"/>
          </a:xfrm>
          <a:custGeom>
            <a:avLst/>
            <a:gdLst/>
            <a:ahLst/>
            <a:cxnLst/>
            <a:rect r="r" b="b" t="t" l="l"/>
            <a:pathLst>
              <a:path h="984724" w="2304388">
                <a:moveTo>
                  <a:pt x="0" y="0"/>
                </a:moveTo>
                <a:lnTo>
                  <a:pt x="2304388" y="0"/>
                </a:lnTo>
                <a:lnTo>
                  <a:pt x="2304388" y="984724"/>
                </a:lnTo>
                <a:lnTo>
                  <a:pt x="0" y="984724"/>
                </a:lnTo>
                <a:lnTo>
                  <a:pt x="0" y="0"/>
                </a:lnTo>
                <a:close/>
              </a:path>
            </a:pathLst>
          </a:custGeom>
          <a:blipFill>
            <a:blip r:embed="rId2"/>
            <a:stretch>
              <a:fillRect l="0" t="0" r="0" b="0"/>
            </a:stretch>
          </a:blipFill>
        </p:spPr>
      </p:sp>
      <p:sp>
        <p:nvSpPr>
          <p:cNvPr name="Freeform 4" id="4"/>
          <p:cNvSpPr/>
          <p:nvPr/>
        </p:nvSpPr>
        <p:spPr>
          <a:xfrm flipH="false" flipV="false" rot="0">
            <a:off x="7193947" y="0"/>
            <a:ext cx="1483987" cy="1214715"/>
          </a:xfrm>
          <a:custGeom>
            <a:avLst/>
            <a:gdLst/>
            <a:ahLst/>
            <a:cxnLst/>
            <a:rect r="r" b="b" t="t" l="l"/>
            <a:pathLst>
              <a:path h="1214715" w="1483987">
                <a:moveTo>
                  <a:pt x="0" y="0"/>
                </a:moveTo>
                <a:lnTo>
                  <a:pt x="1483987" y="0"/>
                </a:lnTo>
                <a:lnTo>
                  <a:pt x="1483987" y="1214715"/>
                </a:lnTo>
                <a:lnTo>
                  <a:pt x="0" y="1214715"/>
                </a:lnTo>
                <a:lnTo>
                  <a:pt x="0" y="0"/>
                </a:lnTo>
                <a:close/>
              </a:path>
            </a:pathLst>
          </a:custGeom>
          <a:blipFill>
            <a:blip r:embed="rId3"/>
            <a:stretch>
              <a:fillRect l="0" t="0" r="0" b="0"/>
            </a:stretch>
          </a:blipFill>
        </p:spPr>
      </p:sp>
      <p:sp>
        <p:nvSpPr>
          <p:cNvPr name="Freeform 5" id="5"/>
          <p:cNvSpPr/>
          <p:nvPr/>
        </p:nvSpPr>
        <p:spPr>
          <a:xfrm flipH="false" flipV="false" rot="0">
            <a:off x="2984267" y="155663"/>
            <a:ext cx="3254758" cy="673398"/>
          </a:xfrm>
          <a:custGeom>
            <a:avLst/>
            <a:gdLst/>
            <a:ahLst/>
            <a:cxnLst/>
            <a:rect r="r" b="b" t="t" l="l"/>
            <a:pathLst>
              <a:path h="673398" w="3254758">
                <a:moveTo>
                  <a:pt x="0" y="0"/>
                </a:moveTo>
                <a:lnTo>
                  <a:pt x="3254758" y="0"/>
                </a:lnTo>
                <a:lnTo>
                  <a:pt x="3254758" y="673398"/>
                </a:lnTo>
                <a:lnTo>
                  <a:pt x="0" y="673398"/>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40394" y="1727433"/>
            <a:ext cx="7872812" cy="2498070"/>
          </a:xfrm>
          <a:prstGeom prst="rect">
            <a:avLst/>
          </a:prstGeom>
        </p:spPr>
        <p:txBody>
          <a:bodyPr anchor="t" rtlCol="false" tIns="0" lIns="0" bIns="0" rIns="0">
            <a:spAutoFit/>
          </a:bodyPr>
          <a:lstStyle/>
          <a:p>
            <a:pPr algn="ctr">
              <a:lnSpc>
                <a:spcPts val="2486"/>
              </a:lnSpc>
            </a:pPr>
            <a:r>
              <a:rPr lang="en-US" sz="1775">
                <a:solidFill>
                  <a:srgbClr val="000000"/>
                </a:solidFill>
                <a:latin typeface="Open Sans"/>
                <a:ea typeface="Open Sans"/>
                <a:cs typeface="Open Sans"/>
                <a:sym typeface="Open Sans"/>
              </a:rPr>
              <a:t>Introducción</a:t>
            </a:r>
          </a:p>
          <a:p>
            <a:pPr algn="just">
              <a:lnSpc>
                <a:spcPts val="2486"/>
              </a:lnSpc>
            </a:pPr>
            <a:r>
              <a:rPr lang="en-US" sz="1775">
                <a:solidFill>
                  <a:srgbClr val="000000"/>
                </a:solidFill>
                <a:latin typeface="Open Sans"/>
                <a:ea typeface="Open Sans"/>
                <a:cs typeface="Open Sans"/>
                <a:sym typeface="Open Sans"/>
              </a:rPr>
              <a:t>En el diseño de al</a:t>
            </a:r>
            <a:r>
              <a:rPr lang="en-US" sz="1775">
                <a:solidFill>
                  <a:srgbClr val="000000"/>
                </a:solidFill>
                <a:latin typeface="Open Sans"/>
                <a:ea typeface="Open Sans"/>
                <a:cs typeface="Open Sans"/>
                <a:sym typeface="Open Sans"/>
              </a:rPr>
              <a:t>goritmos, los métodos de ordenamiento transforman colecciones desorganizadas en secuencias ordenadas mediante comparaciones e intercambios estratégicos. Desde enfoques simples como Bubble Sort hasta avanzados como QuickSort, cada uno equilibra tiempo, espacio y estabilidad según el contexto de datos. Su comprensión es clave en operaciones research y modelado matemático.</a:t>
            </a:r>
          </a:p>
          <a:p>
            <a:pPr algn="just">
              <a:lnSpc>
                <a:spcPts val="248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461" y="-715272"/>
            <a:ext cx="9753600" cy="9611729"/>
          </a:xfrm>
          <a:custGeom>
            <a:avLst/>
            <a:gdLst/>
            <a:ahLst/>
            <a:cxnLst/>
            <a:rect r="r" b="b" t="t" l="l"/>
            <a:pathLst>
              <a:path h="9611729" w="9753600">
                <a:moveTo>
                  <a:pt x="0" y="0"/>
                </a:moveTo>
                <a:lnTo>
                  <a:pt x="9753600" y="0"/>
                </a:lnTo>
                <a:lnTo>
                  <a:pt x="9753600" y="9611730"/>
                </a:lnTo>
                <a:lnTo>
                  <a:pt x="0" y="96117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5658624">
            <a:off x="9287535" y="3097944"/>
            <a:ext cx="648375" cy="808631"/>
          </a:xfrm>
          <a:custGeom>
            <a:avLst/>
            <a:gdLst/>
            <a:ahLst/>
            <a:cxnLst/>
            <a:rect r="r" b="b" t="t" l="l"/>
            <a:pathLst>
              <a:path h="808631" w="648375">
                <a:moveTo>
                  <a:pt x="0" y="0"/>
                </a:moveTo>
                <a:lnTo>
                  <a:pt x="648375" y="0"/>
                </a:lnTo>
                <a:lnTo>
                  <a:pt x="648375" y="808631"/>
                </a:lnTo>
                <a:lnTo>
                  <a:pt x="0" y="8086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436732" y="1453877"/>
            <a:ext cx="1168252" cy="900616"/>
          </a:xfrm>
          <a:custGeom>
            <a:avLst/>
            <a:gdLst/>
            <a:ahLst/>
            <a:cxnLst/>
            <a:rect r="r" b="b" t="t" l="l"/>
            <a:pathLst>
              <a:path h="900616" w="1168252">
                <a:moveTo>
                  <a:pt x="0" y="0"/>
                </a:moveTo>
                <a:lnTo>
                  <a:pt x="1168252" y="0"/>
                </a:lnTo>
                <a:lnTo>
                  <a:pt x="1168252" y="900616"/>
                </a:lnTo>
                <a:lnTo>
                  <a:pt x="0" y="9006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true" rot="0">
            <a:off x="8774362" y="4533868"/>
            <a:ext cx="1168252" cy="900616"/>
          </a:xfrm>
          <a:custGeom>
            <a:avLst/>
            <a:gdLst/>
            <a:ahLst/>
            <a:cxnLst/>
            <a:rect r="r" b="b" t="t" l="l"/>
            <a:pathLst>
              <a:path h="900616" w="1168252">
                <a:moveTo>
                  <a:pt x="0" y="900616"/>
                </a:moveTo>
                <a:lnTo>
                  <a:pt x="1168252" y="900616"/>
                </a:lnTo>
                <a:lnTo>
                  <a:pt x="1168252" y="0"/>
                </a:lnTo>
                <a:lnTo>
                  <a:pt x="0" y="0"/>
                </a:lnTo>
                <a:lnTo>
                  <a:pt x="0" y="900616"/>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263487" y="1762547"/>
            <a:ext cx="7119765" cy="1617989"/>
            <a:chOff x="0" y="0"/>
            <a:chExt cx="9493020" cy="2157319"/>
          </a:xfrm>
        </p:grpSpPr>
        <p:sp>
          <p:nvSpPr>
            <p:cNvPr name="AutoShape 7" id="7"/>
            <p:cNvSpPr/>
            <p:nvPr/>
          </p:nvSpPr>
          <p:spPr>
            <a:xfrm flipH="true">
              <a:off x="4753136" y="0"/>
              <a:ext cx="0" cy="1066379"/>
            </a:xfrm>
            <a:prstGeom prst="line">
              <a:avLst/>
            </a:prstGeom>
            <a:ln cap="flat" w="30020">
              <a:solidFill>
                <a:srgbClr val="FF76CE"/>
              </a:solidFill>
              <a:prstDash val="solid"/>
              <a:headEnd type="none" len="sm" w="sm"/>
              <a:tailEnd type="none" len="sm" w="sm"/>
            </a:ln>
          </p:spPr>
        </p:sp>
        <p:sp>
          <p:nvSpPr>
            <p:cNvPr name="AutoShape 8" id="8"/>
            <p:cNvSpPr/>
            <p:nvPr/>
          </p:nvSpPr>
          <p:spPr>
            <a:xfrm>
              <a:off x="28262" y="1066379"/>
              <a:ext cx="0" cy="1090940"/>
            </a:xfrm>
            <a:prstGeom prst="line">
              <a:avLst/>
            </a:prstGeom>
            <a:ln cap="flat" w="30020">
              <a:solidFill>
                <a:srgbClr val="FF76CE"/>
              </a:solidFill>
              <a:prstDash val="solid"/>
              <a:headEnd type="none" len="sm" w="sm"/>
              <a:tailEnd type="none" len="sm" w="sm"/>
            </a:ln>
          </p:spPr>
        </p:sp>
        <p:sp>
          <p:nvSpPr>
            <p:cNvPr name="AutoShape 9" id="9"/>
            <p:cNvSpPr/>
            <p:nvPr/>
          </p:nvSpPr>
          <p:spPr>
            <a:xfrm>
              <a:off x="1918211" y="1066379"/>
              <a:ext cx="0" cy="1090940"/>
            </a:xfrm>
            <a:prstGeom prst="line">
              <a:avLst/>
            </a:prstGeom>
            <a:ln cap="flat" w="30020">
              <a:solidFill>
                <a:srgbClr val="FF76CE"/>
              </a:solidFill>
              <a:prstDash val="solid"/>
              <a:headEnd type="none" len="sm" w="sm"/>
              <a:tailEnd type="none" len="sm" w="sm"/>
            </a:ln>
          </p:spPr>
        </p:sp>
        <p:sp>
          <p:nvSpPr>
            <p:cNvPr name="AutoShape 10" id="10"/>
            <p:cNvSpPr/>
            <p:nvPr/>
          </p:nvSpPr>
          <p:spPr>
            <a:xfrm>
              <a:off x="3808161" y="1066379"/>
              <a:ext cx="0" cy="1090940"/>
            </a:xfrm>
            <a:prstGeom prst="line">
              <a:avLst/>
            </a:prstGeom>
            <a:ln cap="flat" w="30020">
              <a:solidFill>
                <a:srgbClr val="FF76CE"/>
              </a:solidFill>
              <a:prstDash val="solid"/>
              <a:headEnd type="none" len="sm" w="sm"/>
              <a:tailEnd type="none" len="sm" w="sm"/>
            </a:ln>
          </p:spPr>
        </p:sp>
        <p:sp>
          <p:nvSpPr>
            <p:cNvPr name="AutoShape 11" id="11"/>
            <p:cNvSpPr/>
            <p:nvPr/>
          </p:nvSpPr>
          <p:spPr>
            <a:xfrm>
              <a:off x="5698111" y="1066379"/>
              <a:ext cx="0" cy="1090940"/>
            </a:xfrm>
            <a:prstGeom prst="line">
              <a:avLst/>
            </a:prstGeom>
            <a:ln cap="flat" w="30020">
              <a:solidFill>
                <a:srgbClr val="FF76CE"/>
              </a:solidFill>
              <a:prstDash val="solid"/>
              <a:headEnd type="none" len="sm" w="sm"/>
              <a:tailEnd type="none" len="sm" w="sm"/>
            </a:ln>
          </p:spPr>
        </p:sp>
        <p:sp>
          <p:nvSpPr>
            <p:cNvPr name="AutoShape 12" id="12"/>
            <p:cNvSpPr/>
            <p:nvPr/>
          </p:nvSpPr>
          <p:spPr>
            <a:xfrm>
              <a:off x="7588060" y="1066379"/>
              <a:ext cx="0" cy="1090940"/>
            </a:xfrm>
            <a:prstGeom prst="line">
              <a:avLst/>
            </a:prstGeom>
            <a:ln cap="flat" w="30020">
              <a:solidFill>
                <a:srgbClr val="FF76CE"/>
              </a:solidFill>
              <a:prstDash val="solid"/>
              <a:headEnd type="none" len="sm" w="sm"/>
              <a:tailEnd type="none" len="sm" w="sm"/>
            </a:ln>
          </p:spPr>
        </p:sp>
        <p:sp>
          <p:nvSpPr>
            <p:cNvPr name="AutoShape 13" id="13"/>
            <p:cNvSpPr/>
            <p:nvPr/>
          </p:nvSpPr>
          <p:spPr>
            <a:xfrm>
              <a:off x="9478010" y="1066379"/>
              <a:ext cx="0" cy="1090940"/>
            </a:xfrm>
            <a:prstGeom prst="line">
              <a:avLst/>
            </a:prstGeom>
            <a:ln cap="flat" w="30020">
              <a:solidFill>
                <a:srgbClr val="FF76CE"/>
              </a:solidFill>
              <a:prstDash val="solid"/>
              <a:headEnd type="none" len="sm" w="sm"/>
              <a:tailEnd type="none" len="sm" w="sm"/>
            </a:ln>
          </p:spPr>
        </p:sp>
        <p:sp>
          <p:nvSpPr>
            <p:cNvPr name="AutoShape 14" id="14"/>
            <p:cNvSpPr/>
            <p:nvPr/>
          </p:nvSpPr>
          <p:spPr>
            <a:xfrm>
              <a:off x="0" y="1066379"/>
              <a:ext cx="9478010" cy="0"/>
            </a:xfrm>
            <a:prstGeom prst="line">
              <a:avLst/>
            </a:prstGeom>
            <a:ln cap="flat" w="30020">
              <a:solidFill>
                <a:srgbClr val="FF76CE"/>
              </a:solidFill>
              <a:prstDash val="solid"/>
              <a:headEnd type="none" len="sm" w="sm"/>
              <a:tailEnd type="none" len="sm" w="sm"/>
            </a:ln>
          </p:spPr>
        </p:sp>
      </p:grpSp>
      <p:grpSp>
        <p:nvGrpSpPr>
          <p:cNvPr name="Group 15" id="15"/>
          <p:cNvGrpSpPr/>
          <p:nvPr/>
        </p:nvGrpSpPr>
        <p:grpSpPr>
          <a:xfrm rot="0">
            <a:off x="634598" y="3380537"/>
            <a:ext cx="1300171" cy="2053947"/>
            <a:chOff x="0" y="0"/>
            <a:chExt cx="616894" cy="974540"/>
          </a:xfrm>
        </p:grpSpPr>
        <p:sp>
          <p:nvSpPr>
            <p:cNvPr name="Freeform 16" id="16"/>
            <p:cNvSpPr/>
            <p:nvPr/>
          </p:nvSpPr>
          <p:spPr>
            <a:xfrm flipH="false" flipV="false" rot="0">
              <a:off x="0" y="0"/>
              <a:ext cx="616894" cy="974540"/>
            </a:xfrm>
            <a:custGeom>
              <a:avLst/>
              <a:gdLst/>
              <a:ahLst/>
              <a:cxnLst/>
              <a:rect r="r" b="b" t="t" l="l"/>
              <a:pathLst>
                <a:path h="974540" w="616894">
                  <a:moveTo>
                    <a:pt x="71454" y="0"/>
                  </a:moveTo>
                  <a:lnTo>
                    <a:pt x="545440" y="0"/>
                  </a:lnTo>
                  <a:cubicBezTo>
                    <a:pt x="584903" y="0"/>
                    <a:pt x="616894" y="31991"/>
                    <a:pt x="616894" y="71454"/>
                  </a:cubicBezTo>
                  <a:lnTo>
                    <a:pt x="616894" y="903085"/>
                  </a:lnTo>
                  <a:cubicBezTo>
                    <a:pt x="616894" y="922036"/>
                    <a:pt x="609366" y="940211"/>
                    <a:pt x="595966" y="953611"/>
                  </a:cubicBezTo>
                  <a:cubicBezTo>
                    <a:pt x="582566" y="967011"/>
                    <a:pt x="564391" y="974540"/>
                    <a:pt x="545440" y="974540"/>
                  </a:cubicBezTo>
                  <a:lnTo>
                    <a:pt x="71454" y="974540"/>
                  </a:lnTo>
                  <a:cubicBezTo>
                    <a:pt x="31991" y="974540"/>
                    <a:pt x="0" y="942548"/>
                    <a:pt x="0" y="903085"/>
                  </a:cubicBezTo>
                  <a:lnTo>
                    <a:pt x="0" y="71454"/>
                  </a:lnTo>
                  <a:cubicBezTo>
                    <a:pt x="0" y="52504"/>
                    <a:pt x="7528" y="34329"/>
                    <a:pt x="20929" y="20929"/>
                  </a:cubicBezTo>
                  <a:cubicBezTo>
                    <a:pt x="34329" y="7528"/>
                    <a:pt x="52504" y="0"/>
                    <a:pt x="71454" y="0"/>
                  </a:cubicBezTo>
                  <a:close/>
                </a:path>
              </a:pathLst>
            </a:custGeom>
            <a:solidFill>
              <a:srgbClr val="FDE0F2"/>
            </a:solidFill>
            <a:ln w="19050" cap="sq">
              <a:solidFill>
                <a:srgbClr val="FF76CE"/>
              </a:solidFill>
              <a:prstDash val="solid"/>
              <a:miter/>
            </a:ln>
          </p:spPr>
        </p:sp>
        <p:sp>
          <p:nvSpPr>
            <p:cNvPr name="TextBox 17" id="17"/>
            <p:cNvSpPr txBox="true"/>
            <p:nvPr/>
          </p:nvSpPr>
          <p:spPr>
            <a:xfrm>
              <a:off x="0" y="-19050"/>
              <a:ext cx="616894" cy="993590"/>
            </a:xfrm>
            <a:prstGeom prst="rect">
              <a:avLst/>
            </a:prstGeom>
          </p:spPr>
          <p:txBody>
            <a:bodyPr anchor="ctr" rtlCol="false" tIns="50800" lIns="50800" bIns="50800" rIns="50800"/>
            <a:lstStyle/>
            <a:p>
              <a:pPr algn="ctr" marL="0" indent="0" lvl="0">
                <a:lnSpc>
                  <a:spcPts val="1399"/>
                </a:lnSpc>
                <a:spcBef>
                  <a:spcPct val="0"/>
                </a:spcBef>
              </a:pPr>
              <a:r>
                <a:rPr lang="en-US" sz="999">
                  <a:solidFill>
                    <a:srgbClr val="000000"/>
                  </a:solidFill>
                  <a:latin typeface="TT Hazelnuts"/>
                  <a:ea typeface="TT Hazelnuts"/>
                  <a:cs typeface="TT Hazelnuts"/>
                  <a:sym typeface="TT Hazelnuts"/>
                </a:rPr>
                <a:t>Comp</a:t>
              </a:r>
              <a:r>
                <a:rPr lang="en-US" sz="999" strike="noStrike" u="none">
                  <a:solidFill>
                    <a:srgbClr val="000000"/>
                  </a:solidFill>
                  <a:latin typeface="TT Hazelnuts"/>
                  <a:ea typeface="TT Hazelnuts"/>
                  <a:cs typeface="TT Hazelnuts"/>
                  <a:sym typeface="TT Hazelnuts"/>
                </a:rPr>
                <a:t>ara pares adyacentes e intercambia si están desordenados, "burbujeando" el mayor al final en cada pasada. Repite hasta no haber cambios. Ideal para listas pequeñas</a:t>
              </a:r>
            </a:p>
          </p:txBody>
        </p:sp>
      </p:grpSp>
      <p:grpSp>
        <p:nvGrpSpPr>
          <p:cNvPr name="Group 18" id="18"/>
          <p:cNvGrpSpPr/>
          <p:nvPr/>
        </p:nvGrpSpPr>
        <p:grpSpPr>
          <a:xfrm rot="0">
            <a:off x="2052060" y="3380537"/>
            <a:ext cx="1300171" cy="2053947"/>
            <a:chOff x="0" y="0"/>
            <a:chExt cx="616894" cy="974540"/>
          </a:xfrm>
        </p:grpSpPr>
        <p:sp>
          <p:nvSpPr>
            <p:cNvPr name="Freeform 19" id="19"/>
            <p:cNvSpPr/>
            <p:nvPr/>
          </p:nvSpPr>
          <p:spPr>
            <a:xfrm flipH="false" flipV="false" rot="0">
              <a:off x="0" y="0"/>
              <a:ext cx="616894" cy="974540"/>
            </a:xfrm>
            <a:custGeom>
              <a:avLst/>
              <a:gdLst/>
              <a:ahLst/>
              <a:cxnLst/>
              <a:rect r="r" b="b" t="t" l="l"/>
              <a:pathLst>
                <a:path h="974540" w="616894">
                  <a:moveTo>
                    <a:pt x="71454" y="0"/>
                  </a:moveTo>
                  <a:lnTo>
                    <a:pt x="545440" y="0"/>
                  </a:lnTo>
                  <a:cubicBezTo>
                    <a:pt x="584903" y="0"/>
                    <a:pt x="616894" y="31991"/>
                    <a:pt x="616894" y="71454"/>
                  </a:cubicBezTo>
                  <a:lnTo>
                    <a:pt x="616894" y="903085"/>
                  </a:lnTo>
                  <a:cubicBezTo>
                    <a:pt x="616894" y="922036"/>
                    <a:pt x="609366" y="940211"/>
                    <a:pt x="595966" y="953611"/>
                  </a:cubicBezTo>
                  <a:cubicBezTo>
                    <a:pt x="582566" y="967011"/>
                    <a:pt x="564391" y="974540"/>
                    <a:pt x="545440" y="974540"/>
                  </a:cubicBezTo>
                  <a:lnTo>
                    <a:pt x="71454" y="974540"/>
                  </a:lnTo>
                  <a:cubicBezTo>
                    <a:pt x="31991" y="974540"/>
                    <a:pt x="0" y="942548"/>
                    <a:pt x="0" y="903085"/>
                  </a:cubicBezTo>
                  <a:lnTo>
                    <a:pt x="0" y="71454"/>
                  </a:lnTo>
                  <a:cubicBezTo>
                    <a:pt x="0" y="52504"/>
                    <a:pt x="7528" y="34329"/>
                    <a:pt x="20929" y="20929"/>
                  </a:cubicBezTo>
                  <a:cubicBezTo>
                    <a:pt x="34329" y="7528"/>
                    <a:pt x="52504" y="0"/>
                    <a:pt x="71454" y="0"/>
                  </a:cubicBezTo>
                  <a:close/>
                </a:path>
              </a:pathLst>
            </a:custGeom>
            <a:solidFill>
              <a:srgbClr val="FDE0F2"/>
            </a:solidFill>
            <a:ln w="19050" cap="sq">
              <a:solidFill>
                <a:srgbClr val="FF76CE"/>
              </a:solidFill>
              <a:prstDash val="solid"/>
              <a:miter/>
            </a:ln>
          </p:spPr>
        </p:sp>
        <p:sp>
          <p:nvSpPr>
            <p:cNvPr name="TextBox 20" id="20"/>
            <p:cNvSpPr txBox="true"/>
            <p:nvPr/>
          </p:nvSpPr>
          <p:spPr>
            <a:xfrm>
              <a:off x="0" y="-19050"/>
              <a:ext cx="616894" cy="993590"/>
            </a:xfrm>
            <a:prstGeom prst="rect">
              <a:avLst/>
            </a:prstGeom>
          </p:spPr>
          <p:txBody>
            <a:bodyPr anchor="ctr" rtlCol="false" tIns="50800" lIns="50800" bIns="50800" rIns="50800"/>
            <a:lstStyle/>
            <a:p>
              <a:pPr algn="ctr" marL="0" indent="0" lvl="0">
                <a:lnSpc>
                  <a:spcPts val="1399"/>
                </a:lnSpc>
                <a:spcBef>
                  <a:spcPct val="0"/>
                </a:spcBef>
              </a:pPr>
              <a:r>
                <a:rPr lang="en-US" sz="999">
                  <a:solidFill>
                    <a:srgbClr val="000000"/>
                  </a:solidFill>
                  <a:latin typeface="TT Hazelnuts"/>
                  <a:ea typeface="TT Hazelnuts"/>
                  <a:cs typeface="TT Hazelnuts"/>
                  <a:sym typeface="TT Hazelnuts"/>
                </a:rPr>
                <a:t>Co</a:t>
              </a:r>
              <a:r>
                <a:rPr lang="en-US" sz="999" strike="noStrike" u="none">
                  <a:solidFill>
                    <a:srgbClr val="000000"/>
                  </a:solidFill>
                  <a:latin typeface="TT Hazelnuts"/>
                  <a:ea typeface="TT Hazelnuts"/>
                  <a:cs typeface="TT Hazelnuts"/>
                  <a:sym typeface="TT Hazelnuts"/>
                </a:rPr>
                <a:t>nstruye la lista ordenada insertando elementos uno a uno en su posición correcta, desplazando otros. Eficaz en datos casi ordenados</a:t>
              </a:r>
            </a:p>
          </p:txBody>
        </p:sp>
      </p:grpSp>
      <p:grpSp>
        <p:nvGrpSpPr>
          <p:cNvPr name="Group 21" id="21"/>
          <p:cNvGrpSpPr/>
          <p:nvPr/>
        </p:nvGrpSpPr>
        <p:grpSpPr>
          <a:xfrm rot="0">
            <a:off x="3469522" y="3380537"/>
            <a:ext cx="1300171" cy="2053947"/>
            <a:chOff x="0" y="0"/>
            <a:chExt cx="616894" cy="974540"/>
          </a:xfrm>
        </p:grpSpPr>
        <p:sp>
          <p:nvSpPr>
            <p:cNvPr name="Freeform 22" id="22"/>
            <p:cNvSpPr/>
            <p:nvPr/>
          </p:nvSpPr>
          <p:spPr>
            <a:xfrm flipH="false" flipV="false" rot="0">
              <a:off x="0" y="0"/>
              <a:ext cx="616894" cy="974540"/>
            </a:xfrm>
            <a:custGeom>
              <a:avLst/>
              <a:gdLst/>
              <a:ahLst/>
              <a:cxnLst/>
              <a:rect r="r" b="b" t="t" l="l"/>
              <a:pathLst>
                <a:path h="974540" w="616894">
                  <a:moveTo>
                    <a:pt x="71454" y="0"/>
                  </a:moveTo>
                  <a:lnTo>
                    <a:pt x="545440" y="0"/>
                  </a:lnTo>
                  <a:cubicBezTo>
                    <a:pt x="584903" y="0"/>
                    <a:pt x="616894" y="31991"/>
                    <a:pt x="616894" y="71454"/>
                  </a:cubicBezTo>
                  <a:lnTo>
                    <a:pt x="616894" y="903085"/>
                  </a:lnTo>
                  <a:cubicBezTo>
                    <a:pt x="616894" y="922036"/>
                    <a:pt x="609366" y="940211"/>
                    <a:pt x="595966" y="953611"/>
                  </a:cubicBezTo>
                  <a:cubicBezTo>
                    <a:pt x="582566" y="967011"/>
                    <a:pt x="564391" y="974540"/>
                    <a:pt x="545440" y="974540"/>
                  </a:cubicBezTo>
                  <a:lnTo>
                    <a:pt x="71454" y="974540"/>
                  </a:lnTo>
                  <a:cubicBezTo>
                    <a:pt x="31991" y="974540"/>
                    <a:pt x="0" y="942548"/>
                    <a:pt x="0" y="903085"/>
                  </a:cubicBezTo>
                  <a:lnTo>
                    <a:pt x="0" y="71454"/>
                  </a:lnTo>
                  <a:cubicBezTo>
                    <a:pt x="0" y="52504"/>
                    <a:pt x="7528" y="34329"/>
                    <a:pt x="20929" y="20929"/>
                  </a:cubicBezTo>
                  <a:cubicBezTo>
                    <a:pt x="34329" y="7528"/>
                    <a:pt x="52504" y="0"/>
                    <a:pt x="71454" y="0"/>
                  </a:cubicBezTo>
                  <a:close/>
                </a:path>
              </a:pathLst>
            </a:custGeom>
            <a:solidFill>
              <a:srgbClr val="FDE0F2"/>
            </a:solidFill>
            <a:ln w="19050" cap="sq">
              <a:solidFill>
                <a:srgbClr val="FF76CE"/>
              </a:solidFill>
              <a:prstDash val="solid"/>
              <a:miter/>
            </a:ln>
          </p:spPr>
        </p:sp>
        <p:sp>
          <p:nvSpPr>
            <p:cNvPr name="TextBox 23" id="23"/>
            <p:cNvSpPr txBox="true"/>
            <p:nvPr/>
          </p:nvSpPr>
          <p:spPr>
            <a:xfrm>
              <a:off x="0" y="-19050"/>
              <a:ext cx="616894" cy="993590"/>
            </a:xfrm>
            <a:prstGeom prst="rect">
              <a:avLst/>
            </a:prstGeom>
          </p:spPr>
          <p:txBody>
            <a:bodyPr anchor="ctr" rtlCol="false" tIns="50800" lIns="50800" bIns="50800" rIns="50800"/>
            <a:lstStyle/>
            <a:p>
              <a:pPr algn="ctr" marL="0" indent="0" lvl="0">
                <a:lnSpc>
                  <a:spcPts val="1399"/>
                </a:lnSpc>
                <a:spcBef>
                  <a:spcPct val="0"/>
                </a:spcBef>
              </a:pPr>
              <a:r>
                <a:rPr lang="en-US" sz="999">
                  <a:solidFill>
                    <a:srgbClr val="000000"/>
                  </a:solidFill>
                  <a:latin typeface="TT Hazelnuts"/>
                  <a:ea typeface="TT Hazelnuts"/>
                  <a:cs typeface="TT Hazelnuts"/>
                  <a:sym typeface="TT Hazelnuts"/>
                </a:rPr>
                <a:t>Enc</a:t>
              </a:r>
              <a:r>
                <a:rPr lang="en-US" sz="999" strike="noStrike" u="none">
                  <a:solidFill>
                    <a:srgbClr val="000000"/>
                  </a:solidFill>
                  <a:latin typeface="TT Hazelnuts"/>
                  <a:ea typeface="TT Hazelnuts"/>
                  <a:cs typeface="TT Hazelnuts"/>
                  <a:sym typeface="TT Hazelnuts"/>
                </a:rPr>
                <a:t>uentra el mínimo en la porción no ordenada y lo coloca al inicio; repite. Fija n-1 intercambios</a:t>
              </a:r>
            </a:p>
          </p:txBody>
        </p:sp>
      </p:grpSp>
      <p:grpSp>
        <p:nvGrpSpPr>
          <p:cNvPr name="Group 24" id="24"/>
          <p:cNvGrpSpPr/>
          <p:nvPr/>
        </p:nvGrpSpPr>
        <p:grpSpPr>
          <a:xfrm rot="0">
            <a:off x="4886984" y="3380537"/>
            <a:ext cx="1300171" cy="2053947"/>
            <a:chOff x="0" y="0"/>
            <a:chExt cx="616894" cy="974540"/>
          </a:xfrm>
        </p:grpSpPr>
        <p:sp>
          <p:nvSpPr>
            <p:cNvPr name="Freeform 25" id="25"/>
            <p:cNvSpPr/>
            <p:nvPr/>
          </p:nvSpPr>
          <p:spPr>
            <a:xfrm flipH="false" flipV="false" rot="0">
              <a:off x="0" y="0"/>
              <a:ext cx="616894" cy="974540"/>
            </a:xfrm>
            <a:custGeom>
              <a:avLst/>
              <a:gdLst/>
              <a:ahLst/>
              <a:cxnLst/>
              <a:rect r="r" b="b" t="t" l="l"/>
              <a:pathLst>
                <a:path h="974540" w="616894">
                  <a:moveTo>
                    <a:pt x="71454" y="0"/>
                  </a:moveTo>
                  <a:lnTo>
                    <a:pt x="545440" y="0"/>
                  </a:lnTo>
                  <a:cubicBezTo>
                    <a:pt x="584903" y="0"/>
                    <a:pt x="616894" y="31991"/>
                    <a:pt x="616894" y="71454"/>
                  </a:cubicBezTo>
                  <a:lnTo>
                    <a:pt x="616894" y="903085"/>
                  </a:lnTo>
                  <a:cubicBezTo>
                    <a:pt x="616894" y="922036"/>
                    <a:pt x="609366" y="940211"/>
                    <a:pt x="595966" y="953611"/>
                  </a:cubicBezTo>
                  <a:cubicBezTo>
                    <a:pt x="582566" y="967011"/>
                    <a:pt x="564391" y="974540"/>
                    <a:pt x="545440" y="974540"/>
                  </a:cubicBezTo>
                  <a:lnTo>
                    <a:pt x="71454" y="974540"/>
                  </a:lnTo>
                  <a:cubicBezTo>
                    <a:pt x="31991" y="974540"/>
                    <a:pt x="0" y="942548"/>
                    <a:pt x="0" y="903085"/>
                  </a:cubicBezTo>
                  <a:lnTo>
                    <a:pt x="0" y="71454"/>
                  </a:lnTo>
                  <a:cubicBezTo>
                    <a:pt x="0" y="52504"/>
                    <a:pt x="7528" y="34329"/>
                    <a:pt x="20929" y="20929"/>
                  </a:cubicBezTo>
                  <a:cubicBezTo>
                    <a:pt x="34329" y="7528"/>
                    <a:pt x="52504" y="0"/>
                    <a:pt x="71454" y="0"/>
                  </a:cubicBezTo>
                  <a:close/>
                </a:path>
              </a:pathLst>
            </a:custGeom>
            <a:solidFill>
              <a:srgbClr val="FDE0F2"/>
            </a:solidFill>
            <a:ln w="19050" cap="sq">
              <a:solidFill>
                <a:srgbClr val="FF76CE"/>
              </a:solidFill>
              <a:prstDash val="solid"/>
              <a:miter/>
            </a:ln>
          </p:spPr>
        </p:sp>
        <p:sp>
          <p:nvSpPr>
            <p:cNvPr name="TextBox 26" id="26"/>
            <p:cNvSpPr txBox="true"/>
            <p:nvPr/>
          </p:nvSpPr>
          <p:spPr>
            <a:xfrm>
              <a:off x="0" y="-19050"/>
              <a:ext cx="616894" cy="993590"/>
            </a:xfrm>
            <a:prstGeom prst="rect">
              <a:avLst/>
            </a:prstGeom>
          </p:spPr>
          <p:txBody>
            <a:bodyPr anchor="ctr" rtlCol="false" tIns="50800" lIns="50800" bIns="50800" rIns="50800"/>
            <a:lstStyle/>
            <a:p>
              <a:pPr algn="ctr" marL="0" indent="0" lvl="0">
                <a:lnSpc>
                  <a:spcPts val="1399"/>
                </a:lnSpc>
                <a:spcBef>
                  <a:spcPct val="0"/>
                </a:spcBef>
              </a:pPr>
              <a:r>
                <a:rPr lang="en-US" sz="999">
                  <a:solidFill>
                    <a:srgbClr val="000000"/>
                  </a:solidFill>
                  <a:latin typeface="TT Hazelnuts"/>
                  <a:ea typeface="TT Hazelnuts"/>
                  <a:cs typeface="TT Hazelnuts"/>
                  <a:sym typeface="TT Hazelnuts"/>
                </a:rPr>
                <a:t>E</a:t>
              </a:r>
              <a:r>
                <a:rPr lang="en-US" sz="999" strike="noStrike" u="none">
                  <a:solidFill>
                    <a:srgbClr val="000000"/>
                  </a:solidFill>
                  <a:latin typeface="TT Hazelnuts"/>
                  <a:ea typeface="TT Hazelnuts"/>
                  <a:cs typeface="TT Hazelnuts"/>
                  <a:sym typeface="TT Hazelnuts"/>
                </a:rPr>
                <a:t>lige un pivote, particiona la lista (menores a la izquierda, mayores a la derecha) y recursa en sublistas.</a:t>
              </a:r>
            </a:p>
          </p:txBody>
        </p:sp>
      </p:grpSp>
      <p:grpSp>
        <p:nvGrpSpPr>
          <p:cNvPr name="Group 27" id="27"/>
          <p:cNvGrpSpPr/>
          <p:nvPr/>
        </p:nvGrpSpPr>
        <p:grpSpPr>
          <a:xfrm rot="0">
            <a:off x="6304447" y="3380537"/>
            <a:ext cx="1300171" cy="2053947"/>
            <a:chOff x="0" y="0"/>
            <a:chExt cx="616894" cy="974540"/>
          </a:xfrm>
        </p:grpSpPr>
        <p:sp>
          <p:nvSpPr>
            <p:cNvPr name="Freeform 28" id="28"/>
            <p:cNvSpPr/>
            <p:nvPr/>
          </p:nvSpPr>
          <p:spPr>
            <a:xfrm flipH="false" flipV="false" rot="0">
              <a:off x="0" y="0"/>
              <a:ext cx="616894" cy="974540"/>
            </a:xfrm>
            <a:custGeom>
              <a:avLst/>
              <a:gdLst/>
              <a:ahLst/>
              <a:cxnLst/>
              <a:rect r="r" b="b" t="t" l="l"/>
              <a:pathLst>
                <a:path h="974540" w="616894">
                  <a:moveTo>
                    <a:pt x="71454" y="0"/>
                  </a:moveTo>
                  <a:lnTo>
                    <a:pt x="545440" y="0"/>
                  </a:lnTo>
                  <a:cubicBezTo>
                    <a:pt x="584903" y="0"/>
                    <a:pt x="616894" y="31991"/>
                    <a:pt x="616894" y="71454"/>
                  </a:cubicBezTo>
                  <a:lnTo>
                    <a:pt x="616894" y="903085"/>
                  </a:lnTo>
                  <a:cubicBezTo>
                    <a:pt x="616894" y="922036"/>
                    <a:pt x="609366" y="940211"/>
                    <a:pt x="595966" y="953611"/>
                  </a:cubicBezTo>
                  <a:cubicBezTo>
                    <a:pt x="582566" y="967011"/>
                    <a:pt x="564391" y="974540"/>
                    <a:pt x="545440" y="974540"/>
                  </a:cubicBezTo>
                  <a:lnTo>
                    <a:pt x="71454" y="974540"/>
                  </a:lnTo>
                  <a:cubicBezTo>
                    <a:pt x="31991" y="974540"/>
                    <a:pt x="0" y="942548"/>
                    <a:pt x="0" y="903085"/>
                  </a:cubicBezTo>
                  <a:lnTo>
                    <a:pt x="0" y="71454"/>
                  </a:lnTo>
                  <a:cubicBezTo>
                    <a:pt x="0" y="52504"/>
                    <a:pt x="7528" y="34329"/>
                    <a:pt x="20929" y="20929"/>
                  </a:cubicBezTo>
                  <a:cubicBezTo>
                    <a:pt x="34329" y="7528"/>
                    <a:pt x="52504" y="0"/>
                    <a:pt x="71454" y="0"/>
                  </a:cubicBezTo>
                  <a:close/>
                </a:path>
              </a:pathLst>
            </a:custGeom>
            <a:solidFill>
              <a:srgbClr val="FDE0F2"/>
            </a:solidFill>
            <a:ln w="19050" cap="sq">
              <a:solidFill>
                <a:srgbClr val="FF76CE"/>
              </a:solidFill>
              <a:prstDash val="solid"/>
              <a:miter/>
            </a:ln>
          </p:spPr>
        </p:sp>
        <p:sp>
          <p:nvSpPr>
            <p:cNvPr name="TextBox 29" id="29"/>
            <p:cNvSpPr txBox="true"/>
            <p:nvPr/>
          </p:nvSpPr>
          <p:spPr>
            <a:xfrm>
              <a:off x="0" y="-19050"/>
              <a:ext cx="616894" cy="993590"/>
            </a:xfrm>
            <a:prstGeom prst="rect">
              <a:avLst/>
            </a:prstGeom>
          </p:spPr>
          <p:txBody>
            <a:bodyPr anchor="ctr" rtlCol="false" tIns="50800" lIns="50800" bIns="50800" rIns="50800"/>
            <a:lstStyle/>
            <a:p>
              <a:pPr algn="ctr" marL="0" indent="0" lvl="0">
                <a:lnSpc>
                  <a:spcPts val="1399"/>
                </a:lnSpc>
                <a:spcBef>
                  <a:spcPct val="0"/>
                </a:spcBef>
              </a:pPr>
              <a:r>
                <a:rPr lang="en-US" sz="999">
                  <a:solidFill>
                    <a:srgbClr val="000000"/>
                  </a:solidFill>
                  <a:latin typeface="TT Hazelnuts"/>
                  <a:ea typeface="TT Hazelnuts"/>
                  <a:cs typeface="TT Hazelnuts"/>
                  <a:sym typeface="TT Hazelnuts"/>
                </a:rPr>
                <a:t>Divi</a:t>
              </a:r>
              <a:r>
                <a:rPr lang="en-US" sz="999" strike="noStrike" u="none">
                  <a:solidFill>
                    <a:srgbClr val="000000"/>
                  </a:solidFill>
                  <a:latin typeface="TT Hazelnuts"/>
                  <a:ea typeface="TT Hazelnuts"/>
                  <a:cs typeface="TT Hazelnuts"/>
                  <a:sym typeface="TT Hazelnuts"/>
                </a:rPr>
                <a:t>de la lista en mitades, ordena recursivamente y fusiona sublistas ordenadas.</a:t>
              </a:r>
            </a:p>
          </p:txBody>
        </p:sp>
      </p:grpSp>
      <p:grpSp>
        <p:nvGrpSpPr>
          <p:cNvPr name="Group 30" id="30"/>
          <p:cNvGrpSpPr/>
          <p:nvPr/>
        </p:nvGrpSpPr>
        <p:grpSpPr>
          <a:xfrm rot="0">
            <a:off x="7721909" y="3380537"/>
            <a:ext cx="1300171" cy="2053947"/>
            <a:chOff x="0" y="0"/>
            <a:chExt cx="616894" cy="974540"/>
          </a:xfrm>
        </p:grpSpPr>
        <p:sp>
          <p:nvSpPr>
            <p:cNvPr name="Freeform 31" id="31"/>
            <p:cNvSpPr/>
            <p:nvPr/>
          </p:nvSpPr>
          <p:spPr>
            <a:xfrm flipH="false" flipV="false" rot="0">
              <a:off x="0" y="0"/>
              <a:ext cx="616894" cy="974540"/>
            </a:xfrm>
            <a:custGeom>
              <a:avLst/>
              <a:gdLst/>
              <a:ahLst/>
              <a:cxnLst/>
              <a:rect r="r" b="b" t="t" l="l"/>
              <a:pathLst>
                <a:path h="974540" w="616894">
                  <a:moveTo>
                    <a:pt x="71454" y="0"/>
                  </a:moveTo>
                  <a:lnTo>
                    <a:pt x="545440" y="0"/>
                  </a:lnTo>
                  <a:cubicBezTo>
                    <a:pt x="584903" y="0"/>
                    <a:pt x="616894" y="31991"/>
                    <a:pt x="616894" y="71454"/>
                  </a:cubicBezTo>
                  <a:lnTo>
                    <a:pt x="616894" y="903085"/>
                  </a:lnTo>
                  <a:cubicBezTo>
                    <a:pt x="616894" y="922036"/>
                    <a:pt x="609366" y="940211"/>
                    <a:pt x="595966" y="953611"/>
                  </a:cubicBezTo>
                  <a:cubicBezTo>
                    <a:pt x="582566" y="967011"/>
                    <a:pt x="564391" y="974540"/>
                    <a:pt x="545440" y="974540"/>
                  </a:cubicBezTo>
                  <a:lnTo>
                    <a:pt x="71454" y="974540"/>
                  </a:lnTo>
                  <a:cubicBezTo>
                    <a:pt x="31991" y="974540"/>
                    <a:pt x="0" y="942548"/>
                    <a:pt x="0" y="903085"/>
                  </a:cubicBezTo>
                  <a:lnTo>
                    <a:pt x="0" y="71454"/>
                  </a:lnTo>
                  <a:cubicBezTo>
                    <a:pt x="0" y="52504"/>
                    <a:pt x="7528" y="34329"/>
                    <a:pt x="20929" y="20929"/>
                  </a:cubicBezTo>
                  <a:cubicBezTo>
                    <a:pt x="34329" y="7528"/>
                    <a:pt x="52504" y="0"/>
                    <a:pt x="71454" y="0"/>
                  </a:cubicBezTo>
                  <a:close/>
                </a:path>
              </a:pathLst>
            </a:custGeom>
            <a:solidFill>
              <a:srgbClr val="FDE0F2"/>
            </a:solidFill>
            <a:ln w="19050" cap="sq">
              <a:solidFill>
                <a:srgbClr val="FF76CE"/>
              </a:solidFill>
              <a:prstDash val="solid"/>
              <a:miter/>
            </a:ln>
          </p:spPr>
        </p:sp>
        <p:sp>
          <p:nvSpPr>
            <p:cNvPr name="TextBox 32" id="32"/>
            <p:cNvSpPr txBox="true"/>
            <p:nvPr/>
          </p:nvSpPr>
          <p:spPr>
            <a:xfrm>
              <a:off x="0" y="-19050"/>
              <a:ext cx="616894" cy="993590"/>
            </a:xfrm>
            <a:prstGeom prst="rect">
              <a:avLst/>
            </a:prstGeom>
          </p:spPr>
          <p:txBody>
            <a:bodyPr anchor="ctr" rtlCol="false" tIns="50800" lIns="50800" bIns="50800" rIns="50800"/>
            <a:lstStyle/>
            <a:p>
              <a:pPr algn="ctr" marL="0" indent="0" lvl="0">
                <a:lnSpc>
                  <a:spcPts val="1399"/>
                </a:lnSpc>
                <a:spcBef>
                  <a:spcPct val="0"/>
                </a:spcBef>
              </a:pPr>
              <a:r>
                <a:rPr lang="en-US" sz="999">
                  <a:solidFill>
                    <a:srgbClr val="000000"/>
                  </a:solidFill>
                  <a:latin typeface="TT Hazelnuts"/>
                  <a:ea typeface="TT Hazelnuts"/>
                  <a:cs typeface="TT Hazelnuts"/>
                  <a:sym typeface="TT Hazelnuts"/>
                </a:rPr>
                <a:t>Co</a:t>
              </a:r>
              <a:r>
                <a:rPr lang="en-US" sz="999" strike="noStrike" u="none">
                  <a:solidFill>
                    <a:srgbClr val="000000"/>
                  </a:solidFill>
                  <a:latin typeface="TT Hazelnuts"/>
                  <a:ea typeface="TT Hazelnuts"/>
                  <a:cs typeface="TT Hazelnuts"/>
                  <a:sym typeface="TT Hazelnuts"/>
                </a:rPr>
                <a:t>nstruye un heap máximo, extrae la raíz (máximo) y reconstruye; O(n log n) siempre, in-place pero no estable</a:t>
              </a:r>
            </a:p>
          </p:txBody>
        </p:sp>
      </p:grpSp>
      <p:grpSp>
        <p:nvGrpSpPr>
          <p:cNvPr name="Group 33" id="33"/>
          <p:cNvGrpSpPr/>
          <p:nvPr/>
        </p:nvGrpSpPr>
        <p:grpSpPr>
          <a:xfrm rot="0">
            <a:off x="634598" y="2741829"/>
            <a:ext cx="1300171" cy="459209"/>
            <a:chOff x="0" y="0"/>
            <a:chExt cx="616894" cy="217882"/>
          </a:xfrm>
        </p:grpSpPr>
        <p:sp>
          <p:nvSpPr>
            <p:cNvPr name="Freeform 34" id="34"/>
            <p:cNvSpPr/>
            <p:nvPr/>
          </p:nvSpPr>
          <p:spPr>
            <a:xfrm flipH="false" flipV="false" rot="0">
              <a:off x="0" y="0"/>
              <a:ext cx="616894" cy="217882"/>
            </a:xfrm>
            <a:custGeom>
              <a:avLst/>
              <a:gdLst/>
              <a:ahLst/>
              <a:cxnLst/>
              <a:rect r="r" b="b" t="t" l="l"/>
              <a:pathLst>
                <a:path h="217882" w="616894">
                  <a:moveTo>
                    <a:pt x="71454" y="0"/>
                  </a:moveTo>
                  <a:lnTo>
                    <a:pt x="545440" y="0"/>
                  </a:lnTo>
                  <a:cubicBezTo>
                    <a:pt x="584903" y="0"/>
                    <a:pt x="616894" y="31991"/>
                    <a:pt x="616894" y="71454"/>
                  </a:cubicBezTo>
                  <a:lnTo>
                    <a:pt x="616894" y="146427"/>
                  </a:lnTo>
                  <a:cubicBezTo>
                    <a:pt x="616894" y="165378"/>
                    <a:pt x="609366" y="183553"/>
                    <a:pt x="595966" y="196953"/>
                  </a:cubicBezTo>
                  <a:cubicBezTo>
                    <a:pt x="582566" y="210354"/>
                    <a:pt x="564391" y="217882"/>
                    <a:pt x="545440" y="217882"/>
                  </a:cubicBezTo>
                  <a:lnTo>
                    <a:pt x="71454" y="217882"/>
                  </a:lnTo>
                  <a:cubicBezTo>
                    <a:pt x="52504" y="217882"/>
                    <a:pt x="34329" y="210354"/>
                    <a:pt x="20929" y="196953"/>
                  </a:cubicBezTo>
                  <a:cubicBezTo>
                    <a:pt x="7528" y="183553"/>
                    <a:pt x="0" y="165378"/>
                    <a:pt x="0" y="146427"/>
                  </a:cubicBezTo>
                  <a:lnTo>
                    <a:pt x="0" y="71454"/>
                  </a:lnTo>
                  <a:cubicBezTo>
                    <a:pt x="0" y="52504"/>
                    <a:pt x="7528" y="34329"/>
                    <a:pt x="20929" y="20929"/>
                  </a:cubicBezTo>
                  <a:cubicBezTo>
                    <a:pt x="34329" y="7528"/>
                    <a:pt x="52504" y="0"/>
                    <a:pt x="71454" y="0"/>
                  </a:cubicBezTo>
                  <a:close/>
                </a:path>
              </a:pathLst>
            </a:custGeom>
            <a:solidFill>
              <a:srgbClr val="FF76CE"/>
            </a:solidFill>
          </p:spPr>
        </p:sp>
        <p:sp>
          <p:nvSpPr>
            <p:cNvPr name="TextBox 35" id="35"/>
            <p:cNvSpPr txBox="true"/>
            <p:nvPr/>
          </p:nvSpPr>
          <p:spPr>
            <a:xfrm>
              <a:off x="0" y="-28575"/>
              <a:ext cx="616894" cy="246457"/>
            </a:xfrm>
            <a:prstGeom prst="rect">
              <a:avLst/>
            </a:prstGeom>
          </p:spPr>
          <p:txBody>
            <a:bodyPr anchor="ctr" rtlCol="false" tIns="50800" lIns="50800" bIns="50800" rIns="50800"/>
            <a:lstStyle/>
            <a:p>
              <a:pPr algn="ctr">
                <a:lnSpc>
                  <a:spcPts val="1539"/>
                </a:lnSpc>
              </a:pPr>
              <a:r>
                <a:rPr lang="en-US" b="true" sz="1099">
                  <a:solidFill>
                    <a:srgbClr val="000000"/>
                  </a:solidFill>
                  <a:latin typeface="TT Hazelnuts Bold"/>
                  <a:ea typeface="TT Hazelnuts Bold"/>
                  <a:cs typeface="TT Hazelnuts Bold"/>
                  <a:sym typeface="TT Hazelnuts Bold"/>
                </a:rPr>
                <a:t>Bubble Sort</a:t>
              </a:r>
            </a:p>
          </p:txBody>
        </p:sp>
      </p:grpSp>
      <p:grpSp>
        <p:nvGrpSpPr>
          <p:cNvPr name="Group 36" id="36"/>
          <p:cNvGrpSpPr/>
          <p:nvPr/>
        </p:nvGrpSpPr>
        <p:grpSpPr>
          <a:xfrm rot="0">
            <a:off x="2052060" y="2741829"/>
            <a:ext cx="1300171" cy="459209"/>
            <a:chOff x="0" y="0"/>
            <a:chExt cx="616894" cy="217882"/>
          </a:xfrm>
        </p:grpSpPr>
        <p:sp>
          <p:nvSpPr>
            <p:cNvPr name="Freeform 37" id="37"/>
            <p:cNvSpPr/>
            <p:nvPr/>
          </p:nvSpPr>
          <p:spPr>
            <a:xfrm flipH="false" flipV="false" rot="0">
              <a:off x="0" y="0"/>
              <a:ext cx="616894" cy="217882"/>
            </a:xfrm>
            <a:custGeom>
              <a:avLst/>
              <a:gdLst/>
              <a:ahLst/>
              <a:cxnLst/>
              <a:rect r="r" b="b" t="t" l="l"/>
              <a:pathLst>
                <a:path h="217882" w="616894">
                  <a:moveTo>
                    <a:pt x="71454" y="0"/>
                  </a:moveTo>
                  <a:lnTo>
                    <a:pt x="545440" y="0"/>
                  </a:lnTo>
                  <a:cubicBezTo>
                    <a:pt x="584903" y="0"/>
                    <a:pt x="616894" y="31991"/>
                    <a:pt x="616894" y="71454"/>
                  </a:cubicBezTo>
                  <a:lnTo>
                    <a:pt x="616894" y="146427"/>
                  </a:lnTo>
                  <a:cubicBezTo>
                    <a:pt x="616894" y="165378"/>
                    <a:pt x="609366" y="183553"/>
                    <a:pt x="595966" y="196953"/>
                  </a:cubicBezTo>
                  <a:cubicBezTo>
                    <a:pt x="582566" y="210354"/>
                    <a:pt x="564391" y="217882"/>
                    <a:pt x="545440" y="217882"/>
                  </a:cubicBezTo>
                  <a:lnTo>
                    <a:pt x="71454" y="217882"/>
                  </a:lnTo>
                  <a:cubicBezTo>
                    <a:pt x="52504" y="217882"/>
                    <a:pt x="34329" y="210354"/>
                    <a:pt x="20929" y="196953"/>
                  </a:cubicBezTo>
                  <a:cubicBezTo>
                    <a:pt x="7528" y="183553"/>
                    <a:pt x="0" y="165378"/>
                    <a:pt x="0" y="146427"/>
                  </a:cubicBezTo>
                  <a:lnTo>
                    <a:pt x="0" y="71454"/>
                  </a:lnTo>
                  <a:cubicBezTo>
                    <a:pt x="0" y="52504"/>
                    <a:pt x="7528" y="34329"/>
                    <a:pt x="20929" y="20929"/>
                  </a:cubicBezTo>
                  <a:cubicBezTo>
                    <a:pt x="34329" y="7528"/>
                    <a:pt x="52504" y="0"/>
                    <a:pt x="71454" y="0"/>
                  </a:cubicBezTo>
                  <a:close/>
                </a:path>
              </a:pathLst>
            </a:custGeom>
            <a:solidFill>
              <a:srgbClr val="FF76CE"/>
            </a:solidFill>
          </p:spPr>
        </p:sp>
        <p:sp>
          <p:nvSpPr>
            <p:cNvPr name="TextBox 38" id="38"/>
            <p:cNvSpPr txBox="true"/>
            <p:nvPr/>
          </p:nvSpPr>
          <p:spPr>
            <a:xfrm>
              <a:off x="0" y="-28575"/>
              <a:ext cx="616894" cy="246457"/>
            </a:xfrm>
            <a:prstGeom prst="rect">
              <a:avLst/>
            </a:prstGeom>
          </p:spPr>
          <p:txBody>
            <a:bodyPr anchor="ctr" rtlCol="false" tIns="50800" lIns="50800" bIns="50800" rIns="50800"/>
            <a:lstStyle/>
            <a:p>
              <a:pPr algn="ctr">
                <a:lnSpc>
                  <a:spcPts val="1539"/>
                </a:lnSpc>
              </a:pPr>
              <a:r>
                <a:rPr lang="en-US" b="true" sz="1099">
                  <a:solidFill>
                    <a:srgbClr val="000000"/>
                  </a:solidFill>
                  <a:latin typeface="TT Hazelnuts Bold"/>
                  <a:ea typeface="TT Hazelnuts Bold"/>
                  <a:cs typeface="TT Hazelnuts Bold"/>
                  <a:sym typeface="TT Hazelnuts Bold"/>
                </a:rPr>
                <a:t>Insertion Sort</a:t>
              </a:r>
            </a:p>
          </p:txBody>
        </p:sp>
      </p:grpSp>
      <p:grpSp>
        <p:nvGrpSpPr>
          <p:cNvPr name="Group 39" id="39"/>
          <p:cNvGrpSpPr/>
          <p:nvPr/>
        </p:nvGrpSpPr>
        <p:grpSpPr>
          <a:xfrm rot="0">
            <a:off x="3469522" y="2741829"/>
            <a:ext cx="1300171" cy="459209"/>
            <a:chOff x="0" y="0"/>
            <a:chExt cx="616894" cy="217882"/>
          </a:xfrm>
        </p:grpSpPr>
        <p:sp>
          <p:nvSpPr>
            <p:cNvPr name="Freeform 40" id="40"/>
            <p:cNvSpPr/>
            <p:nvPr/>
          </p:nvSpPr>
          <p:spPr>
            <a:xfrm flipH="false" flipV="false" rot="0">
              <a:off x="0" y="0"/>
              <a:ext cx="616894" cy="217882"/>
            </a:xfrm>
            <a:custGeom>
              <a:avLst/>
              <a:gdLst/>
              <a:ahLst/>
              <a:cxnLst/>
              <a:rect r="r" b="b" t="t" l="l"/>
              <a:pathLst>
                <a:path h="217882" w="616894">
                  <a:moveTo>
                    <a:pt x="71454" y="0"/>
                  </a:moveTo>
                  <a:lnTo>
                    <a:pt x="545440" y="0"/>
                  </a:lnTo>
                  <a:cubicBezTo>
                    <a:pt x="584903" y="0"/>
                    <a:pt x="616894" y="31991"/>
                    <a:pt x="616894" y="71454"/>
                  </a:cubicBezTo>
                  <a:lnTo>
                    <a:pt x="616894" y="146427"/>
                  </a:lnTo>
                  <a:cubicBezTo>
                    <a:pt x="616894" y="165378"/>
                    <a:pt x="609366" y="183553"/>
                    <a:pt x="595966" y="196953"/>
                  </a:cubicBezTo>
                  <a:cubicBezTo>
                    <a:pt x="582566" y="210354"/>
                    <a:pt x="564391" y="217882"/>
                    <a:pt x="545440" y="217882"/>
                  </a:cubicBezTo>
                  <a:lnTo>
                    <a:pt x="71454" y="217882"/>
                  </a:lnTo>
                  <a:cubicBezTo>
                    <a:pt x="52504" y="217882"/>
                    <a:pt x="34329" y="210354"/>
                    <a:pt x="20929" y="196953"/>
                  </a:cubicBezTo>
                  <a:cubicBezTo>
                    <a:pt x="7528" y="183553"/>
                    <a:pt x="0" y="165378"/>
                    <a:pt x="0" y="146427"/>
                  </a:cubicBezTo>
                  <a:lnTo>
                    <a:pt x="0" y="71454"/>
                  </a:lnTo>
                  <a:cubicBezTo>
                    <a:pt x="0" y="52504"/>
                    <a:pt x="7528" y="34329"/>
                    <a:pt x="20929" y="20929"/>
                  </a:cubicBezTo>
                  <a:cubicBezTo>
                    <a:pt x="34329" y="7528"/>
                    <a:pt x="52504" y="0"/>
                    <a:pt x="71454" y="0"/>
                  </a:cubicBezTo>
                  <a:close/>
                </a:path>
              </a:pathLst>
            </a:custGeom>
            <a:solidFill>
              <a:srgbClr val="FF76CE"/>
            </a:solidFill>
          </p:spPr>
        </p:sp>
        <p:sp>
          <p:nvSpPr>
            <p:cNvPr name="TextBox 41" id="41"/>
            <p:cNvSpPr txBox="true"/>
            <p:nvPr/>
          </p:nvSpPr>
          <p:spPr>
            <a:xfrm>
              <a:off x="0" y="-28575"/>
              <a:ext cx="616894" cy="246457"/>
            </a:xfrm>
            <a:prstGeom prst="rect">
              <a:avLst/>
            </a:prstGeom>
          </p:spPr>
          <p:txBody>
            <a:bodyPr anchor="ctr" rtlCol="false" tIns="50800" lIns="50800" bIns="50800" rIns="50800"/>
            <a:lstStyle/>
            <a:p>
              <a:pPr algn="ctr">
                <a:lnSpc>
                  <a:spcPts val="1539"/>
                </a:lnSpc>
              </a:pPr>
              <a:r>
                <a:rPr lang="en-US" b="true" sz="1099">
                  <a:solidFill>
                    <a:srgbClr val="000000"/>
                  </a:solidFill>
                  <a:latin typeface="TT Hazelnuts Bold"/>
                  <a:ea typeface="TT Hazelnuts Bold"/>
                  <a:cs typeface="TT Hazelnuts Bold"/>
                  <a:sym typeface="TT Hazelnuts Bold"/>
                </a:rPr>
                <a:t>Selection Sort</a:t>
              </a:r>
            </a:p>
          </p:txBody>
        </p:sp>
      </p:grpSp>
      <p:grpSp>
        <p:nvGrpSpPr>
          <p:cNvPr name="Group 42" id="42"/>
          <p:cNvGrpSpPr/>
          <p:nvPr/>
        </p:nvGrpSpPr>
        <p:grpSpPr>
          <a:xfrm rot="0">
            <a:off x="4886984" y="2741829"/>
            <a:ext cx="1300171" cy="459209"/>
            <a:chOff x="0" y="0"/>
            <a:chExt cx="616894" cy="217882"/>
          </a:xfrm>
        </p:grpSpPr>
        <p:sp>
          <p:nvSpPr>
            <p:cNvPr name="Freeform 43" id="43"/>
            <p:cNvSpPr/>
            <p:nvPr/>
          </p:nvSpPr>
          <p:spPr>
            <a:xfrm flipH="false" flipV="false" rot="0">
              <a:off x="0" y="0"/>
              <a:ext cx="616894" cy="217882"/>
            </a:xfrm>
            <a:custGeom>
              <a:avLst/>
              <a:gdLst/>
              <a:ahLst/>
              <a:cxnLst/>
              <a:rect r="r" b="b" t="t" l="l"/>
              <a:pathLst>
                <a:path h="217882" w="616894">
                  <a:moveTo>
                    <a:pt x="71454" y="0"/>
                  </a:moveTo>
                  <a:lnTo>
                    <a:pt x="545440" y="0"/>
                  </a:lnTo>
                  <a:cubicBezTo>
                    <a:pt x="584903" y="0"/>
                    <a:pt x="616894" y="31991"/>
                    <a:pt x="616894" y="71454"/>
                  </a:cubicBezTo>
                  <a:lnTo>
                    <a:pt x="616894" y="146427"/>
                  </a:lnTo>
                  <a:cubicBezTo>
                    <a:pt x="616894" y="165378"/>
                    <a:pt x="609366" y="183553"/>
                    <a:pt x="595966" y="196953"/>
                  </a:cubicBezTo>
                  <a:cubicBezTo>
                    <a:pt x="582566" y="210354"/>
                    <a:pt x="564391" y="217882"/>
                    <a:pt x="545440" y="217882"/>
                  </a:cubicBezTo>
                  <a:lnTo>
                    <a:pt x="71454" y="217882"/>
                  </a:lnTo>
                  <a:cubicBezTo>
                    <a:pt x="52504" y="217882"/>
                    <a:pt x="34329" y="210354"/>
                    <a:pt x="20929" y="196953"/>
                  </a:cubicBezTo>
                  <a:cubicBezTo>
                    <a:pt x="7528" y="183553"/>
                    <a:pt x="0" y="165378"/>
                    <a:pt x="0" y="146427"/>
                  </a:cubicBezTo>
                  <a:lnTo>
                    <a:pt x="0" y="71454"/>
                  </a:lnTo>
                  <a:cubicBezTo>
                    <a:pt x="0" y="52504"/>
                    <a:pt x="7528" y="34329"/>
                    <a:pt x="20929" y="20929"/>
                  </a:cubicBezTo>
                  <a:cubicBezTo>
                    <a:pt x="34329" y="7528"/>
                    <a:pt x="52504" y="0"/>
                    <a:pt x="71454" y="0"/>
                  </a:cubicBezTo>
                  <a:close/>
                </a:path>
              </a:pathLst>
            </a:custGeom>
            <a:solidFill>
              <a:srgbClr val="FF76CE"/>
            </a:solidFill>
          </p:spPr>
        </p:sp>
        <p:sp>
          <p:nvSpPr>
            <p:cNvPr name="TextBox 44" id="44"/>
            <p:cNvSpPr txBox="true"/>
            <p:nvPr/>
          </p:nvSpPr>
          <p:spPr>
            <a:xfrm>
              <a:off x="0" y="-28575"/>
              <a:ext cx="616894" cy="246457"/>
            </a:xfrm>
            <a:prstGeom prst="rect">
              <a:avLst/>
            </a:prstGeom>
          </p:spPr>
          <p:txBody>
            <a:bodyPr anchor="ctr" rtlCol="false" tIns="50800" lIns="50800" bIns="50800" rIns="50800"/>
            <a:lstStyle/>
            <a:p>
              <a:pPr algn="ctr">
                <a:lnSpc>
                  <a:spcPts val="1539"/>
                </a:lnSpc>
              </a:pPr>
              <a:r>
                <a:rPr lang="en-US" b="true" sz="1099">
                  <a:solidFill>
                    <a:srgbClr val="000000"/>
                  </a:solidFill>
                  <a:latin typeface="TT Hazelnuts Bold"/>
                  <a:ea typeface="TT Hazelnuts Bold"/>
                  <a:cs typeface="TT Hazelnuts Bold"/>
                  <a:sym typeface="TT Hazelnuts Bold"/>
                </a:rPr>
                <a:t>QuickSort</a:t>
              </a:r>
            </a:p>
          </p:txBody>
        </p:sp>
      </p:grpSp>
      <p:grpSp>
        <p:nvGrpSpPr>
          <p:cNvPr name="Group 45" id="45"/>
          <p:cNvGrpSpPr/>
          <p:nvPr/>
        </p:nvGrpSpPr>
        <p:grpSpPr>
          <a:xfrm rot="0">
            <a:off x="6304447" y="2741829"/>
            <a:ext cx="1300171" cy="459209"/>
            <a:chOff x="0" y="0"/>
            <a:chExt cx="616894" cy="217882"/>
          </a:xfrm>
        </p:grpSpPr>
        <p:sp>
          <p:nvSpPr>
            <p:cNvPr name="Freeform 46" id="46"/>
            <p:cNvSpPr/>
            <p:nvPr/>
          </p:nvSpPr>
          <p:spPr>
            <a:xfrm flipH="false" flipV="false" rot="0">
              <a:off x="0" y="0"/>
              <a:ext cx="616894" cy="217882"/>
            </a:xfrm>
            <a:custGeom>
              <a:avLst/>
              <a:gdLst/>
              <a:ahLst/>
              <a:cxnLst/>
              <a:rect r="r" b="b" t="t" l="l"/>
              <a:pathLst>
                <a:path h="217882" w="616894">
                  <a:moveTo>
                    <a:pt x="71454" y="0"/>
                  </a:moveTo>
                  <a:lnTo>
                    <a:pt x="545440" y="0"/>
                  </a:lnTo>
                  <a:cubicBezTo>
                    <a:pt x="584903" y="0"/>
                    <a:pt x="616894" y="31991"/>
                    <a:pt x="616894" y="71454"/>
                  </a:cubicBezTo>
                  <a:lnTo>
                    <a:pt x="616894" y="146427"/>
                  </a:lnTo>
                  <a:cubicBezTo>
                    <a:pt x="616894" y="165378"/>
                    <a:pt x="609366" y="183553"/>
                    <a:pt x="595966" y="196953"/>
                  </a:cubicBezTo>
                  <a:cubicBezTo>
                    <a:pt x="582566" y="210354"/>
                    <a:pt x="564391" y="217882"/>
                    <a:pt x="545440" y="217882"/>
                  </a:cubicBezTo>
                  <a:lnTo>
                    <a:pt x="71454" y="217882"/>
                  </a:lnTo>
                  <a:cubicBezTo>
                    <a:pt x="52504" y="217882"/>
                    <a:pt x="34329" y="210354"/>
                    <a:pt x="20929" y="196953"/>
                  </a:cubicBezTo>
                  <a:cubicBezTo>
                    <a:pt x="7528" y="183553"/>
                    <a:pt x="0" y="165378"/>
                    <a:pt x="0" y="146427"/>
                  </a:cubicBezTo>
                  <a:lnTo>
                    <a:pt x="0" y="71454"/>
                  </a:lnTo>
                  <a:cubicBezTo>
                    <a:pt x="0" y="52504"/>
                    <a:pt x="7528" y="34329"/>
                    <a:pt x="20929" y="20929"/>
                  </a:cubicBezTo>
                  <a:cubicBezTo>
                    <a:pt x="34329" y="7528"/>
                    <a:pt x="52504" y="0"/>
                    <a:pt x="71454" y="0"/>
                  </a:cubicBezTo>
                  <a:close/>
                </a:path>
              </a:pathLst>
            </a:custGeom>
            <a:solidFill>
              <a:srgbClr val="FF76CE"/>
            </a:solidFill>
          </p:spPr>
        </p:sp>
        <p:sp>
          <p:nvSpPr>
            <p:cNvPr name="TextBox 47" id="47"/>
            <p:cNvSpPr txBox="true"/>
            <p:nvPr/>
          </p:nvSpPr>
          <p:spPr>
            <a:xfrm>
              <a:off x="0" y="-28575"/>
              <a:ext cx="616894" cy="246457"/>
            </a:xfrm>
            <a:prstGeom prst="rect">
              <a:avLst/>
            </a:prstGeom>
          </p:spPr>
          <p:txBody>
            <a:bodyPr anchor="ctr" rtlCol="false" tIns="50800" lIns="50800" bIns="50800" rIns="50800"/>
            <a:lstStyle/>
            <a:p>
              <a:pPr algn="ctr">
                <a:lnSpc>
                  <a:spcPts val="1539"/>
                </a:lnSpc>
              </a:pPr>
              <a:r>
                <a:rPr lang="en-US" b="true" sz="1099">
                  <a:solidFill>
                    <a:srgbClr val="000000"/>
                  </a:solidFill>
                  <a:latin typeface="TT Hazelnuts Bold"/>
                  <a:ea typeface="TT Hazelnuts Bold"/>
                  <a:cs typeface="TT Hazelnuts Bold"/>
                  <a:sym typeface="TT Hazelnuts Bold"/>
                </a:rPr>
                <a:t>Merge Sort</a:t>
              </a:r>
            </a:p>
          </p:txBody>
        </p:sp>
      </p:grpSp>
      <p:grpSp>
        <p:nvGrpSpPr>
          <p:cNvPr name="Group 48" id="48"/>
          <p:cNvGrpSpPr/>
          <p:nvPr/>
        </p:nvGrpSpPr>
        <p:grpSpPr>
          <a:xfrm rot="0">
            <a:off x="7721909" y="2741829"/>
            <a:ext cx="1300171" cy="459209"/>
            <a:chOff x="0" y="0"/>
            <a:chExt cx="616894" cy="217882"/>
          </a:xfrm>
        </p:grpSpPr>
        <p:sp>
          <p:nvSpPr>
            <p:cNvPr name="Freeform 49" id="49"/>
            <p:cNvSpPr/>
            <p:nvPr/>
          </p:nvSpPr>
          <p:spPr>
            <a:xfrm flipH="false" flipV="false" rot="0">
              <a:off x="0" y="0"/>
              <a:ext cx="616894" cy="217882"/>
            </a:xfrm>
            <a:custGeom>
              <a:avLst/>
              <a:gdLst/>
              <a:ahLst/>
              <a:cxnLst/>
              <a:rect r="r" b="b" t="t" l="l"/>
              <a:pathLst>
                <a:path h="217882" w="616894">
                  <a:moveTo>
                    <a:pt x="71454" y="0"/>
                  </a:moveTo>
                  <a:lnTo>
                    <a:pt x="545440" y="0"/>
                  </a:lnTo>
                  <a:cubicBezTo>
                    <a:pt x="584903" y="0"/>
                    <a:pt x="616894" y="31991"/>
                    <a:pt x="616894" y="71454"/>
                  </a:cubicBezTo>
                  <a:lnTo>
                    <a:pt x="616894" y="146427"/>
                  </a:lnTo>
                  <a:cubicBezTo>
                    <a:pt x="616894" y="165378"/>
                    <a:pt x="609366" y="183553"/>
                    <a:pt x="595966" y="196953"/>
                  </a:cubicBezTo>
                  <a:cubicBezTo>
                    <a:pt x="582566" y="210354"/>
                    <a:pt x="564391" y="217882"/>
                    <a:pt x="545440" y="217882"/>
                  </a:cubicBezTo>
                  <a:lnTo>
                    <a:pt x="71454" y="217882"/>
                  </a:lnTo>
                  <a:cubicBezTo>
                    <a:pt x="52504" y="217882"/>
                    <a:pt x="34329" y="210354"/>
                    <a:pt x="20929" y="196953"/>
                  </a:cubicBezTo>
                  <a:cubicBezTo>
                    <a:pt x="7528" y="183553"/>
                    <a:pt x="0" y="165378"/>
                    <a:pt x="0" y="146427"/>
                  </a:cubicBezTo>
                  <a:lnTo>
                    <a:pt x="0" y="71454"/>
                  </a:lnTo>
                  <a:cubicBezTo>
                    <a:pt x="0" y="52504"/>
                    <a:pt x="7528" y="34329"/>
                    <a:pt x="20929" y="20929"/>
                  </a:cubicBezTo>
                  <a:cubicBezTo>
                    <a:pt x="34329" y="7528"/>
                    <a:pt x="52504" y="0"/>
                    <a:pt x="71454" y="0"/>
                  </a:cubicBezTo>
                  <a:close/>
                </a:path>
              </a:pathLst>
            </a:custGeom>
            <a:solidFill>
              <a:srgbClr val="FF76CE"/>
            </a:solidFill>
          </p:spPr>
        </p:sp>
        <p:sp>
          <p:nvSpPr>
            <p:cNvPr name="TextBox 50" id="50"/>
            <p:cNvSpPr txBox="true"/>
            <p:nvPr/>
          </p:nvSpPr>
          <p:spPr>
            <a:xfrm>
              <a:off x="0" y="-28575"/>
              <a:ext cx="616894" cy="246457"/>
            </a:xfrm>
            <a:prstGeom prst="rect">
              <a:avLst/>
            </a:prstGeom>
          </p:spPr>
          <p:txBody>
            <a:bodyPr anchor="ctr" rtlCol="false" tIns="50800" lIns="50800" bIns="50800" rIns="50800"/>
            <a:lstStyle/>
            <a:p>
              <a:pPr algn="ctr">
                <a:lnSpc>
                  <a:spcPts val="1539"/>
                </a:lnSpc>
              </a:pPr>
              <a:r>
                <a:rPr lang="en-US" b="true" sz="1099">
                  <a:solidFill>
                    <a:srgbClr val="000000"/>
                  </a:solidFill>
                  <a:latin typeface="TT Hazelnuts Bold"/>
                  <a:ea typeface="TT Hazelnuts Bold"/>
                  <a:cs typeface="TT Hazelnuts Bold"/>
                  <a:sym typeface="TT Hazelnuts Bold"/>
                </a:rPr>
                <a:t>Heap Sort</a:t>
              </a:r>
            </a:p>
          </p:txBody>
        </p:sp>
      </p:grpSp>
      <p:grpSp>
        <p:nvGrpSpPr>
          <p:cNvPr name="Group 51" id="51"/>
          <p:cNvGrpSpPr/>
          <p:nvPr/>
        </p:nvGrpSpPr>
        <p:grpSpPr>
          <a:xfrm rot="0">
            <a:off x="1263487" y="1899242"/>
            <a:ext cx="7108508" cy="717931"/>
            <a:chOff x="0" y="0"/>
            <a:chExt cx="3372785" cy="340638"/>
          </a:xfrm>
        </p:grpSpPr>
        <p:sp>
          <p:nvSpPr>
            <p:cNvPr name="Freeform 52" id="52"/>
            <p:cNvSpPr/>
            <p:nvPr/>
          </p:nvSpPr>
          <p:spPr>
            <a:xfrm flipH="false" flipV="false" rot="0">
              <a:off x="0" y="0"/>
              <a:ext cx="3372786" cy="340638"/>
            </a:xfrm>
            <a:custGeom>
              <a:avLst/>
              <a:gdLst/>
              <a:ahLst/>
              <a:cxnLst/>
              <a:rect r="r" b="b" t="t" l="l"/>
              <a:pathLst>
                <a:path h="340638" w="3372786">
                  <a:moveTo>
                    <a:pt x="13069" y="0"/>
                  </a:moveTo>
                  <a:lnTo>
                    <a:pt x="3359716" y="0"/>
                  </a:lnTo>
                  <a:cubicBezTo>
                    <a:pt x="3366934" y="0"/>
                    <a:pt x="3372786" y="5851"/>
                    <a:pt x="3372786" y="13069"/>
                  </a:cubicBezTo>
                  <a:lnTo>
                    <a:pt x="3372786" y="327569"/>
                  </a:lnTo>
                  <a:cubicBezTo>
                    <a:pt x="3372786" y="334787"/>
                    <a:pt x="3366934" y="340638"/>
                    <a:pt x="3359716" y="340638"/>
                  </a:cubicBezTo>
                  <a:lnTo>
                    <a:pt x="13069" y="340638"/>
                  </a:lnTo>
                  <a:cubicBezTo>
                    <a:pt x="9603" y="340638"/>
                    <a:pt x="6279" y="339261"/>
                    <a:pt x="3828" y="336810"/>
                  </a:cubicBezTo>
                  <a:cubicBezTo>
                    <a:pt x="1377" y="334359"/>
                    <a:pt x="0" y="331035"/>
                    <a:pt x="0" y="327569"/>
                  </a:cubicBezTo>
                  <a:lnTo>
                    <a:pt x="0" y="13069"/>
                  </a:lnTo>
                  <a:cubicBezTo>
                    <a:pt x="0" y="5851"/>
                    <a:pt x="5851" y="0"/>
                    <a:pt x="13069" y="0"/>
                  </a:cubicBezTo>
                  <a:close/>
                </a:path>
              </a:pathLst>
            </a:custGeom>
            <a:solidFill>
              <a:srgbClr val="D7EEFF"/>
            </a:solidFill>
            <a:ln w="19050" cap="sq">
              <a:solidFill>
                <a:srgbClr val="FF76CE"/>
              </a:solidFill>
              <a:prstDash val="solid"/>
              <a:miter/>
            </a:ln>
          </p:spPr>
        </p:sp>
        <p:sp>
          <p:nvSpPr>
            <p:cNvPr name="TextBox 53" id="53"/>
            <p:cNvSpPr txBox="true"/>
            <p:nvPr/>
          </p:nvSpPr>
          <p:spPr>
            <a:xfrm>
              <a:off x="0" y="-28575"/>
              <a:ext cx="3372785" cy="369213"/>
            </a:xfrm>
            <a:prstGeom prst="rect">
              <a:avLst/>
            </a:prstGeom>
          </p:spPr>
          <p:txBody>
            <a:bodyPr anchor="ctr" rtlCol="false" tIns="50800" lIns="50800" bIns="50800" rIns="50800"/>
            <a:lstStyle/>
            <a:p>
              <a:pPr algn="ctr" marL="0" indent="0" lvl="0">
                <a:lnSpc>
                  <a:spcPts val="1539"/>
                </a:lnSpc>
                <a:spcBef>
                  <a:spcPct val="0"/>
                </a:spcBef>
              </a:pPr>
              <a:r>
                <a:rPr lang="en-US" sz="1099">
                  <a:solidFill>
                    <a:srgbClr val="000000"/>
                  </a:solidFill>
                  <a:latin typeface="TT Hazelnuts"/>
                  <a:ea typeface="TT Hazelnuts"/>
                  <a:cs typeface="TT Hazelnuts"/>
                  <a:sym typeface="TT Hazelnuts"/>
                </a:rPr>
                <a:t>Los métodos de ordenamiento reorganizan colecciones de datos en un orden específico, como ascendente o descendente, mediante algoritmos que comparan e intercambian elementos para optimizar búsquedas y procesamiento.</a:t>
              </a:r>
            </a:p>
          </p:txBody>
        </p:sp>
      </p:grpSp>
      <p:grpSp>
        <p:nvGrpSpPr>
          <p:cNvPr name="Group 54" id="54"/>
          <p:cNvGrpSpPr/>
          <p:nvPr/>
        </p:nvGrpSpPr>
        <p:grpSpPr>
          <a:xfrm rot="0">
            <a:off x="3096856" y="1128183"/>
            <a:ext cx="3453026" cy="634365"/>
            <a:chOff x="0" y="0"/>
            <a:chExt cx="1638363" cy="300988"/>
          </a:xfrm>
        </p:grpSpPr>
        <p:sp>
          <p:nvSpPr>
            <p:cNvPr name="Freeform 55" id="55"/>
            <p:cNvSpPr/>
            <p:nvPr/>
          </p:nvSpPr>
          <p:spPr>
            <a:xfrm flipH="false" flipV="false" rot="0">
              <a:off x="0" y="0"/>
              <a:ext cx="1638363" cy="300988"/>
            </a:xfrm>
            <a:custGeom>
              <a:avLst/>
              <a:gdLst/>
              <a:ahLst/>
              <a:cxnLst/>
              <a:rect r="r" b="b" t="t" l="l"/>
              <a:pathLst>
                <a:path h="300988" w="1638363">
                  <a:moveTo>
                    <a:pt x="26905" y="0"/>
                  </a:moveTo>
                  <a:lnTo>
                    <a:pt x="1611458" y="0"/>
                  </a:lnTo>
                  <a:cubicBezTo>
                    <a:pt x="1618594" y="0"/>
                    <a:pt x="1625437" y="2835"/>
                    <a:pt x="1630483" y="7880"/>
                  </a:cubicBezTo>
                  <a:cubicBezTo>
                    <a:pt x="1635529" y="12926"/>
                    <a:pt x="1638363" y="19769"/>
                    <a:pt x="1638363" y="26905"/>
                  </a:cubicBezTo>
                  <a:lnTo>
                    <a:pt x="1638363" y="274083"/>
                  </a:lnTo>
                  <a:cubicBezTo>
                    <a:pt x="1638363" y="281219"/>
                    <a:pt x="1635529" y="288062"/>
                    <a:pt x="1630483" y="293108"/>
                  </a:cubicBezTo>
                  <a:cubicBezTo>
                    <a:pt x="1625437" y="298153"/>
                    <a:pt x="1618594" y="300988"/>
                    <a:pt x="1611458" y="300988"/>
                  </a:cubicBezTo>
                  <a:lnTo>
                    <a:pt x="26905" y="300988"/>
                  </a:lnTo>
                  <a:cubicBezTo>
                    <a:pt x="19769" y="300988"/>
                    <a:pt x="12926" y="298153"/>
                    <a:pt x="7880" y="293108"/>
                  </a:cubicBezTo>
                  <a:cubicBezTo>
                    <a:pt x="2835" y="288062"/>
                    <a:pt x="0" y="281219"/>
                    <a:pt x="0" y="274083"/>
                  </a:cubicBezTo>
                  <a:lnTo>
                    <a:pt x="0" y="26905"/>
                  </a:lnTo>
                  <a:cubicBezTo>
                    <a:pt x="0" y="19769"/>
                    <a:pt x="2835" y="12926"/>
                    <a:pt x="7880" y="7880"/>
                  </a:cubicBezTo>
                  <a:cubicBezTo>
                    <a:pt x="12926" y="2835"/>
                    <a:pt x="19769" y="0"/>
                    <a:pt x="26905" y="0"/>
                  </a:cubicBezTo>
                  <a:close/>
                </a:path>
              </a:pathLst>
            </a:custGeom>
            <a:solidFill>
              <a:srgbClr val="FF76CE"/>
            </a:solidFill>
          </p:spPr>
        </p:sp>
        <p:sp>
          <p:nvSpPr>
            <p:cNvPr name="TextBox 56" id="56"/>
            <p:cNvSpPr txBox="true"/>
            <p:nvPr/>
          </p:nvSpPr>
          <p:spPr>
            <a:xfrm>
              <a:off x="0" y="-28575"/>
              <a:ext cx="1638363" cy="329563"/>
            </a:xfrm>
            <a:prstGeom prst="rect">
              <a:avLst/>
            </a:prstGeom>
          </p:spPr>
          <p:txBody>
            <a:bodyPr anchor="ctr" rtlCol="false" tIns="50800" lIns="50800" bIns="50800" rIns="50800"/>
            <a:lstStyle/>
            <a:p>
              <a:pPr algn="ctr">
                <a:lnSpc>
                  <a:spcPts val="2099"/>
                </a:lnSpc>
              </a:pPr>
              <a:r>
                <a:rPr lang="en-US" b="true" sz="1499">
                  <a:solidFill>
                    <a:srgbClr val="000000"/>
                  </a:solidFill>
                  <a:latin typeface="TT Hazelnuts Bold"/>
                  <a:ea typeface="TT Hazelnuts Bold"/>
                  <a:cs typeface="TT Hazelnuts Bold"/>
                  <a:sym typeface="TT Hazelnuts Bold"/>
                </a:rPr>
                <a:t> el funcionamiento de los diferentes métodos de ordenamiento</a:t>
              </a:r>
            </a:p>
          </p:txBody>
        </p:sp>
      </p:grpSp>
      <p:sp>
        <p:nvSpPr>
          <p:cNvPr name="Freeform 57" id="57"/>
          <p:cNvSpPr/>
          <p:nvPr/>
        </p:nvSpPr>
        <p:spPr>
          <a:xfrm flipH="false" flipV="false" rot="6154194">
            <a:off x="2506265" y="5118596"/>
            <a:ext cx="295832" cy="368951"/>
          </a:xfrm>
          <a:custGeom>
            <a:avLst/>
            <a:gdLst/>
            <a:ahLst/>
            <a:cxnLst/>
            <a:rect r="r" b="b" t="t" l="l"/>
            <a:pathLst>
              <a:path h="368951" w="295832">
                <a:moveTo>
                  <a:pt x="0" y="0"/>
                </a:moveTo>
                <a:lnTo>
                  <a:pt x="295832" y="0"/>
                </a:lnTo>
                <a:lnTo>
                  <a:pt x="295832" y="368951"/>
                </a:lnTo>
                <a:lnTo>
                  <a:pt x="0" y="3689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58" id="58"/>
          <p:cNvSpPr/>
          <p:nvPr/>
        </p:nvSpPr>
        <p:spPr>
          <a:xfrm flipH="false" flipV="false" rot="-5658624">
            <a:off x="5161628" y="4937710"/>
            <a:ext cx="364071" cy="454056"/>
          </a:xfrm>
          <a:custGeom>
            <a:avLst/>
            <a:gdLst/>
            <a:ahLst/>
            <a:cxnLst/>
            <a:rect r="r" b="b" t="t" l="l"/>
            <a:pathLst>
              <a:path h="454056" w="364071">
                <a:moveTo>
                  <a:pt x="0" y="0"/>
                </a:moveTo>
                <a:lnTo>
                  <a:pt x="364071" y="0"/>
                </a:lnTo>
                <a:lnTo>
                  <a:pt x="364071" y="454056"/>
                </a:lnTo>
                <a:lnTo>
                  <a:pt x="0" y="4540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59" id="59"/>
          <p:cNvSpPr txBox="true"/>
          <p:nvPr/>
        </p:nvSpPr>
        <p:spPr>
          <a:xfrm rot="0">
            <a:off x="2441936" y="549063"/>
            <a:ext cx="4896566" cy="455295"/>
          </a:xfrm>
          <a:prstGeom prst="rect">
            <a:avLst/>
          </a:prstGeom>
        </p:spPr>
        <p:txBody>
          <a:bodyPr anchor="t" rtlCol="false" tIns="0" lIns="0" bIns="0" rIns="0">
            <a:spAutoFit/>
          </a:bodyPr>
          <a:lstStyle/>
          <a:p>
            <a:pPr algn="ctr">
              <a:lnSpc>
                <a:spcPts val="3779"/>
              </a:lnSpc>
            </a:pPr>
            <a:r>
              <a:rPr lang="en-US" sz="2700" b="true">
                <a:solidFill>
                  <a:srgbClr val="000000"/>
                </a:solidFill>
                <a:latin typeface="TT Hazelnuts Bold"/>
                <a:ea typeface="TT Hazelnuts Bold"/>
                <a:cs typeface="TT Hazelnuts Bold"/>
                <a:sym typeface="TT Hazelnuts Bold"/>
              </a:rPr>
              <a:t>Mapa conceptual</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88125" y="1408918"/>
            <a:ext cx="8177351" cy="2248682"/>
          </a:xfrm>
          <a:prstGeom prst="rect">
            <a:avLst/>
          </a:prstGeom>
        </p:spPr>
        <p:txBody>
          <a:bodyPr anchor="t" rtlCol="false" tIns="0" lIns="0" bIns="0" rIns="0">
            <a:spAutoFit/>
          </a:bodyPr>
          <a:lstStyle/>
          <a:p>
            <a:pPr algn="ctr">
              <a:lnSpc>
                <a:spcPts val="2581"/>
              </a:lnSpc>
            </a:pPr>
            <a:r>
              <a:rPr lang="en-US" sz="1844">
                <a:solidFill>
                  <a:srgbClr val="000000"/>
                </a:solidFill>
                <a:latin typeface="Open Sans"/>
                <a:ea typeface="Open Sans"/>
                <a:cs typeface="Open Sans"/>
                <a:sym typeface="Open Sans"/>
              </a:rPr>
              <a:t>Conclusión</a:t>
            </a:r>
          </a:p>
          <a:p>
            <a:pPr algn="just">
              <a:lnSpc>
                <a:spcPts val="2581"/>
              </a:lnSpc>
            </a:pPr>
            <a:r>
              <a:rPr lang="en-US" sz="1844">
                <a:solidFill>
                  <a:srgbClr val="000000"/>
                </a:solidFill>
                <a:latin typeface="Open Sans"/>
                <a:ea typeface="Open Sans"/>
                <a:cs typeface="Open Sans"/>
                <a:sym typeface="Open Sans"/>
              </a:rPr>
              <a:t>Seleccionar el método adecuado depende del tamaño de datos y requisitos: Mer</a:t>
            </a:r>
            <a:r>
              <a:rPr lang="en-US" sz="1844">
                <a:solidFill>
                  <a:srgbClr val="000000"/>
                </a:solidFill>
                <a:latin typeface="Open Sans"/>
                <a:ea typeface="Open Sans"/>
                <a:cs typeface="Open Sans"/>
                <a:sym typeface="Open Sans"/>
              </a:rPr>
              <a:t>ge Sort para estabilidad, QuickSort para velocidad promedio. Aunque básicos como Insertion Sort brillan en casos pequeños, los O(n log n) dominan aplicaciones reales. Implementarlos correctamente eleva el rendimiento de sistemas computacionales.</a:t>
            </a:r>
          </a:p>
          <a:p>
            <a:pPr algn="just">
              <a:lnSpc>
                <a:spcPts val="2581"/>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DAG7Paj2cAE</dc:identifier>
  <dcterms:modified xsi:type="dcterms:W3CDTF">2011-08-01T06:04:30Z</dcterms:modified>
  <cp:revision>1</cp:revision>
  <dc:title>5.1 Mapa Conceptual_Cynthia Jasmine Morales Torres</dc:title>
</cp:coreProperties>
</file>