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9753600" cy="7315200"/>
  <p:notesSz cx="6858000" cy="9144000"/>
  <p:embeddedFontLst>
    <p:embeddedFont>
      <p:font typeface="Glacial Indifference" charset="1" panose="00000000000000000000"/>
      <p:regular r:id="rId11"/>
    </p:embeddedFont>
    <p:embeddedFont>
      <p:font typeface="Open Sans" charset="1" panose="020B0606030504020204"/>
      <p:regular r:id="rId12"/>
    </p:embeddedFont>
    <p:embeddedFont>
      <p:font typeface="Luckiest Guy" charset="1" panose="02000506000000020004"/>
      <p:regular r:id="rId13"/>
    </p:embeddedFont>
    <p:embeddedFont>
      <p:font typeface="Inter" charset="1" panose="020B0502030000000004"/>
      <p:regular r:id="rId14"/>
    </p:embeddedFont>
    <p:embeddedFont>
      <p:font typeface="Open Sans Bold" charset="1" panose="020B0806030504020204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svg" Type="http://schemas.openxmlformats.org/officeDocument/2006/relationships/image"/><Relationship Id="rId11" Target="../media/image13.png" Type="http://schemas.openxmlformats.org/officeDocument/2006/relationships/image"/><Relationship Id="rId12" Target="../media/image14.svg" Type="http://schemas.openxmlformats.org/officeDocument/2006/relationships/image"/><Relationship Id="rId2" Target="../media/image4.jpeg" Type="http://schemas.openxmlformats.org/officeDocument/2006/relationships/image"/><Relationship Id="rId3" Target="../media/image5.png" Type="http://schemas.openxmlformats.org/officeDocument/2006/relationships/image"/><Relationship Id="rId4" Target="../media/image6.svg" Type="http://schemas.openxmlformats.org/officeDocument/2006/relationships/image"/><Relationship Id="rId5" Target="../media/image7.png" Type="http://schemas.openxmlformats.org/officeDocument/2006/relationships/image"/><Relationship Id="rId6" Target="../media/image8.svg" Type="http://schemas.openxmlformats.org/officeDocument/2006/relationships/image"/><Relationship Id="rId7" Target="../media/image9.png" Type="http://schemas.openxmlformats.org/officeDocument/2006/relationships/image"/><Relationship Id="rId8" Target="../media/image10.svg" Type="http://schemas.openxmlformats.org/officeDocument/2006/relationships/image"/><Relationship Id="rId9" Target="../media/image1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https://profile.es/blog/que-es-un-algoritmo-informatico/" TargetMode="External" Type="http://schemas.openxmlformats.org/officeDocument/2006/relationships/hyperlink"/><Relationship Id="rId3" Target="https://es.wikipedia.org/wiki/Algoritmo_de_b%C3%BAsqueda" TargetMode="External" Type="http://schemas.openxmlformats.org/officeDocument/2006/relationships/hyperlink"/><Relationship Id="rId4" Target="https://formacion.intef.es/aulaenabierto/mod/book/view.php?id=5170&amp;chapterid=6873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955586" y="1224240"/>
            <a:ext cx="6067192" cy="56510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48"/>
              </a:lnSpc>
              <a:spcBef>
                <a:spcPct val="0"/>
              </a:spcBef>
            </a:pPr>
            <a:r>
              <a:rPr lang="en-US" sz="1936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Instituto Tecnológico de Frontera Comalapa</a:t>
            </a:r>
          </a:p>
          <a:p>
            <a:pPr algn="ctr">
              <a:lnSpc>
                <a:spcPts val="2148"/>
              </a:lnSpc>
              <a:spcBef>
                <a:spcPct val="0"/>
              </a:spcBef>
            </a:pPr>
            <a:r>
              <a:rPr lang="en-US" sz="1936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Modalidad Mixta</a:t>
            </a:r>
          </a:p>
          <a:p>
            <a:pPr algn="ctr">
              <a:lnSpc>
                <a:spcPts val="2148"/>
              </a:lnSpc>
              <a:spcBef>
                <a:spcPct val="0"/>
              </a:spcBef>
            </a:pPr>
          </a:p>
          <a:p>
            <a:pPr algn="ctr">
              <a:lnSpc>
                <a:spcPts val="2148"/>
              </a:lnSpc>
              <a:spcBef>
                <a:spcPct val="0"/>
              </a:spcBef>
            </a:pPr>
            <a:r>
              <a:rPr lang="en-US" sz="1936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</a:p>
          <a:p>
            <a:pPr algn="ctr">
              <a:lnSpc>
                <a:spcPts val="2148"/>
              </a:lnSpc>
              <a:spcBef>
                <a:spcPct val="0"/>
              </a:spcBef>
            </a:pPr>
            <a:r>
              <a:rPr lang="en-US" sz="1936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Materia:</a:t>
            </a:r>
          </a:p>
          <a:p>
            <a:pPr algn="ctr">
              <a:lnSpc>
                <a:spcPts val="2148"/>
              </a:lnSpc>
              <a:spcBef>
                <a:spcPct val="0"/>
              </a:spcBef>
            </a:pPr>
            <a:r>
              <a:rPr lang="en-US" sz="1936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Estructura de Datos</a:t>
            </a:r>
          </a:p>
          <a:p>
            <a:pPr algn="ctr">
              <a:lnSpc>
                <a:spcPts val="2148"/>
              </a:lnSpc>
              <a:spcBef>
                <a:spcPct val="0"/>
              </a:spcBef>
            </a:pPr>
            <a:r>
              <a:rPr lang="en-US" sz="1936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Semestre: </a:t>
            </a:r>
          </a:p>
          <a:p>
            <a:pPr algn="ctr">
              <a:lnSpc>
                <a:spcPts val="2148"/>
              </a:lnSpc>
              <a:spcBef>
                <a:spcPct val="0"/>
              </a:spcBef>
            </a:pPr>
            <a:r>
              <a:rPr lang="en-US" sz="1936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Quinto semestre </a:t>
            </a:r>
          </a:p>
          <a:p>
            <a:pPr algn="ctr">
              <a:lnSpc>
                <a:spcPts val="2148"/>
              </a:lnSpc>
              <a:spcBef>
                <a:spcPct val="0"/>
              </a:spcBef>
            </a:pPr>
            <a:r>
              <a:rPr lang="en-US" sz="1936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Especialidad:</a:t>
            </a:r>
          </a:p>
          <a:p>
            <a:pPr algn="ctr">
              <a:lnSpc>
                <a:spcPts val="2148"/>
              </a:lnSpc>
              <a:spcBef>
                <a:spcPct val="0"/>
              </a:spcBef>
            </a:pPr>
            <a:r>
              <a:rPr lang="en-US" sz="1936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Ingeniería en Sistemas Computacionales.</a:t>
            </a:r>
          </a:p>
          <a:p>
            <a:pPr algn="ctr">
              <a:lnSpc>
                <a:spcPts val="2148"/>
              </a:lnSpc>
              <a:spcBef>
                <a:spcPct val="0"/>
              </a:spcBef>
            </a:pPr>
            <a:r>
              <a:rPr lang="en-US" sz="1936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Numero de control:</a:t>
            </a:r>
          </a:p>
          <a:p>
            <a:pPr algn="ctr">
              <a:lnSpc>
                <a:spcPts val="2148"/>
              </a:lnSpc>
              <a:spcBef>
                <a:spcPct val="0"/>
              </a:spcBef>
            </a:pPr>
            <a:r>
              <a:rPr lang="en-US" sz="1936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231260014</a:t>
            </a:r>
          </a:p>
          <a:p>
            <a:pPr algn="ctr">
              <a:lnSpc>
                <a:spcPts val="2148"/>
              </a:lnSpc>
              <a:spcBef>
                <a:spcPct val="0"/>
              </a:spcBef>
            </a:pPr>
            <a:r>
              <a:rPr lang="en-US" sz="1936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Nombre del alumno: </a:t>
            </a:r>
          </a:p>
          <a:p>
            <a:pPr algn="ctr">
              <a:lnSpc>
                <a:spcPts val="2148"/>
              </a:lnSpc>
              <a:spcBef>
                <a:spcPct val="0"/>
              </a:spcBef>
            </a:pPr>
            <a:r>
              <a:rPr lang="en-US" sz="1936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Cynthia Jasmine Morales Torres</a:t>
            </a:r>
          </a:p>
          <a:p>
            <a:pPr algn="ctr">
              <a:lnSpc>
                <a:spcPts val="2148"/>
              </a:lnSpc>
              <a:spcBef>
                <a:spcPct val="0"/>
              </a:spcBef>
            </a:pPr>
            <a:r>
              <a:rPr lang="en-US" sz="1936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Nombre del docente: </a:t>
            </a:r>
          </a:p>
          <a:p>
            <a:pPr algn="ctr">
              <a:lnSpc>
                <a:spcPts val="2148"/>
              </a:lnSpc>
              <a:spcBef>
                <a:spcPct val="0"/>
              </a:spcBef>
            </a:pPr>
            <a:r>
              <a:rPr lang="en-US" sz="1936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Ing. Francisco Javier Mingo Velázquez</a:t>
            </a:r>
          </a:p>
          <a:p>
            <a:pPr algn="ctr">
              <a:lnSpc>
                <a:spcPts val="2148"/>
              </a:lnSpc>
              <a:spcBef>
                <a:spcPct val="0"/>
              </a:spcBef>
            </a:pPr>
            <a:r>
              <a:rPr lang="en-US" sz="1936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Nombre del trabajo:</a:t>
            </a:r>
          </a:p>
          <a:p>
            <a:pPr algn="ctr">
              <a:lnSpc>
                <a:spcPts val="2148"/>
              </a:lnSpc>
              <a:spcBef>
                <a:spcPct val="0"/>
              </a:spcBef>
            </a:pPr>
            <a:r>
              <a:rPr lang="en-US" sz="1936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6.1 Esquema de Llaves</a:t>
            </a:r>
          </a:p>
          <a:p>
            <a:pPr algn="ctr">
              <a:lnSpc>
                <a:spcPts val="2148"/>
              </a:lnSpc>
              <a:spcBef>
                <a:spcPct val="0"/>
              </a:spcBef>
            </a:pPr>
            <a:r>
              <a:rPr lang="en-US" sz="1936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Fecha de entrega:</a:t>
            </a:r>
          </a:p>
          <a:p>
            <a:pPr algn="ctr">
              <a:lnSpc>
                <a:spcPts val="2148"/>
              </a:lnSpc>
              <a:spcBef>
                <a:spcPct val="0"/>
              </a:spcBef>
            </a:pPr>
          </a:p>
          <a:p>
            <a:pPr algn="ctr">
              <a:lnSpc>
                <a:spcPts val="2148"/>
              </a:lnSpc>
              <a:spcBef>
                <a:spcPct val="0"/>
              </a:spcBef>
            </a:pPr>
            <a:r>
              <a:rPr lang="en-US" sz="1936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Frontera Comalapa, Chiapas. A 13 de diciembre de 2025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698130" y="114996"/>
            <a:ext cx="2304388" cy="984724"/>
          </a:xfrm>
          <a:custGeom>
            <a:avLst/>
            <a:gdLst/>
            <a:ahLst/>
            <a:cxnLst/>
            <a:rect r="r" b="b" t="t" l="l"/>
            <a:pathLst>
              <a:path h="984724" w="2304388">
                <a:moveTo>
                  <a:pt x="0" y="0"/>
                </a:moveTo>
                <a:lnTo>
                  <a:pt x="2304388" y="0"/>
                </a:lnTo>
                <a:lnTo>
                  <a:pt x="2304388" y="984724"/>
                </a:lnTo>
                <a:lnTo>
                  <a:pt x="0" y="9847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571483" y="0"/>
            <a:ext cx="1483987" cy="1214715"/>
          </a:xfrm>
          <a:custGeom>
            <a:avLst/>
            <a:gdLst/>
            <a:ahLst/>
            <a:cxnLst/>
            <a:rect r="r" b="b" t="t" l="l"/>
            <a:pathLst>
              <a:path h="1214715" w="1483987">
                <a:moveTo>
                  <a:pt x="0" y="0"/>
                </a:moveTo>
                <a:lnTo>
                  <a:pt x="1483987" y="0"/>
                </a:lnTo>
                <a:lnTo>
                  <a:pt x="1483987" y="1214715"/>
                </a:lnTo>
                <a:lnTo>
                  <a:pt x="0" y="12147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361803" y="155663"/>
            <a:ext cx="3254758" cy="673398"/>
          </a:xfrm>
          <a:custGeom>
            <a:avLst/>
            <a:gdLst/>
            <a:ahLst/>
            <a:cxnLst/>
            <a:rect r="r" b="b" t="t" l="l"/>
            <a:pathLst>
              <a:path h="673398" w="3254758">
                <a:moveTo>
                  <a:pt x="0" y="0"/>
                </a:moveTo>
                <a:lnTo>
                  <a:pt x="3254758" y="0"/>
                </a:lnTo>
                <a:lnTo>
                  <a:pt x="3254758" y="673398"/>
                </a:lnTo>
                <a:lnTo>
                  <a:pt x="0" y="6733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96596" y="1312981"/>
            <a:ext cx="7760409" cy="3106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Introducción</a:t>
            </a:r>
          </a:p>
          <a:p>
            <a:pPr algn="just">
              <a:lnSpc>
                <a:spcPts val="3079"/>
              </a:lnSpc>
            </a:pPr>
            <a:r>
              <a:rPr lang="en-US" sz="21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En el p</a:t>
            </a:r>
            <a:r>
              <a:rPr lang="en-US" sz="21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rocesamiento de datos, los métodos de búsqueda determinan la velocidad de acceso a información crítica, desde recorridos simples hasta técnicas avanzadas como binaria o hashing. Su selección impacta el rendimiento en operaciones research, bases de datos y algoritmos. Comprenderlos permite diseñar soluciones escalables.</a:t>
            </a:r>
          </a:p>
          <a:p>
            <a:pPr algn="just">
              <a:lnSpc>
                <a:spcPts val="3079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753600" cy="7315200"/>
          </a:xfrm>
          <a:custGeom>
            <a:avLst/>
            <a:gdLst/>
            <a:ahLst/>
            <a:cxnLst/>
            <a:rect r="r" b="b" t="t" l="l"/>
            <a:pathLst>
              <a:path h="7315200" w="97536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285" t="0" r="-6285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8268371" y="5741499"/>
            <a:ext cx="2002938" cy="1962879"/>
          </a:xfrm>
          <a:custGeom>
            <a:avLst/>
            <a:gdLst/>
            <a:ahLst/>
            <a:cxnLst/>
            <a:rect r="r" b="b" t="t" l="l"/>
            <a:pathLst>
              <a:path h="1962879" w="2002938">
                <a:moveTo>
                  <a:pt x="2002938" y="0"/>
                </a:moveTo>
                <a:lnTo>
                  <a:pt x="0" y="0"/>
                </a:lnTo>
                <a:lnTo>
                  <a:pt x="0" y="1962879"/>
                </a:lnTo>
                <a:lnTo>
                  <a:pt x="2002938" y="1962879"/>
                </a:lnTo>
                <a:lnTo>
                  <a:pt x="2002938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4" id="4"/>
          <p:cNvSpPr/>
          <p:nvPr/>
        </p:nvSpPr>
        <p:spPr>
          <a:xfrm flipH="false" flipV="false" rot="0">
            <a:off x="2593737" y="1394767"/>
            <a:ext cx="1024705" cy="823490"/>
          </a:xfrm>
          <a:custGeom>
            <a:avLst/>
            <a:gdLst/>
            <a:ahLst/>
            <a:cxnLst/>
            <a:rect r="r" b="b" t="t" l="l"/>
            <a:pathLst>
              <a:path h="823490" w="1024705">
                <a:moveTo>
                  <a:pt x="0" y="0"/>
                </a:moveTo>
                <a:lnTo>
                  <a:pt x="1024706" y="0"/>
                </a:lnTo>
                <a:lnTo>
                  <a:pt x="1024706" y="823490"/>
                </a:lnTo>
                <a:lnTo>
                  <a:pt x="0" y="82349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263227" y="4366506"/>
            <a:ext cx="936587" cy="752675"/>
          </a:xfrm>
          <a:custGeom>
            <a:avLst/>
            <a:gdLst/>
            <a:ahLst/>
            <a:cxnLst/>
            <a:rect r="r" b="b" t="t" l="l"/>
            <a:pathLst>
              <a:path h="752675" w="936587">
                <a:moveTo>
                  <a:pt x="936586" y="0"/>
                </a:moveTo>
                <a:lnTo>
                  <a:pt x="0" y="0"/>
                </a:lnTo>
                <a:lnTo>
                  <a:pt x="0" y="752675"/>
                </a:lnTo>
                <a:lnTo>
                  <a:pt x="936586" y="752675"/>
                </a:lnTo>
                <a:lnTo>
                  <a:pt x="936586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254000">
            <a:off x="-585695" y="-336783"/>
            <a:ext cx="2002938" cy="1962879"/>
          </a:xfrm>
          <a:custGeom>
            <a:avLst/>
            <a:gdLst/>
            <a:ahLst/>
            <a:cxnLst/>
            <a:rect r="r" b="b" t="t" l="l"/>
            <a:pathLst>
              <a:path h="1962879" w="2002938">
                <a:moveTo>
                  <a:pt x="0" y="1962879"/>
                </a:moveTo>
                <a:lnTo>
                  <a:pt x="2002938" y="1962879"/>
                </a:lnTo>
                <a:lnTo>
                  <a:pt x="2002938" y="0"/>
                </a:lnTo>
                <a:lnTo>
                  <a:pt x="0" y="0"/>
                </a:lnTo>
                <a:lnTo>
                  <a:pt x="0" y="1962879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7" id="7"/>
          <p:cNvSpPr txBox="true"/>
          <p:nvPr/>
        </p:nvSpPr>
        <p:spPr>
          <a:xfrm rot="0">
            <a:off x="185575" y="2776816"/>
            <a:ext cx="3561387" cy="8295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775"/>
              </a:lnSpc>
              <a:spcBef>
                <a:spcPct val="0"/>
              </a:spcBef>
            </a:pPr>
            <a:r>
              <a:rPr lang="en-US" sz="4839">
                <a:solidFill>
                  <a:srgbClr val="0F1D11"/>
                </a:solidFill>
                <a:latin typeface="Luckiest Guy"/>
                <a:ea typeface="Luckiest Guy"/>
                <a:cs typeface="Luckiest Guy"/>
                <a:sym typeface="Luckiest Guy"/>
              </a:rPr>
              <a:t>METODOS DE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0949" y="3457701"/>
            <a:ext cx="3710639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880"/>
              </a:lnSpc>
              <a:spcBef>
                <a:spcPct val="0"/>
              </a:spcBef>
            </a:pPr>
            <a:r>
              <a:rPr lang="en-US" sz="4200">
                <a:solidFill>
                  <a:srgbClr val="0F1D11"/>
                </a:solidFill>
                <a:latin typeface="Luckiest Guy"/>
                <a:ea typeface="Luckiest Guy"/>
                <a:cs typeface="Luckiest Guy"/>
                <a:sym typeface="Luckiest Guy"/>
              </a:rPr>
              <a:t>BUSQUEDA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3494797" y="1101918"/>
            <a:ext cx="580511" cy="5067951"/>
          </a:xfrm>
          <a:custGeom>
            <a:avLst/>
            <a:gdLst/>
            <a:ahLst/>
            <a:cxnLst/>
            <a:rect r="r" b="b" t="t" l="l"/>
            <a:pathLst>
              <a:path h="5067951" w="580511">
                <a:moveTo>
                  <a:pt x="0" y="0"/>
                </a:moveTo>
                <a:lnTo>
                  <a:pt x="580511" y="0"/>
                </a:lnTo>
                <a:lnTo>
                  <a:pt x="580511" y="5067951"/>
                </a:lnTo>
                <a:lnTo>
                  <a:pt x="0" y="50679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6973976" y="677746"/>
            <a:ext cx="2641527" cy="1045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  <a:spcBef>
                <a:spcPct val="0"/>
              </a:spcBef>
            </a:pPr>
            <a:r>
              <a:rPr lang="en-US" sz="1200">
                <a:solidFill>
                  <a:srgbClr val="0F1D11"/>
                </a:solidFill>
                <a:latin typeface="Inter"/>
                <a:ea typeface="Inter"/>
                <a:cs typeface="Inter"/>
                <a:sym typeface="Inter"/>
              </a:rPr>
              <a:t>Re</a:t>
            </a:r>
            <a:r>
              <a:rPr lang="en-US" sz="1200" strike="noStrike" u="none">
                <a:solidFill>
                  <a:srgbClr val="0F1D11"/>
                </a:solidFill>
                <a:latin typeface="Inter"/>
                <a:ea typeface="Inter"/>
                <a:cs typeface="Inter"/>
                <a:sym typeface="Inter"/>
              </a:rPr>
              <a:t>corre elementos uno por uno desde el inicio hasta encontrar el objetivo o agotar la lista. Funciona en datos desordenados; simple pero ineficiente para grandes volúmenes.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287633" y="979371"/>
            <a:ext cx="2696451" cy="14331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99"/>
              </a:lnSpc>
            </a:pPr>
            <a:r>
              <a:rPr lang="en-US" sz="2799">
                <a:solidFill>
                  <a:srgbClr val="0F1D11"/>
                </a:solidFill>
                <a:latin typeface="Luckiest Guy"/>
                <a:ea typeface="Luckiest Guy"/>
                <a:cs typeface="Luckiest Guy"/>
                <a:sym typeface="Luckiest Guy"/>
              </a:rPr>
              <a:t>BÚSQU</a:t>
            </a:r>
            <a:r>
              <a:rPr lang="en-US" sz="2799" strike="noStrike" u="none">
                <a:solidFill>
                  <a:srgbClr val="0F1D11"/>
                </a:solidFill>
                <a:latin typeface="Luckiest Guy"/>
                <a:ea typeface="Luckiest Guy"/>
                <a:cs typeface="Luckiest Guy"/>
                <a:sym typeface="Luckiest Guy"/>
              </a:rPr>
              <a:t>EDA LINEAL (SECUENCIAL)</a:t>
            </a:r>
          </a:p>
          <a:p>
            <a:pPr algn="l" marL="0" indent="0" lvl="0">
              <a:lnSpc>
                <a:spcPts val="2799"/>
              </a:lnSpc>
            </a:pP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6709560" y="681123"/>
            <a:ext cx="146299" cy="1277217"/>
          </a:xfrm>
          <a:custGeom>
            <a:avLst/>
            <a:gdLst/>
            <a:ahLst/>
            <a:cxnLst/>
            <a:rect r="r" b="b" t="t" l="l"/>
            <a:pathLst>
              <a:path h="1277217" w="146299">
                <a:moveTo>
                  <a:pt x="0" y="0"/>
                </a:moveTo>
                <a:lnTo>
                  <a:pt x="146299" y="0"/>
                </a:lnTo>
                <a:lnTo>
                  <a:pt x="146299" y="1277217"/>
                </a:lnTo>
                <a:lnTo>
                  <a:pt x="0" y="127721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4287633" y="3877427"/>
            <a:ext cx="2605668" cy="1080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99"/>
              </a:lnSpc>
              <a:spcBef>
                <a:spcPct val="0"/>
              </a:spcBef>
            </a:pPr>
            <a:r>
              <a:rPr lang="en-US" sz="2799">
                <a:solidFill>
                  <a:srgbClr val="0F1D11"/>
                </a:solidFill>
                <a:latin typeface="Luckiest Guy"/>
                <a:ea typeface="Luckiest Guy"/>
                <a:cs typeface="Luckiest Guy"/>
                <a:sym typeface="Luckiest Guy"/>
              </a:rPr>
              <a:t>BÚ</a:t>
            </a:r>
            <a:r>
              <a:rPr lang="en-US" sz="2799" strike="noStrike" u="none">
                <a:solidFill>
                  <a:srgbClr val="0F1D11"/>
                </a:solidFill>
                <a:latin typeface="Luckiest Guy"/>
                <a:ea typeface="Luckiest Guy"/>
                <a:cs typeface="Luckiest Guy"/>
                <a:sym typeface="Luckiest Guy"/>
              </a:rPr>
              <a:t>SQUEDA POR HASHING</a:t>
            </a:r>
          </a:p>
          <a:p>
            <a:pPr algn="l" marL="0" indent="0" lvl="0">
              <a:lnSpc>
                <a:spcPts val="2799"/>
              </a:lnSpc>
              <a:spcBef>
                <a:spcPct val="0"/>
              </a:spcBef>
            </a:pP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6709560" y="3755391"/>
            <a:ext cx="146299" cy="1277217"/>
          </a:xfrm>
          <a:custGeom>
            <a:avLst/>
            <a:gdLst/>
            <a:ahLst/>
            <a:cxnLst/>
            <a:rect r="r" b="b" t="t" l="l"/>
            <a:pathLst>
              <a:path h="1277217" w="146299">
                <a:moveTo>
                  <a:pt x="0" y="0"/>
                </a:moveTo>
                <a:lnTo>
                  <a:pt x="146299" y="0"/>
                </a:lnTo>
                <a:lnTo>
                  <a:pt x="146299" y="1277217"/>
                </a:lnTo>
                <a:lnTo>
                  <a:pt x="0" y="127721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6709560" y="2218257"/>
            <a:ext cx="146299" cy="1277217"/>
          </a:xfrm>
          <a:custGeom>
            <a:avLst/>
            <a:gdLst/>
            <a:ahLst/>
            <a:cxnLst/>
            <a:rect r="r" b="b" t="t" l="l"/>
            <a:pathLst>
              <a:path h="1277217" w="146299">
                <a:moveTo>
                  <a:pt x="0" y="0"/>
                </a:moveTo>
                <a:lnTo>
                  <a:pt x="146299" y="0"/>
                </a:lnTo>
                <a:lnTo>
                  <a:pt x="146299" y="1277217"/>
                </a:lnTo>
                <a:lnTo>
                  <a:pt x="0" y="1277217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4287633" y="5414561"/>
            <a:ext cx="2510509" cy="1080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99"/>
              </a:lnSpc>
              <a:spcBef>
                <a:spcPct val="0"/>
              </a:spcBef>
            </a:pPr>
            <a:r>
              <a:rPr lang="en-US" sz="2799">
                <a:solidFill>
                  <a:srgbClr val="0F1D11"/>
                </a:solidFill>
                <a:latin typeface="Luckiest Guy"/>
                <a:ea typeface="Luckiest Guy"/>
                <a:cs typeface="Luckiest Guy"/>
                <a:sym typeface="Luckiest Guy"/>
              </a:rPr>
              <a:t>BÚSQU</a:t>
            </a:r>
            <a:r>
              <a:rPr lang="en-US" sz="2799" strike="noStrike" u="none">
                <a:solidFill>
                  <a:srgbClr val="0F1D11"/>
                </a:solidFill>
                <a:latin typeface="Luckiest Guy"/>
                <a:ea typeface="Luckiest Guy"/>
                <a:cs typeface="Luckiest Guy"/>
                <a:sym typeface="Luckiest Guy"/>
              </a:rPr>
              <a:t>EDA EN ÁRBOLES (BST)</a:t>
            </a:r>
          </a:p>
          <a:p>
            <a:pPr algn="l" marL="0" indent="0" lvl="0">
              <a:lnSpc>
                <a:spcPts val="2799"/>
              </a:lnSpc>
              <a:spcBef>
                <a:spcPct val="0"/>
              </a:spcBef>
            </a:pP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6709560" y="5292525"/>
            <a:ext cx="146299" cy="1277217"/>
          </a:xfrm>
          <a:custGeom>
            <a:avLst/>
            <a:gdLst/>
            <a:ahLst/>
            <a:cxnLst/>
            <a:rect r="r" b="b" t="t" l="l"/>
            <a:pathLst>
              <a:path h="1277217" w="146299">
                <a:moveTo>
                  <a:pt x="0" y="0"/>
                </a:moveTo>
                <a:lnTo>
                  <a:pt x="146299" y="0"/>
                </a:lnTo>
                <a:lnTo>
                  <a:pt x="146299" y="1277217"/>
                </a:lnTo>
                <a:lnTo>
                  <a:pt x="0" y="1277217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1125849" y="5483488"/>
            <a:ext cx="361110" cy="344183"/>
            <a:chOff x="0" y="0"/>
            <a:chExt cx="812800" cy="7747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104701" y="113079"/>
              <a:ext cx="603398" cy="579844"/>
            </a:xfrm>
            <a:custGeom>
              <a:avLst/>
              <a:gdLst/>
              <a:ahLst/>
              <a:cxnLst/>
              <a:rect r="r" b="b" t="t" l="l"/>
              <a:pathLst>
                <a:path h="579844" w="603398">
                  <a:moveTo>
                    <a:pt x="349668" y="34875"/>
                  </a:moveTo>
                  <a:lnTo>
                    <a:pt x="349762" y="35166"/>
                  </a:lnTo>
                  <a:cubicBezTo>
                    <a:pt x="378306" y="123204"/>
                    <a:pt x="460318" y="182830"/>
                    <a:pt x="552868" y="182830"/>
                  </a:cubicBezTo>
                  <a:lnTo>
                    <a:pt x="552868" y="182830"/>
                  </a:lnTo>
                  <a:cubicBezTo>
                    <a:pt x="574748" y="182830"/>
                    <a:pt x="594142" y="196912"/>
                    <a:pt x="600914" y="217718"/>
                  </a:cubicBezTo>
                  <a:cubicBezTo>
                    <a:pt x="607686" y="238523"/>
                    <a:pt x="600297" y="261323"/>
                    <a:pt x="582609" y="274202"/>
                  </a:cubicBezTo>
                  <a:lnTo>
                    <a:pt x="582514" y="274271"/>
                  </a:lnTo>
                  <a:cubicBezTo>
                    <a:pt x="507605" y="328814"/>
                    <a:pt x="476263" y="425342"/>
                    <a:pt x="504841" y="513488"/>
                  </a:cubicBezTo>
                  <a:lnTo>
                    <a:pt x="504957" y="513846"/>
                  </a:lnTo>
                  <a:cubicBezTo>
                    <a:pt x="511698" y="534637"/>
                    <a:pt x="504282" y="557404"/>
                    <a:pt x="486589" y="570236"/>
                  </a:cubicBezTo>
                  <a:cubicBezTo>
                    <a:pt x="468896" y="583068"/>
                    <a:pt x="444952" y="583045"/>
                    <a:pt x="427284" y="570180"/>
                  </a:cubicBezTo>
                  <a:lnTo>
                    <a:pt x="427284" y="570180"/>
                  </a:lnTo>
                  <a:cubicBezTo>
                    <a:pt x="352430" y="515678"/>
                    <a:pt x="250968" y="515678"/>
                    <a:pt x="176114" y="570180"/>
                  </a:cubicBezTo>
                  <a:lnTo>
                    <a:pt x="176114" y="570180"/>
                  </a:lnTo>
                  <a:cubicBezTo>
                    <a:pt x="158446" y="583045"/>
                    <a:pt x="134502" y="583068"/>
                    <a:pt x="116809" y="570236"/>
                  </a:cubicBezTo>
                  <a:cubicBezTo>
                    <a:pt x="99116" y="557404"/>
                    <a:pt x="91700" y="534637"/>
                    <a:pt x="98441" y="513846"/>
                  </a:cubicBezTo>
                  <a:lnTo>
                    <a:pt x="98557" y="513488"/>
                  </a:lnTo>
                  <a:cubicBezTo>
                    <a:pt x="127135" y="425342"/>
                    <a:pt x="95793" y="328814"/>
                    <a:pt x="20884" y="274271"/>
                  </a:cubicBezTo>
                  <a:lnTo>
                    <a:pt x="20789" y="274202"/>
                  </a:lnTo>
                  <a:cubicBezTo>
                    <a:pt x="3101" y="261323"/>
                    <a:pt x="-4287" y="238523"/>
                    <a:pt x="2484" y="217718"/>
                  </a:cubicBezTo>
                  <a:cubicBezTo>
                    <a:pt x="9256" y="196912"/>
                    <a:pt x="28650" y="182830"/>
                    <a:pt x="50530" y="182830"/>
                  </a:cubicBezTo>
                  <a:lnTo>
                    <a:pt x="50530" y="182830"/>
                  </a:lnTo>
                  <a:cubicBezTo>
                    <a:pt x="143080" y="182830"/>
                    <a:pt x="225092" y="123204"/>
                    <a:pt x="253636" y="35166"/>
                  </a:cubicBezTo>
                  <a:lnTo>
                    <a:pt x="253730" y="34875"/>
                  </a:lnTo>
                  <a:cubicBezTo>
                    <a:pt x="260471" y="14083"/>
                    <a:pt x="279841" y="0"/>
                    <a:pt x="301699" y="0"/>
                  </a:cubicBezTo>
                  <a:cubicBezTo>
                    <a:pt x="323557" y="0"/>
                    <a:pt x="342927" y="14083"/>
                    <a:pt x="349668" y="34875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228600" y="285750"/>
              <a:ext cx="355600" cy="3238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146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1199813" y="4105467"/>
            <a:ext cx="1817419" cy="1133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297"/>
              </a:lnSpc>
            </a:pPr>
            <a:r>
              <a:rPr lang="en-US" sz="1080" spc="-43">
                <a:solidFill>
                  <a:srgbClr val="0F1D11"/>
                </a:solidFill>
                <a:latin typeface="Inter"/>
                <a:ea typeface="Inter"/>
                <a:cs typeface="Inter"/>
                <a:sym typeface="Inter"/>
              </a:rPr>
              <a:t>Los métodos de búsqueda son algoritmos que localizan elementos específicos en estructuras de datos, optimizando el tiempo de acceso según si los datos están ordenados o no. 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973976" y="3856790"/>
            <a:ext cx="2641527" cy="1255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  <a:spcBef>
                <a:spcPct val="0"/>
              </a:spcBef>
            </a:pPr>
            <a:r>
              <a:rPr lang="en-US" sz="1200">
                <a:solidFill>
                  <a:srgbClr val="0F1D11"/>
                </a:solidFill>
                <a:latin typeface="Inter"/>
                <a:ea typeface="Inter"/>
                <a:cs typeface="Inter"/>
                <a:sym typeface="Inter"/>
              </a:rPr>
              <a:t>Usa</a:t>
            </a:r>
            <a:r>
              <a:rPr lang="en-US" sz="1200" strike="noStrike" u="none">
                <a:solidFill>
                  <a:srgbClr val="0F1D11"/>
                </a:solidFill>
                <a:latin typeface="Inter"/>
                <a:ea typeface="Inter"/>
                <a:cs typeface="Inter"/>
                <a:sym typeface="Inter"/>
              </a:rPr>
              <a:t> una tabla hash con función de dispersión para mapear claves a índices directos, logrando O(1) promedio. Maneja colisiones con cadenas o rehashing; rápida pero consume memoria extra.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973976" y="2319656"/>
            <a:ext cx="2368627" cy="836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  <a:spcBef>
                <a:spcPct val="0"/>
              </a:spcBef>
            </a:pPr>
            <a:r>
              <a:rPr lang="en-US" sz="1200">
                <a:solidFill>
                  <a:srgbClr val="0F1D11"/>
                </a:solidFill>
                <a:latin typeface="Inter"/>
                <a:ea typeface="Inter"/>
                <a:cs typeface="Inter"/>
                <a:sym typeface="Inter"/>
              </a:rPr>
              <a:t>R</a:t>
            </a:r>
            <a:r>
              <a:rPr lang="en-US" sz="1200" strike="noStrike" u="none">
                <a:solidFill>
                  <a:srgbClr val="0F1D11"/>
                </a:solidFill>
                <a:latin typeface="Inter"/>
                <a:ea typeface="Inter"/>
                <a:cs typeface="Inter"/>
                <a:sym typeface="Inter"/>
              </a:rPr>
              <a:t>equiere lista ordenada; compara con el elemento central y descarta la mitad inapropiada recursivamente.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287633" y="2516506"/>
            <a:ext cx="2365572" cy="728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99"/>
              </a:lnSpc>
              <a:spcBef>
                <a:spcPct val="0"/>
              </a:spcBef>
            </a:pPr>
            <a:r>
              <a:rPr lang="en-US" sz="2799">
                <a:solidFill>
                  <a:srgbClr val="0F1D11"/>
                </a:solidFill>
                <a:latin typeface="Luckiest Guy"/>
                <a:ea typeface="Luckiest Guy"/>
                <a:cs typeface="Luckiest Guy"/>
                <a:sym typeface="Luckiest Guy"/>
              </a:rPr>
              <a:t>BUSQUEDA BINARIA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973976" y="5498699"/>
            <a:ext cx="2348411" cy="1255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  <a:spcBef>
                <a:spcPct val="0"/>
              </a:spcBef>
            </a:pPr>
            <a:r>
              <a:rPr lang="en-US" sz="1200">
                <a:solidFill>
                  <a:srgbClr val="0F1D11"/>
                </a:solidFill>
                <a:latin typeface="Inter"/>
                <a:ea typeface="Inter"/>
                <a:cs typeface="Inter"/>
                <a:sym typeface="Inter"/>
              </a:rPr>
              <a:t>En</a:t>
            </a:r>
            <a:r>
              <a:rPr lang="en-US" sz="1200" strike="noStrike" u="none">
                <a:solidFill>
                  <a:srgbClr val="0F1D11"/>
                </a:solidFill>
                <a:latin typeface="Inter"/>
                <a:ea typeface="Inter"/>
                <a:cs typeface="Inter"/>
                <a:sym typeface="Inter"/>
              </a:rPr>
              <a:t> árboles binarios de búsqueda balanceados, compara con la raíz y recursa en subárbol izquierdo/derecho. O(log n) en balanceados; útil para datos dinámicos.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31520" y="693420"/>
            <a:ext cx="8434576" cy="2715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Conclusión</a:t>
            </a:r>
          </a:p>
          <a:p>
            <a:pPr algn="just">
              <a:lnSpc>
                <a:spcPts val="3079"/>
              </a:lnSpc>
            </a:pPr>
            <a:r>
              <a:rPr lang="en-US" sz="21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Búsquedas lineales sirven para datos pequeños, mientras binarias y hashin</a:t>
            </a:r>
            <a:r>
              <a:rPr lang="en-US" sz="21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g destacan en grandes volúmenes ordenados o indexados. Elegir según contexto reduce complejidad de O(n) a O(1) o O(log n). Su integración eleva la eficiencia computacional en modelado y software.</a:t>
            </a:r>
          </a:p>
          <a:p>
            <a:pPr algn="just">
              <a:lnSpc>
                <a:spcPts val="3079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99186" y="1489251"/>
            <a:ext cx="8053525" cy="3767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Fuentes de información</a:t>
            </a:r>
          </a:p>
          <a:p>
            <a:pPr algn="ctr">
              <a:lnSpc>
                <a:spcPts val="3079"/>
              </a:lnSpc>
            </a:pPr>
          </a:p>
          <a:p>
            <a:pPr algn="l" marL="410211" indent="-205106" lvl="1">
              <a:lnSpc>
                <a:spcPts val="2660"/>
              </a:lnSpc>
              <a:buFont typeface="Arial"/>
              <a:buChar char="•"/>
            </a:pPr>
            <a:r>
              <a:rPr lang="en-US" sz="19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Profile.es. (2025, 31 de a</a:t>
            </a:r>
            <a:r>
              <a:rPr lang="en-US" sz="19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gosto). Qué es un algoritmo informático: características, tipos y ejemplos. </a:t>
            </a:r>
            <a:r>
              <a:rPr lang="en-US" sz="1900" u="sng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  <a:hlinkClick r:id="rId2" tooltip="https://profile.es/blog/que-es-un-algoritmo-informatico/"/>
              </a:rPr>
              <a:t>https://profile.es/blog/que-es-un-algoritmo-informatico/</a:t>
            </a:r>
            <a:r>
              <a:rPr lang="en-US" sz="19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​</a:t>
            </a:r>
          </a:p>
          <a:p>
            <a:pPr algn="l" marL="410211" indent="-205106" lvl="1">
              <a:lnSpc>
                <a:spcPts val="2660"/>
              </a:lnSpc>
              <a:buFont typeface="Arial"/>
              <a:buChar char="•"/>
            </a:pPr>
            <a:r>
              <a:rPr lang="en-US" sz="19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Wikipedia. (2004, 1 de diciembre). Algoritmo de búsqueda. </a:t>
            </a:r>
            <a:r>
              <a:rPr lang="en-US" sz="1900" u="sng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  <a:hlinkClick r:id="rId3" tooltip="https://es.wikipedia.org/wiki/Algoritmo_de_b%C3%BAsqueda"/>
              </a:rPr>
              <a:t>https://es.wikipedia.org/wiki/Algoritmo_de_b%C3%BAsqueda</a:t>
            </a:r>
            <a:r>
              <a:rPr lang="en-US" sz="19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​</a:t>
            </a:r>
          </a:p>
          <a:p>
            <a:pPr algn="l" marL="410211" indent="-205106" lvl="1">
              <a:lnSpc>
                <a:spcPts val="2660"/>
              </a:lnSpc>
              <a:buFont typeface="Arial"/>
              <a:buChar char="•"/>
            </a:pPr>
            <a:r>
              <a:rPr lang="en-US" sz="19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INTEF. (s. f.). Algoritmos de búsqueda. </a:t>
            </a:r>
            <a:r>
              <a:rPr lang="en-US" sz="1900" u="sng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  <a:hlinkClick r:id="rId4" tooltip="https://formacion.intef.es/aulaenabierto/mod/book/view.php?id=5170&amp;chapterid=6873"/>
              </a:rPr>
              <a:t>https://formacion.intef.es/aulaenabierto/mod/book/view.php?id=5170&amp;chapterid=6873</a:t>
            </a:r>
          </a:p>
          <a:p>
            <a:pPr algn="l">
              <a:lnSpc>
                <a:spcPts val="2660"/>
              </a:lnSpc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DAG7Pt_M53E</dc:identifier>
  <dcterms:modified xsi:type="dcterms:W3CDTF">2011-08-01T06:04:30Z</dcterms:modified>
  <cp:revision>1</cp:revision>
  <dc:title>6.1 Esquema de Llaves_Cynthia Jasmine Morales Torres</dc:title>
</cp:coreProperties>
</file>