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753600" cy="7315200"/>
  <p:notesSz cx="6858000" cy="9144000"/>
  <p:embeddedFontLst>
    <p:embeddedFont>
      <p:font typeface="Glacial Indifference" panose="020B0604020202020204" charset="0"/>
      <p:regular r:id="rId7"/>
    </p:embeddedFont>
    <p:embeddedFont>
      <p:font typeface="Inter" panose="020B0604020202020204" charset="0"/>
      <p:regular r:id="rId8"/>
    </p:embeddedFont>
    <p:embeddedFont>
      <p:font typeface="Luckiest Guy" panose="020B0604020202020204" charset="0"/>
      <p:regular r:id="rId9"/>
    </p:embeddedFont>
    <p:embeddedFont>
      <p:font typeface="Open Sans" panose="020B0606030504020204" pitchFamily="34" charset="0"/>
      <p:regular r:id="rId10"/>
    </p:embeddedFont>
    <p:embeddedFont>
      <p:font typeface="Open Sans Bold" panose="020B0806030504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40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Algoritmo_de_b%C3%BAsqueda" TargetMode="External"/><Relationship Id="rId2" Type="http://schemas.openxmlformats.org/officeDocument/2006/relationships/hyperlink" Target="https://profile.es/blog/que-es-un-algoritmo-informatico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ormacion.intef.es/aulaenabierto/mod/book/view.php?id=5170&amp;chapterid=687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55586" y="1224240"/>
            <a:ext cx="6067192" cy="5651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Instituto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Tecnológico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Frontera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Comalapa</a:t>
            </a:r>
            <a:endParaRPr lang="en-US" sz="1936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Modalidad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Mixta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endParaRPr lang="en-US" sz="1936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Estructura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Datos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Quinto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Especialidad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Ingeniería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Sistemas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Computacionales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Numero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control: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231260014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alumno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Cynthia Jasmine Morales Torres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docente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Ing. Francisco Javier Mingo Velázquez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trabajo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6.1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Esquema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Llaves</a:t>
            </a:r>
            <a:endParaRPr lang="en-US" sz="1936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Fecha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entrega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>
              <a:lnSpc>
                <a:spcPts val="2148"/>
              </a:lnSpc>
              <a:spcBef>
                <a:spcPct val="0"/>
              </a:spcBef>
            </a:pPr>
            <a:endParaRPr lang="en-US" sz="1936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2148"/>
              </a:lnSpc>
              <a:spcBef>
                <a:spcPct val="0"/>
              </a:spcBef>
            </a:pP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Frontera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Comalapa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Chiapas. </a:t>
            </a:r>
            <a:r>
              <a:rPr lang="en-US" sz="19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11 de </a:t>
            </a:r>
            <a:r>
              <a:rPr lang="en-US" sz="1936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diciembre</a:t>
            </a:r>
            <a:r>
              <a:rPr lang="en-US" sz="193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2025</a:t>
            </a:r>
          </a:p>
        </p:txBody>
      </p:sp>
      <p:sp>
        <p:nvSpPr>
          <p:cNvPr id="3" name="Freeform 3"/>
          <p:cNvSpPr/>
          <p:nvPr/>
        </p:nvSpPr>
        <p:spPr>
          <a:xfrm>
            <a:off x="698130" y="114996"/>
            <a:ext cx="2304388" cy="984724"/>
          </a:xfrm>
          <a:custGeom>
            <a:avLst/>
            <a:gdLst/>
            <a:ahLst/>
            <a:cxnLst/>
            <a:rect l="l" t="t" r="r" b="b"/>
            <a:pathLst>
              <a:path w="2304388" h="984724">
                <a:moveTo>
                  <a:pt x="0" y="0"/>
                </a:moveTo>
                <a:lnTo>
                  <a:pt x="2304388" y="0"/>
                </a:lnTo>
                <a:lnTo>
                  <a:pt x="2304388" y="984724"/>
                </a:lnTo>
                <a:lnTo>
                  <a:pt x="0" y="98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71483" y="0"/>
            <a:ext cx="1483987" cy="1214715"/>
          </a:xfrm>
          <a:custGeom>
            <a:avLst/>
            <a:gdLst/>
            <a:ahLst/>
            <a:cxnLst/>
            <a:rect l="l" t="t" r="r" b="b"/>
            <a:pathLst>
              <a:path w="1483987" h="1214715">
                <a:moveTo>
                  <a:pt x="0" y="0"/>
                </a:moveTo>
                <a:lnTo>
                  <a:pt x="1483987" y="0"/>
                </a:lnTo>
                <a:lnTo>
                  <a:pt x="1483987" y="1214715"/>
                </a:lnTo>
                <a:lnTo>
                  <a:pt x="0" y="12147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61803" y="155663"/>
            <a:ext cx="3254758" cy="673398"/>
          </a:xfrm>
          <a:custGeom>
            <a:avLst/>
            <a:gdLst/>
            <a:ahLst/>
            <a:cxnLst/>
            <a:rect l="l" t="t" r="r" b="b"/>
            <a:pathLst>
              <a:path w="3254758" h="673398">
                <a:moveTo>
                  <a:pt x="0" y="0"/>
                </a:moveTo>
                <a:lnTo>
                  <a:pt x="3254758" y="0"/>
                </a:lnTo>
                <a:lnTo>
                  <a:pt x="3254758" y="673398"/>
                </a:lnTo>
                <a:lnTo>
                  <a:pt x="0" y="673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6596" y="1312981"/>
            <a:ext cx="7760409" cy="310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Introducción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el procesamiento de datos, los métodos de búsqueda determinan la velocidad de acceso a información crítica, desde recorridos simples hasta técnicas avanzadas como binaria o hashing. Su selección impacta el rendimiento en operaciones research, bases de datos y algoritmos. Comprenderlos permite diseñar soluciones escalables.</a:t>
            </a:r>
          </a:p>
          <a:p>
            <a:pPr algn="just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85" r="-628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8268371" y="5741499"/>
            <a:ext cx="2002938" cy="1962879"/>
          </a:xfrm>
          <a:custGeom>
            <a:avLst/>
            <a:gdLst/>
            <a:ahLst/>
            <a:cxnLst/>
            <a:rect l="l" t="t" r="r" b="b"/>
            <a:pathLst>
              <a:path w="2002938" h="1962879">
                <a:moveTo>
                  <a:pt x="2002938" y="0"/>
                </a:moveTo>
                <a:lnTo>
                  <a:pt x="0" y="0"/>
                </a:lnTo>
                <a:lnTo>
                  <a:pt x="0" y="1962879"/>
                </a:lnTo>
                <a:lnTo>
                  <a:pt x="2002938" y="1962879"/>
                </a:lnTo>
                <a:lnTo>
                  <a:pt x="200293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2593737" y="1394767"/>
            <a:ext cx="1024705" cy="823490"/>
          </a:xfrm>
          <a:custGeom>
            <a:avLst/>
            <a:gdLst/>
            <a:ahLst/>
            <a:cxnLst/>
            <a:rect l="l" t="t" r="r" b="b"/>
            <a:pathLst>
              <a:path w="1024705" h="823490">
                <a:moveTo>
                  <a:pt x="0" y="0"/>
                </a:moveTo>
                <a:lnTo>
                  <a:pt x="1024706" y="0"/>
                </a:lnTo>
                <a:lnTo>
                  <a:pt x="1024706" y="823490"/>
                </a:lnTo>
                <a:lnTo>
                  <a:pt x="0" y="8234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263227" y="4366506"/>
            <a:ext cx="936587" cy="752675"/>
          </a:xfrm>
          <a:custGeom>
            <a:avLst/>
            <a:gdLst/>
            <a:ahLst/>
            <a:cxnLst/>
            <a:rect l="l" t="t" r="r" b="b"/>
            <a:pathLst>
              <a:path w="936587" h="752675">
                <a:moveTo>
                  <a:pt x="936586" y="0"/>
                </a:moveTo>
                <a:lnTo>
                  <a:pt x="0" y="0"/>
                </a:lnTo>
                <a:lnTo>
                  <a:pt x="0" y="752675"/>
                </a:lnTo>
                <a:lnTo>
                  <a:pt x="936586" y="752675"/>
                </a:lnTo>
                <a:lnTo>
                  <a:pt x="93658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54000" flipV="1">
            <a:off x="-585695" y="-336783"/>
            <a:ext cx="2002938" cy="1962879"/>
          </a:xfrm>
          <a:custGeom>
            <a:avLst/>
            <a:gdLst/>
            <a:ahLst/>
            <a:cxnLst/>
            <a:rect l="l" t="t" r="r" b="b"/>
            <a:pathLst>
              <a:path w="2002938" h="1962879">
                <a:moveTo>
                  <a:pt x="0" y="1962879"/>
                </a:moveTo>
                <a:lnTo>
                  <a:pt x="2002938" y="1962879"/>
                </a:lnTo>
                <a:lnTo>
                  <a:pt x="2002938" y="0"/>
                </a:lnTo>
                <a:lnTo>
                  <a:pt x="0" y="0"/>
                </a:lnTo>
                <a:lnTo>
                  <a:pt x="0" y="196287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85575" y="2776816"/>
            <a:ext cx="3561387" cy="82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75"/>
              </a:lnSpc>
              <a:spcBef>
                <a:spcPct val="0"/>
              </a:spcBef>
            </a:pPr>
            <a:r>
              <a:rPr lang="en-US" sz="4839">
                <a:solidFill>
                  <a:srgbClr val="0F1D11"/>
                </a:solidFill>
                <a:latin typeface="Luckiest Guy"/>
                <a:ea typeface="Luckiest Guy"/>
                <a:cs typeface="Luckiest Guy"/>
                <a:sym typeface="Luckiest Guy"/>
              </a:rPr>
              <a:t>METODOS 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949" y="3457701"/>
            <a:ext cx="3710639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F1D11"/>
                </a:solidFill>
                <a:latin typeface="Luckiest Guy"/>
                <a:ea typeface="Luckiest Guy"/>
                <a:cs typeface="Luckiest Guy"/>
                <a:sym typeface="Luckiest Guy"/>
              </a:rPr>
              <a:t>BUSQUEDA</a:t>
            </a:r>
          </a:p>
        </p:txBody>
      </p:sp>
      <p:sp>
        <p:nvSpPr>
          <p:cNvPr id="9" name="Freeform 9"/>
          <p:cNvSpPr/>
          <p:nvPr/>
        </p:nvSpPr>
        <p:spPr>
          <a:xfrm>
            <a:off x="3494797" y="1101918"/>
            <a:ext cx="580511" cy="5067951"/>
          </a:xfrm>
          <a:custGeom>
            <a:avLst/>
            <a:gdLst/>
            <a:ahLst/>
            <a:cxnLst/>
            <a:rect l="l" t="t" r="r" b="b"/>
            <a:pathLst>
              <a:path w="580511" h="5067951">
                <a:moveTo>
                  <a:pt x="0" y="0"/>
                </a:moveTo>
                <a:lnTo>
                  <a:pt x="580511" y="0"/>
                </a:lnTo>
                <a:lnTo>
                  <a:pt x="580511" y="5067951"/>
                </a:lnTo>
                <a:lnTo>
                  <a:pt x="0" y="50679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973976" y="677746"/>
            <a:ext cx="2641527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F1D11"/>
                </a:solidFill>
                <a:latin typeface="Inter"/>
                <a:ea typeface="Inter"/>
                <a:cs typeface="Inter"/>
                <a:sym typeface="Inter"/>
              </a:rPr>
              <a:t>Re</a:t>
            </a:r>
            <a:r>
              <a:rPr lang="en-US" sz="1200" u="none" strike="noStrike">
                <a:solidFill>
                  <a:srgbClr val="0F1D11"/>
                </a:solidFill>
                <a:latin typeface="Inter"/>
                <a:ea typeface="Inter"/>
                <a:cs typeface="Inter"/>
                <a:sym typeface="Inter"/>
              </a:rPr>
              <a:t>corre elementos uno por uno desde el inicio hasta encontrar el objetivo o agotar la lista. Funciona en datos desordenados; simple pero ineficiente para grandes volúmenes.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87633" y="979371"/>
            <a:ext cx="2696451" cy="143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</a:pPr>
            <a:r>
              <a:rPr lang="en-US" sz="2799">
                <a:solidFill>
                  <a:srgbClr val="0F1D11"/>
                </a:solidFill>
                <a:latin typeface="Luckiest Guy"/>
                <a:ea typeface="Luckiest Guy"/>
                <a:cs typeface="Luckiest Guy"/>
                <a:sym typeface="Luckiest Guy"/>
              </a:rPr>
              <a:t>BÚSQU</a:t>
            </a:r>
            <a:r>
              <a:rPr lang="en-US" sz="2799" u="none" strike="noStrike">
                <a:solidFill>
                  <a:srgbClr val="0F1D11"/>
                </a:solidFill>
                <a:latin typeface="Luckiest Guy"/>
                <a:ea typeface="Luckiest Guy"/>
                <a:cs typeface="Luckiest Guy"/>
                <a:sym typeface="Luckiest Guy"/>
              </a:rPr>
              <a:t>EDA LINEAL (SECUENCIAL)</a:t>
            </a:r>
          </a:p>
          <a:p>
            <a:pPr marL="0" lvl="0" indent="0" algn="l">
              <a:lnSpc>
                <a:spcPts val="2799"/>
              </a:lnSpc>
            </a:pPr>
            <a:endParaRPr lang="en-US" sz="2799" u="none" strike="noStrike">
              <a:solidFill>
                <a:srgbClr val="0F1D11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6709560" y="681123"/>
            <a:ext cx="146299" cy="1277217"/>
          </a:xfrm>
          <a:custGeom>
            <a:avLst/>
            <a:gdLst/>
            <a:ahLst/>
            <a:cxnLst/>
            <a:rect l="l" t="t" r="r" b="b"/>
            <a:pathLst>
              <a:path w="146299" h="1277217">
                <a:moveTo>
                  <a:pt x="0" y="0"/>
                </a:moveTo>
                <a:lnTo>
                  <a:pt x="146299" y="0"/>
                </a:lnTo>
                <a:lnTo>
                  <a:pt x="146299" y="1277217"/>
                </a:lnTo>
                <a:lnTo>
                  <a:pt x="0" y="12772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287633" y="3877427"/>
            <a:ext cx="2605668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F1D11"/>
                </a:solidFill>
                <a:latin typeface="Luckiest Guy"/>
                <a:ea typeface="Luckiest Guy"/>
                <a:cs typeface="Luckiest Guy"/>
                <a:sym typeface="Luckiest Guy"/>
              </a:rPr>
              <a:t>BÚ</a:t>
            </a:r>
            <a:r>
              <a:rPr lang="en-US" sz="2799" u="none" strike="noStrike">
                <a:solidFill>
                  <a:srgbClr val="0F1D11"/>
                </a:solidFill>
                <a:latin typeface="Luckiest Guy"/>
                <a:ea typeface="Luckiest Guy"/>
                <a:cs typeface="Luckiest Guy"/>
                <a:sym typeface="Luckiest Guy"/>
              </a:rPr>
              <a:t>SQUEDA POR HASHING</a:t>
            </a:r>
          </a:p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endParaRPr lang="en-US" sz="2799" u="none" strike="noStrike">
              <a:solidFill>
                <a:srgbClr val="0F1D11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709560" y="3755391"/>
            <a:ext cx="146299" cy="1277217"/>
          </a:xfrm>
          <a:custGeom>
            <a:avLst/>
            <a:gdLst/>
            <a:ahLst/>
            <a:cxnLst/>
            <a:rect l="l" t="t" r="r" b="b"/>
            <a:pathLst>
              <a:path w="146299" h="1277217">
                <a:moveTo>
                  <a:pt x="0" y="0"/>
                </a:moveTo>
                <a:lnTo>
                  <a:pt x="146299" y="0"/>
                </a:lnTo>
                <a:lnTo>
                  <a:pt x="146299" y="1277217"/>
                </a:lnTo>
                <a:lnTo>
                  <a:pt x="0" y="12772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709560" y="2218257"/>
            <a:ext cx="146299" cy="1277217"/>
          </a:xfrm>
          <a:custGeom>
            <a:avLst/>
            <a:gdLst/>
            <a:ahLst/>
            <a:cxnLst/>
            <a:rect l="l" t="t" r="r" b="b"/>
            <a:pathLst>
              <a:path w="146299" h="1277217">
                <a:moveTo>
                  <a:pt x="0" y="0"/>
                </a:moveTo>
                <a:lnTo>
                  <a:pt x="146299" y="0"/>
                </a:lnTo>
                <a:lnTo>
                  <a:pt x="146299" y="1277217"/>
                </a:lnTo>
                <a:lnTo>
                  <a:pt x="0" y="12772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287633" y="5414561"/>
            <a:ext cx="2510509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F1D11"/>
                </a:solidFill>
                <a:latin typeface="Luckiest Guy"/>
                <a:ea typeface="Luckiest Guy"/>
                <a:cs typeface="Luckiest Guy"/>
                <a:sym typeface="Luckiest Guy"/>
              </a:rPr>
              <a:t>BÚSQU</a:t>
            </a:r>
            <a:r>
              <a:rPr lang="en-US" sz="2799" u="none" strike="noStrike">
                <a:solidFill>
                  <a:srgbClr val="0F1D11"/>
                </a:solidFill>
                <a:latin typeface="Luckiest Guy"/>
                <a:ea typeface="Luckiest Guy"/>
                <a:cs typeface="Luckiest Guy"/>
                <a:sym typeface="Luckiest Guy"/>
              </a:rPr>
              <a:t>EDA EN ÁRBOLES (BST)</a:t>
            </a:r>
          </a:p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endParaRPr lang="en-US" sz="2799" u="none" strike="noStrike">
              <a:solidFill>
                <a:srgbClr val="0F1D11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6709560" y="5292525"/>
            <a:ext cx="146299" cy="1277217"/>
          </a:xfrm>
          <a:custGeom>
            <a:avLst/>
            <a:gdLst/>
            <a:ahLst/>
            <a:cxnLst/>
            <a:rect l="l" t="t" r="r" b="b"/>
            <a:pathLst>
              <a:path w="146299" h="1277217">
                <a:moveTo>
                  <a:pt x="0" y="0"/>
                </a:moveTo>
                <a:lnTo>
                  <a:pt x="146299" y="0"/>
                </a:lnTo>
                <a:lnTo>
                  <a:pt x="146299" y="1277217"/>
                </a:lnTo>
                <a:lnTo>
                  <a:pt x="0" y="12772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125849" y="5483488"/>
            <a:ext cx="361110" cy="344183"/>
            <a:chOff x="0" y="0"/>
            <a:chExt cx="812800" cy="774700"/>
          </a:xfrm>
        </p:grpSpPr>
        <p:sp>
          <p:nvSpPr>
            <p:cNvPr id="19" name="Freeform 19"/>
            <p:cNvSpPr/>
            <p:nvPr/>
          </p:nvSpPr>
          <p:spPr>
            <a:xfrm>
              <a:off x="104701" y="113079"/>
              <a:ext cx="603398" cy="579844"/>
            </a:xfrm>
            <a:custGeom>
              <a:avLst/>
              <a:gdLst/>
              <a:ahLst/>
              <a:cxnLst/>
              <a:rect l="l" t="t" r="r" b="b"/>
              <a:pathLst>
                <a:path w="603398" h="579844">
                  <a:moveTo>
                    <a:pt x="349668" y="34875"/>
                  </a:moveTo>
                  <a:lnTo>
                    <a:pt x="349762" y="35166"/>
                  </a:lnTo>
                  <a:cubicBezTo>
                    <a:pt x="378306" y="123204"/>
                    <a:pt x="460318" y="182830"/>
                    <a:pt x="552868" y="182830"/>
                  </a:cubicBezTo>
                  <a:lnTo>
                    <a:pt x="552868" y="182830"/>
                  </a:lnTo>
                  <a:cubicBezTo>
                    <a:pt x="574748" y="182830"/>
                    <a:pt x="594142" y="196912"/>
                    <a:pt x="600914" y="217718"/>
                  </a:cubicBezTo>
                  <a:cubicBezTo>
                    <a:pt x="607686" y="238523"/>
                    <a:pt x="600297" y="261323"/>
                    <a:pt x="582609" y="274202"/>
                  </a:cubicBezTo>
                  <a:lnTo>
                    <a:pt x="582514" y="274271"/>
                  </a:lnTo>
                  <a:cubicBezTo>
                    <a:pt x="507605" y="328814"/>
                    <a:pt x="476263" y="425342"/>
                    <a:pt x="504841" y="513488"/>
                  </a:cubicBezTo>
                  <a:lnTo>
                    <a:pt x="504957" y="513846"/>
                  </a:lnTo>
                  <a:cubicBezTo>
                    <a:pt x="511698" y="534637"/>
                    <a:pt x="504282" y="557404"/>
                    <a:pt x="486589" y="570236"/>
                  </a:cubicBezTo>
                  <a:cubicBezTo>
                    <a:pt x="468896" y="583068"/>
                    <a:pt x="444952" y="583045"/>
                    <a:pt x="427284" y="570180"/>
                  </a:cubicBezTo>
                  <a:lnTo>
                    <a:pt x="427284" y="570180"/>
                  </a:lnTo>
                  <a:cubicBezTo>
                    <a:pt x="352430" y="515678"/>
                    <a:pt x="250968" y="515678"/>
                    <a:pt x="176114" y="570180"/>
                  </a:cubicBezTo>
                  <a:lnTo>
                    <a:pt x="176114" y="570180"/>
                  </a:lnTo>
                  <a:cubicBezTo>
                    <a:pt x="158446" y="583045"/>
                    <a:pt x="134502" y="583068"/>
                    <a:pt x="116809" y="570236"/>
                  </a:cubicBezTo>
                  <a:cubicBezTo>
                    <a:pt x="99116" y="557404"/>
                    <a:pt x="91700" y="534637"/>
                    <a:pt x="98441" y="513846"/>
                  </a:cubicBezTo>
                  <a:lnTo>
                    <a:pt x="98557" y="513488"/>
                  </a:lnTo>
                  <a:cubicBezTo>
                    <a:pt x="127135" y="425342"/>
                    <a:pt x="95793" y="328814"/>
                    <a:pt x="20884" y="274271"/>
                  </a:cubicBezTo>
                  <a:lnTo>
                    <a:pt x="20789" y="274202"/>
                  </a:lnTo>
                  <a:cubicBezTo>
                    <a:pt x="3101" y="261323"/>
                    <a:pt x="-4287" y="238523"/>
                    <a:pt x="2484" y="217718"/>
                  </a:cubicBezTo>
                  <a:cubicBezTo>
                    <a:pt x="9256" y="196912"/>
                    <a:pt x="28650" y="182830"/>
                    <a:pt x="50530" y="182830"/>
                  </a:cubicBezTo>
                  <a:lnTo>
                    <a:pt x="50530" y="182830"/>
                  </a:lnTo>
                  <a:cubicBezTo>
                    <a:pt x="143080" y="182830"/>
                    <a:pt x="225092" y="123204"/>
                    <a:pt x="253636" y="35166"/>
                  </a:cubicBezTo>
                  <a:lnTo>
                    <a:pt x="253730" y="34875"/>
                  </a:lnTo>
                  <a:cubicBezTo>
                    <a:pt x="260471" y="14083"/>
                    <a:pt x="279841" y="0"/>
                    <a:pt x="301699" y="0"/>
                  </a:cubicBezTo>
                  <a:cubicBezTo>
                    <a:pt x="323557" y="0"/>
                    <a:pt x="342927" y="14083"/>
                    <a:pt x="349668" y="34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228600" y="285750"/>
              <a:ext cx="355600" cy="32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46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99813" y="4105467"/>
            <a:ext cx="1817419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7"/>
              </a:lnSpc>
            </a:pPr>
            <a:r>
              <a:rPr lang="en-US" sz="1080" spc="-43">
                <a:solidFill>
                  <a:srgbClr val="0F1D11"/>
                </a:solidFill>
                <a:latin typeface="Inter"/>
                <a:ea typeface="Inter"/>
                <a:cs typeface="Inter"/>
                <a:sym typeface="Inter"/>
              </a:rPr>
              <a:t>Los métodos de búsqueda son algoritmos que localizan elementos específicos en estructuras de datos, optimizando el tiempo de acceso según si los datos están ordenados o no.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73976" y="3856790"/>
            <a:ext cx="2641527" cy="12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F1D11"/>
                </a:solidFill>
                <a:latin typeface="Inter"/>
                <a:ea typeface="Inter"/>
                <a:cs typeface="Inter"/>
                <a:sym typeface="Inter"/>
              </a:rPr>
              <a:t>Usa</a:t>
            </a:r>
            <a:r>
              <a:rPr lang="en-US" sz="1200" u="none" strike="noStrike">
                <a:solidFill>
                  <a:srgbClr val="0F1D11"/>
                </a:solidFill>
                <a:latin typeface="Inter"/>
                <a:ea typeface="Inter"/>
                <a:cs typeface="Inter"/>
                <a:sym typeface="Inter"/>
              </a:rPr>
              <a:t> una tabla hash con función de dispersión para mapear claves a índices directos, logrando O(1) promedio. Maneja colisiones con cadenas o rehashing; rápida pero consume memoria extra.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73976" y="2319656"/>
            <a:ext cx="2368627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F1D11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200" u="none" strike="noStrike">
                <a:solidFill>
                  <a:srgbClr val="0F1D11"/>
                </a:solidFill>
                <a:latin typeface="Inter"/>
                <a:ea typeface="Inter"/>
                <a:cs typeface="Inter"/>
                <a:sym typeface="Inter"/>
              </a:rPr>
              <a:t>equiere lista ordenada; compara con el elemento central y descarta la mitad inapropiada recursivamente.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287633" y="2516506"/>
            <a:ext cx="2365572" cy="728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F1D11"/>
                </a:solidFill>
                <a:latin typeface="Luckiest Guy"/>
                <a:ea typeface="Luckiest Guy"/>
                <a:cs typeface="Luckiest Guy"/>
                <a:sym typeface="Luckiest Guy"/>
              </a:rPr>
              <a:t>BUSQUEDA BINARIA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73976" y="5498699"/>
            <a:ext cx="2348411" cy="12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F1D11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200" u="none" strike="noStrike">
                <a:solidFill>
                  <a:srgbClr val="0F1D11"/>
                </a:solidFill>
                <a:latin typeface="Inter"/>
                <a:ea typeface="Inter"/>
                <a:cs typeface="Inter"/>
                <a:sym typeface="Inter"/>
              </a:rPr>
              <a:t> árboles binarios de búsqueda balanceados, compara con la raíz y recursa en subárbol izquierdo/derecho. O(log n) en balanceados; útil para datos dinámicos.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1520" y="693420"/>
            <a:ext cx="8434576" cy="271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Conclusión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Búsquedas lineales sirven para datos pequeños, mientras binarias y hashing destacan en grandes volúmenes ordenados o indexados. Elegir según contexto reduce complejidad de O(n) a O(1) o O(log n). Su integración eleva la eficiencia computacional en modelado y software.</a:t>
            </a:r>
          </a:p>
          <a:p>
            <a:pPr algn="just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9186" y="1489251"/>
            <a:ext cx="8053525" cy="376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Fuentes de información</a:t>
            </a:r>
          </a:p>
          <a:p>
            <a:pPr algn="ctr">
              <a:lnSpc>
                <a:spcPts val="3079"/>
              </a:lnSpc>
            </a:pPr>
            <a:endParaRPr lang="en-US" sz="21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Profile.es. (2025, 31 de agosto). Qué es un algoritmo informático: características, tipos y ejemplos. </a:t>
            </a:r>
            <a:r>
              <a:rPr lang="en-US" sz="1900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" tooltip="https://profile.es/blog/que-es-un-algoritmo-informatico/"/>
              </a:rPr>
              <a:t>https://profile.es/blog/que-es-un-algoritmo-informatico/</a:t>
            </a: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​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Wikipedia. (2004, 1 de diciembre). Algoritmo de búsqueda. </a:t>
            </a:r>
            <a:r>
              <a:rPr lang="en-US" sz="1900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s://es.wikipedia.org/wiki/Algoritmo_de_b%C3%BAsqueda"/>
              </a:rPr>
              <a:t>https://es.wikipedia.org/wiki/Algoritmo_de_b%C3%BAsqueda</a:t>
            </a: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​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INTEF. (s. f.). Algoritmos de búsqueda. </a:t>
            </a:r>
            <a:r>
              <a:rPr lang="en-US" sz="1900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4" tooltip="https://formacion.intef.es/aulaenabierto/mod/book/view.php?id=5170&amp;chapterid=6873"/>
              </a:rPr>
              <a:t>https://formacion.intef.es/aulaenabierto/mod/book/view.php?id=5170&amp;chapterid=6873</a:t>
            </a:r>
          </a:p>
          <a:p>
            <a:pPr algn="l">
              <a:lnSpc>
                <a:spcPts val="2660"/>
              </a:lnSpc>
            </a:pPr>
            <a:endParaRPr lang="en-US" sz="1900" u="sng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  <a:hlinkClick r:id="rId4" tooltip="https://formacion.intef.es/aulaenabierto/mod/book/view.php?id=5170&amp;chapterid=687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Microsoft Office PowerPoint</Application>
  <PresentationFormat>Personalizado</PresentationFormat>
  <Paragraphs>41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Open Sans Bold</vt:lpstr>
      <vt:lpstr>Inter</vt:lpstr>
      <vt:lpstr>Arial</vt:lpstr>
      <vt:lpstr>Open Sans</vt:lpstr>
      <vt:lpstr>Calibri</vt:lpstr>
      <vt:lpstr>Glacial Indifference</vt:lpstr>
      <vt:lpstr>Luckiest Guy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6.1 Esquema de Llaves_Cynthia Jasmine Morales Torres</dc:title>
  <cp:lastModifiedBy>HP 840 G5</cp:lastModifiedBy>
  <cp:revision>2</cp:revision>
  <dcterms:created xsi:type="dcterms:W3CDTF">2006-08-16T00:00:00Z</dcterms:created>
  <dcterms:modified xsi:type="dcterms:W3CDTF">2025-12-15T02:55:53Z</dcterms:modified>
  <dc:identifier>DAG7Pt_M53E</dc:identifier>
</cp:coreProperties>
</file>