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C99D8D2-EB6C-45A6-A858-81CE318898E2}"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51350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C99D8D2-EB6C-45A6-A858-81CE318898E2}"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162155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99D8D2-EB6C-45A6-A858-81CE318898E2}"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847248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1360266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C99D8D2-EB6C-45A6-A858-81CE318898E2}" type="datetimeFigureOut">
              <a:rPr lang="es-MX" smtClean="0"/>
              <a:t>14/12/2025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2169001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C99D8D2-EB6C-45A6-A858-81CE318898E2}" type="datetimeFigureOut">
              <a:rPr lang="es-MX" smtClean="0"/>
              <a:t>14/12/2025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283986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C99D8D2-EB6C-45A6-A858-81CE318898E2}" type="datetimeFigureOut">
              <a:rPr lang="es-MX" smtClean="0"/>
              <a:t>14/12/2025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493702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978403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1763637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4150447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2739952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55022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99D8D2-EB6C-45A6-A858-81CE318898E2}" type="datetimeFigureOut">
              <a:rPr lang="es-MX" smtClean="0"/>
              <a:t>14/12/2025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1370765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6C99D8D2-EB6C-45A6-A858-81CE318898E2}" type="datetimeFigureOut">
              <a:rPr lang="es-MX" smtClean="0"/>
              <a:t>14/12/2025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688636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6C99D8D2-EB6C-45A6-A858-81CE318898E2}" type="datetimeFigureOut">
              <a:rPr lang="es-MX" smtClean="0"/>
              <a:t>14/12/2025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2921995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C99D8D2-EB6C-45A6-A858-81CE318898E2}"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1140812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C99D8D2-EB6C-45A6-A858-81CE318898E2}" type="datetimeFigureOut">
              <a:rPr lang="es-MX" smtClean="0"/>
              <a:t>14/12/2025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23464110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966276-B141-6BA6-2C3F-A76469887C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8A62F1D-77EB-1580-61C9-07C9F1366F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731CFAB-66A1-74E4-1838-F247BB543E76}"/>
              </a:ext>
            </a:extLst>
          </p:cNvPr>
          <p:cNvSpPr>
            <a:spLocks noGrp="1"/>
          </p:cNvSpPr>
          <p:nvPr>
            <p:ph type="dt" sz="half" idx="10"/>
          </p:nvPr>
        </p:nvSpPr>
        <p:spPr/>
        <p:txBody>
          <a:bodyPr/>
          <a:lstStyle/>
          <a:p>
            <a:fld id="{6C99D8D2-EB6C-45A6-A858-81CE318898E2}" type="datetimeFigureOut">
              <a:rPr lang="es-MX" smtClean="0"/>
              <a:t>14/12/2025</a:t>
            </a:fld>
            <a:endParaRPr lang="es-MX"/>
          </a:p>
        </p:txBody>
      </p:sp>
      <p:sp>
        <p:nvSpPr>
          <p:cNvPr id="5" name="Marcador de pie de página 4">
            <a:extLst>
              <a:ext uri="{FF2B5EF4-FFF2-40B4-BE49-F238E27FC236}">
                <a16:creationId xmlns:a16="http://schemas.microsoft.com/office/drawing/2014/main" id="{95C3C57D-7735-8BDB-CFFE-8D2F6F78FDC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9FE6479-1972-0683-311B-0D939CAB8A80}"/>
              </a:ext>
            </a:extLst>
          </p:cNvPr>
          <p:cNvSpPr>
            <a:spLocks noGrp="1"/>
          </p:cNvSpPr>
          <p:nvPr>
            <p:ph type="sldNum" sz="quarter" idx="12"/>
          </p:nvPr>
        </p:nvSpPr>
        <p:spPr/>
        <p:txBody>
          <a:bodyPr/>
          <a:lstStyle/>
          <a:p>
            <a:fld id="{89F482C4-B365-483F-9D08-F63563F10472}" type="slidenum">
              <a:rPr lang="es-MX" smtClean="0"/>
              <a:t>‹Nº›</a:t>
            </a:fld>
            <a:endParaRPr lang="es-MX"/>
          </a:p>
        </p:txBody>
      </p:sp>
    </p:spTree>
    <p:extLst>
      <p:ext uri="{BB962C8B-B14F-4D97-AF65-F5344CB8AC3E}">
        <p14:creationId xmlns:p14="http://schemas.microsoft.com/office/powerpoint/2010/main" val="3484618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C99D8D2-EB6C-45A6-A858-81CE318898E2}" type="datetimeFigureOut">
              <a:rPr lang="es-MX" smtClean="0"/>
              <a:t>14/12/2025</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9F482C4-B365-483F-9D08-F63563F10472}" type="slidenum">
              <a:rPr lang="es-MX" smtClean="0"/>
              <a:t>‹Nº›</a:t>
            </a:fld>
            <a:endParaRPr lang="es-MX"/>
          </a:p>
        </p:txBody>
      </p:sp>
    </p:spTree>
    <p:extLst>
      <p:ext uri="{BB962C8B-B14F-4D97-AF65-F5344CB8AC3E}">
        <p14:creationId xmlns:p14="http://schemas.microsoft.com/office/powerpoint/2010/main" val="3723276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Cynthia21Morales/EstructuraDeDatos_CynthiaJasmineMT/tree/main/ED-Tema-2/Recursivida"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FDD88C6-8AB9-D36F-7B06-1315CB72AB04}"/>
              </a:ext>
            </a:extLst>
          </p:cNvPr>
          <p:cNvSpPr txBox="1"/>
          <p:nvPr/>
        </p:nvSpPr>
        <p:spPr>
          <a:xfrm>
            <a:off x="3079680" y="1579973"/>
            <a:ext cx="5848564" cy="5016758"/>
          </a:xfrm>
          <a:prstGeom prst="rect">
            <a:avLst/>
          </a:prstGeom>
          <a:noFill/>
        </p:spPr>
        <p:txBody>
          <a:bodyPr wrap="square">
            <a:spAutoFit/>
          </a:bodyPr>
          <a:lstStyle/>
          <a:p>
            <a:pPr algn="ctr" rtl="0"/>
            <a:r>
              <a:rPr lang="es-MX" sz="1600" b="1" i="0" dirty="0">
                <a:effectLst/>
                <a:latin typeface="Bahnschrift" panose="020B0502040204020203" pitchFamily="34" charset="0"/>
              </a:rPr>
              <a:t>Instituto Tecnológico de Frontera Comalapa</a:t>
            </a:r>
            <a:endParaRPr lang="es-MX" sz="1600" b="1" dirty="0">
              <a:effectLst/>
              <a:latin typeface="Bahnschrift" panose="020B0502040204020203" pitchFamily="34" charset="0"/>
            </a:endParaRPr>
          </a:p>
          <a:p>
            <a:pPr algn="ctr" rtl="0"/>
            <a:r>
              <a:rPr lang="es-MX" sz="1600" b="1" i="0" dirty="0">
                <a:effectLst/>
                <a:latin typeface="Bahnschrift" panose="020B0502040204020203" pitchFamily="34" charset="0"/>
              </a:rPr>
              <a:t>Modalidad Mixta</a:t>
            </a:r>
          </a:p>
          <a:p>
            <a:pPr algn="ctr" rtl="0"/>
            <a:endParaRPr lang="es-MX" sz="1600" b="1" dirty="0">
              <a:effectLst/>
              <a:latin typeface="Bahnschrift" panose="020B0502040204020203" pitchFamily="34" charset="0"/>
            </a:endParaRPr>
          </a:p>
          <a:p>
            <a:pPr algn="ctr" rtl="0"/>
            <a:r>
              <a:rPr lang="es-MX" sz="1600" b="0" i="0" dirty="0">
                <a:effectLst/>
                <a:latin typeface="Bahnschrift" panose="020B0502040204020203" pitchFamily="34" charset="0"/>
              </a:rPr>
              <a:t>Materia:</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Estructura de Datos</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Semestre: </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Quinto semestre </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Especialidad:</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Ingeniería en Sistemas Computacionales.</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Nombre del alumno: </a:t>
            </a:r>
            <a:endParaRPr lang="es-MX" sz="1600" dirty="0">
              <a:effectLst/>
              <a:latin typeface="Bahnschrift" panose="020B0502040204020203" pitchFamily="34" charset="0"/>
            </a:endParaRPr>
          </a:p>
          <a:p>
            <a:pPr algn="ctr"/>
            <a:r>
              <a:rPr lang="es-MX" sz="1600" b="0" i="0" dirty="0">
                <a:effectLst/>
                <a:latin typeface="Bahnschrift" panose="020B0502040204020203" pitchFamily="34" charset="0"/>
              </a:rPr>
              <a:t>Cynthia Jasmine Morales Torres/231260014</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Nombre del docente: </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Ing. Francisco Javier Mingo Velázquez</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Nombre del trabajo:</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2.3 ejercicio de recursividad</a:t>
            </a:r>
          </a:p>
          <a:p>
            <a:pPr algn="ctr" rtl="0"/>
            <a:endParaRPr lang="es-MX" sz="1600" dirty="0">
              <a:effectLst/>
              <a:latin typeface="Bahnschrift" panose="020B0502040204020203" pitchFamily="34" charset="0"/>
            </a:endParaRPr>
          </a:p>
          <a:p>
            <a:pPr algn="ctr" rtl="0"/>
            <a:endParaRPr lang="es-MX" sz="1600" dirty="0">
              <a:latin typeface="Bahnschrift" panose="020B0502040204020203" pitchFamily="34" charset="0"/>
            </a:endParaRPr>
          </a:p>
          <a:p>
            <a:pPr algn="ctr" rtl="0"/>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Fecha de entrega:</a:t>
            </a:r>
            <a:endParaRPr lang="es-MX" sz="1600" dirty="0">
              <a:effectLst/>
              <a:latin typeface="Bahnschrift" panose="020B0502040204020203" pitchFamily="34" charset="0"/>
            </a:endParaRPr>
          </a:p>
          <a:p>
            <a:pPr algn="ctr" rtl="0"/>
            <a:r>
              <a:rPr lang="es-MX" sz="1600" b="0" i="0" dirty="0">
                <a:effectLst/>
                <a:latin typeface="Bahnschrift" panose="020B0502040204020203" pitchFamily="34" charset="0"/>
              </a:rPr>
              <a:t>Frontera Comalapa, Chiapas. A </a:t>
            </a:r>
            <a:r>
              <a:rPr lang="es-MX" sz="1600" dirty="0">
                <a:latin typeface="Bahnschrift" panose="020B0502040204020203" pitchFamily="34" charset="0"/>
              </a:rPr>
              <a:t>31</a:t>
            </a:r>
            <a:r>
              <a:rPr lang="es-MX" sz="1600" b="0" i="0" dirty="0">
                <a:effectLst/>
                <a:latin typeface="Bahnschrift" panose="020B0502040204020203" pitchFamily="34" charset="0"/>
              </a:rPr>
              <a:t> de Octubre de 2025</a:t>
            </a:r>
            <a:endParaRPr lang="es-MX" sz="1600" dirty="0">
              <a:effectLst/>
              <a:latin typeface="Bahnschrift" panose="020B0502040204020203" pitchFamily="34" charset="0"/>
            </a:endParaRPr>
          </a:p>
        </p:txBody>
      </p:sp>
      <p:sp>
        <p:nvSpPr>
          <p:cNvPr id="5" name="Freeform 3">
            <a:extLst>
              <a:ext uri="{FF2B5EF4-FFF2-40B4-BE49-F238E27FC236}">
                <a16:creationId xmlns:a16="http://schemas.microsoft.com/office/drawing/2014/main" id="{D212F3A3-E322-2570-6C0B-536EBAABE19B}"/>
              </a:ext>
            </a:extLst>
          </p:cNvPr>
          <p:cNvSpPr/>
          <p:nvPr/>
        </p:nvSpPr>
        <p:spPr>
          <a:xfrm>
            <a:off x="2149354" y="282918"/>
            <a:ext cx="2207213" cy="943199"/>
          </a:xfrm>
          <a:custGeom>
            <a:avLst/>
            <a:gdLst/>
            <a:ahLst/>
            <a:cxnLst/>
            <a:rect l="l" t="t" r="r" b="b"/>
            <a:pathLst>
              <a:path w="2207213" h="943199">
                <a:moveTo>
                  <a:pt x="0" y="0"/>
                </a:moveTo>
                <a:lnTo>
                  <a:pt x="2207213" y="0"/>
                </a:lnTo>
                <a:lnTo>
                  <a:pt x="2207213" y="943198"/>
                </a:lnTo>
                <a:lnTo>
                  <a:pt x="0" y="943198"/>
                </a:lnTo>
                <a:lnTo>
                  <a:pt x="0" y="0"/>
                </a:lnTo>
                <a:close/>
              </a:path>
            </a:pathLst>
          </a:custGeom>
          <a:blipFill>
            <a:blip r:embed="rId2"/>
            <a:stretch>
              <a:fillRect/>
            </a:stretch>
          </a:blipFill>
        </p:spPr>
      </p:sp>
      <p:sp>
        <p:nvSpPr>
          <p:cNvPr id="6" name="Freeform 4">
            <a:extLst>
              <a:ext uri="{FF2B5EF4-FFF2-40B4-BE49-F238E27FC236}">
                <a16:creationId xmlns:a16="http://schemas.microsoft.com/office/drawing/2014/main" id="{13FFFD30-109E-1F69-95B6-97C5FBB127CF}"/>
              </a:ext>
            </a:extLst>
          </p:cNvPr>
          <p:cNvSpPr/>
          <p:nvPr/>
        </p:nvSpPr>
        <p:spPr>
          <a:xfrm>
            <a:off x="8621238" y="282918"/>
            <a:ext cx="1421408" cy="943199"/>
          </a:xfrm>
          <a:custGeom>
            <a:avLst/>
            <a:gdLst/>
            <a:ahLst/>
            <a:cxnLst/>
            <a:rect l="l" t="t" r="r" b="b"/>
            <a:pathLst>
              <a:path w="1421408" h="1163491">
                <a:moveTo>
                  <a:pt x="0" y="0"/>
                </a:moveTo>
                <a:lnTo>
                  <a:pt x="1421408" y="0"/>
                </a:lnTo>
                <a:lnTo>
                  <a:pt x="1421408" y="1163491"/>
                </a:lnTo>
                <a:lnTo>
                  <a:pt x="0" y="1163491"/>
                </a:lnTo>
                <a:lnTo>
                  <a:pt x="0" y="0"/>
                </a:lnTo>
                <a:close/>
              </a:path>
            </a:pathLst>
          </a:custGeom>
          <a:blipFill>
            <a:blip r:embed="rId3"/>
            <a:stretch>
              <a:fillRect/>
            </a:stretch>
          </a:blipFill>
        </p:spPr>
      </p:sp>
      <p:sp>
        <p:nvSpPr>
          <p:cNvPr id="7" name="Freeform 5">
            <a:extLst>
              <a:ext uri="{FF2B5EF4-FFF2-40B4-BE49-F238E27FC236}">
                <a16:creationId xmlns:a16="http://schemas.microsoft.com/office/drawing/2014/main" id="{459EE714-FBD1-D115-A7F1-5374B9398FC0}"/>
              </a:ext>
            </a:extLst>
          </p:cNvPr>
          <p:cNvSpPr/>
          <p:nvPr/>
        </p:nvSpPr>
        <p:spPr>
          <a:xfrm>
            <a:off x="4649462" y="432016"/>
            <a:ext cx="3117507" cy="645001"/>
          </a:xfrm>
          <a:custGeom>
            <a:avLst/>
            <a:gdLst/>
            <a:ahLst/>
            <a:cxnLst/>
            <a:rect l="l" t="t" r="r" b="b"/>
            <a:pathLst>
              <a:path w="3117507" h="645001">
                <a:moveTo>
                  <a:pt x="0" y="0"/>
                </a:moveTo>
                <a:lnTo>
                  <a:pt x="3117506" y="0"/>
                </a:lnTo>
                <a:lnTo>
                  <a:pt x="3117506" y="645002"/>
                </a:lnTo>
                <a:lnTo>
                  <a:pt x="0" y="645002"/>
                </a:lnTo>
                <a:lnTo>
                  <a:pt x="0" y="0"/>
                </a:lnTo>
                <a:close/>
              </a:path>
            </a:pathLst>
          </a:custGeom>
          <a:blipFill>
            <a:blip r:embed="rId4"/>
            <a:stretch>
              <a:fillRect/>
            </a:stretch>
          </a:blipFill>
        </p:spPr>
      </p:sp>
    </p:spTree>
    <p:extLst>
      <p:ext uri="{BB962C8B-B14F-4D97-AF65-F5344CB8AC3E}">
        <p14:creationId xmlns:p14="http://schemas.microsoft.com/office/powerpoint/2010/main" val="2975261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F32F6E-99B0-F5C2-BB54-B84E8FDA009E}"/>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4067DA15-8566-20D1-30CC-CF53200760FB}"/>
              </a:ext>
            </a:extLst>
          </p:cNvPr>
          <p:cNvSpPr>
            <a:spLocks noGrp="1"/>
          </p:cNvSpPr>
          <p:nvPr>
            <p:ph idx="1"/>
          </p:nvPr>
        </p:nvSpPr>
        <p:spPr/>
        <p:txBody>
          <a:bodyPr>
            <a:normAutofit lnSpcReduction="10000"/>
          </a:bodyPr>
          <a:lstStyle/>
          <a:p>
            <a:pPr marL="0" indent="0">
              <a:buNone/>
            </a:pPr>
            <a:r>
              <a:rPr lang="es-MX" dirty="0"/>
              <a:t>La recursividad es un concepto fundamental en la programación que permite resolver problemas dividiéndolos en subproblemas más pequeños del mismo tipo. Comprender su funcionamiento es esencial para el desarrollo de algoritmos eficientes y para el análisis de problemas computacionales complejos.</a:t>
            </a:r>
          </a:p>
          <a:p>
            <a:pPr marL="0" indent="0">
              <a:buNone/>
            </a:pPr>
            <a:r>
              <a:rPr lang="es-MX" dirty="0"/>
              <a:t>En este proyecto se desarrolla una aplicación en </a:t>
            </a:r>
            <a:r>
              <a:rPr lang="es-MX" b="1" dirty="0" err="1"/>
              <a:t>JavaFX</a:t>
            </a:r>
            <a:r>
              <a:rPr lang="es-MX" dirty="0"/>
              <a:t> que tiene como objetivo demostrar el uso de la recursividad a través de ejercicios prácticos y visuales. Mediante una interfaz gráfica amigable, el usuario puede ingresar datos y observar los resultados generados por algoritmos recursivos, fortaleciendo así la comprensión teórica y práctica de este paradigma de programación.</a:t>
            </a:r>
          </a:p>
          <a:p>
            <a:endParaRPr lang="es-MX" dirty="0"/>
          </a:p>
        </p:txBody>
      </p:sp>
    </p:spTree>
    <p:extLst>
      <p:ext uri="{BB962C8B-B14F-4D97-AF65-F5344CB8AC3E}">
        <p14:creationId xmlns:p14="http://schemas.microsoft.com/office/powerpoint/2010/main" val="346114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B79E06-09B4-98B4-09CE-67C81129A5A7}"/>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264C4ACA-E2F0-E427-2B99-2E6EAD785196}"/>
              </a:ext>
            </a:extLst>
          </p:cNvPr>
          <p:cNvSpPr>
            <a:spLocks noGrp="1"/>
          </p:cNvSpPr>
          <p:nvPr>
            <p:ph idx="1"/>
          </p:nvPr>
        </p:nvSpPr>
        <p:spPr/>
        <p:txBody>
          <a:bodyPr/>
          <a:lstStyle/>
          <a:p>
            <a:pPr marL="0" indent="0">
              <a:buNone/>
            </a:pPr>
            <a:r>
              <a:rPr lang="es-MX" dirty="0"/>
              <a:t>Este proyecto es una aplicación </a:t>
            </a:r>
            <a:r>
              <a:rPr lang="es-MX" dirty="0" err="1"/>
              <a:t>JavaFX</a:t>
            </a:r>
            <a:r>
              <a:rPr lang="es-MX" dirty="0"/>
              <a:t> que utiliza recursividad para resolver problemas matemáticos clásicos mediante una interfaz gráfica. Su objetivo principal es facilitar el aprendizaje de la recursividad, aplicando buenas prácticas de programación y donde implementaremos lo visto en clase.</a:t>
            </a:r>
          </a:p>
        </p:txBody>
      </p:sp>
    </p:spTree>
    <p:extLst>
      <p:ext uri="{BB962C8B-B14F-4D97-AF65-F5344CB8AC3E}">
        <p14:creationId xmlns:p14="http://schemas.microsoft.com/office/powerpoint/2010/main" val="3796861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4B16B3-3136-C8A1-F59E-62754AE07AC3}"/>
              </a:ext>
            </a:extLst>
          </p:cNvPr>
          <p:cNvSpPr>
            <a:spLocks noGrp="1"/>
          </p:cNvSpPr>
          <p:nvPr>
            <p:ph type="title"/>
          </p:nvPr>
        </p:nvSpPr>
        <p:spPr/>
        <p:txBody>
          <a:bodyPr/>
          <a:lstStyle/>
          <a:p>
            <a:r>
              <a:rPr lang="es-MX" dirty="0"/>
              <a:t>RECURSIVIDAD</a:t>
            </a:r>
          </a:p>
        </p:txBody>
      </p:sp>
      <p:sp>
        <p:nvSpPr>
          <p:cNvPr id="3" name="Marcador de contenido 2">
            <a:extLst>
              <a:ext uri="{FF2B5EF4-FFF2-40B4-BE49-F238E27FC236}">
                <a16:creationId xmlns:a16="http://schemas.microsoft.com/office/drawing/2014/main" id="{61750D87-69E4-03C2-CAAC-621DD66BD136}"/>
              </a:ext>
            </a:extLst>
          </p:cNvPr>
          <p:cNvSpPr>
            <a:spLocks noGrp="1"/>
          </p:cNvSpPr>
          <p:nvPr>
            <p:ph idx="1"/>
          </p:nvPr>
        </p:nvSpPr>
        <p:spPr>
          <a:xfrm>
            <a:off x="838200" y="1825625"/>
            <a:ext cx="10515600" cy="1184703"/>
          </a:xfrm>
        </p:spPr>
        <p:txBody>
          <a:bodyPr>
            <a:normAutofit/>
          </a:bodyPr>
          <a:lstStyle/>
          <a:p>
            <a:pPr marL="0" indent="0">
              <a:buNone/>
            </a:pPr>
            <a:r>
              <a:rPr lang="es-MX" dirty="0"/>
              <a:t>Este proyecto sirve como una herramienta didáctica y práctica para aprender recursividad en Java, integrándola con interfaces gráficas y buenas prácticas de desarrollo de software.</a:t>
            </a:r>
          </a:p>
        </p:txBody>
      </p:sp>
      <p:sp>
        <p:nvSpPr>
          <p:cNvPr id="5" name="CuadroTexto 4">
            <a:extLst>
              <a:ext uri="{FF2B5EF4-FFF2-40B4-BE49-F238E27FC236}">
                <a16:creationId xmlns:a16="http://schemas.microsoft.com/office/drawing/2014/main" id="{480068BD-7669-0B1A-6CC0-78C38FBFBBB6}"/>
              </a:ext>
            </a:extLst>
          </p:cNvPr>
          <p:cNvSpPr txBox="1"/>
          <p:nvPr/>
        </p:nvSpPr>
        <p:spPr>
          <a:xfrm>
            <a:off x="1045395" y="3429000"/>
            <a:ext cx="7667090" cy="2677656"/>
          </a:xfrm>
          <a:prstGeom prst="rect">
            <a:avLst/>
          </a:prstGeom>
          <a:noFill/>
        </p:spPr>
        <p:txBody>
          <a:bodyPr wrap="square">
            <a:spAutoFit/>
          </a:bodyPr>
          <a:lstStyle/>
          <a:p>
            <a:r>
              <a:rPr lang="es-MX" sz="2400" dirty="0"/>
              <a:t>Las tres clases trabajan juntas para formar una aplicación organizada, donde:</a:t>
            </a:r>
          </a:p>
          <a:p>
            <a:pPr>
              <a:buFont typeface="Arial" panose="020B0604020202020204" pitchFamily="34" charset="0"/>
              <a:buChar char="•"/>
            </a:pPr>
            <a:r>
              <a:rPr lang="es-MX" sz="2400" dirty="0"/>
              <a:t>El </a:t>
            </a:r>
            <a:r>
              <a:rPr lang="es-MX" sz="2400" b="1" dirty="0"/>
              <a:t>menú</a:t>
            </a:r>
            <a:r>
              <a:rPr lang="es-MX" sz="2400" dirty="0"/>
              <a:t> gestiona la navegación.</a:t>
            </a:r>
          </a:p>
          <a:p>
            <a:pPr>
              <a:buFont typeface="Arial" panose="020B0604020202020204" pitchFamily="34" charset="0"/>
              <a:buChar char="•"/>
            </a:pPr>
            <a:r>
              <a:rPr lang="es-MX" sz="2400" dirty="0"/>
              <a:t>Los </a:t>
            </a:r>
            <a:r>
              <a:rPr lang="es-MX" sz="2400" b="1" dirty="0"/>
              <a:t>controladores</a:t>
            </a:r>
            <a:r>
              <a:rPr lang="es-MX" sz="2400" dirty="0"/>
              <a:t> procesan la interacción del usuario.</a:t>
            </a:r>
          </a:p>
          <a:p>
            <a:pPr>
              <a:buFont typeface="Arial" panose="020B0604020202020204" pitchFamily="34" charset="0"/>
              <a:buChar char="•"/>
            </a:pPr>
            <a:r>
              <a:rPr lang="es-MX" sz="2400" dirty="0"/>
              <a:t>Los </a:t>
            </a:r>
            <a:r>
              <a:rPr lang="es-MX" sz="2400" b="1" dirty="0"/>
              <a:t>modelos</a:t>
            </a:r>
            <a:r>
              <a:rPr lang="es-MX" sz="2400" dirty="0"/>
              <a:t> aplican la recursividad.</a:t>
            </a:r>
          </a:p>
          <a:p>
            <a:r>
              <a:rPr lang="es-MX" sz="2400" dirty="0"/>
              <a:t>Esta separación facilita el aprendizaje, mantenimiento y ampliación del proyecto.</a:t>
            </a:r>
          </a:p>
        </p:txBody>
      </p:sp>
    </p:spTree>
    <p:extLst>
      <p:ext uri="{BB962C8B-B14F-4D97-AF65-F5344CB8AC3E}">
        <p14:creationId xmlns:p14="http://schemas.microsoft.com/office/powerpoint/2010/main" val="76786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B0CFF8-1545-1CEE-8C39-4D92E0099DEB}"/>
              </a:ext>
            </a:extLst>
          </p:cNvPr>
          <p:cNvSpPr>
            <a:spLocks noGrp="1"/>
          </p:cNvSpPr>
          <p:nvPr>
            <p:ph type="title"/>
          </p:nvPr>
        </p:nvSpPr>
        <p:spPr/>
        <p:txBody>
          <a:bodyPr/>
          <a:lstStyle/>
          <a:p>
            <a:r>
              <a:rPr lang="es-MX" dirty="0"/>
              <a:t>RESULTADOS AL EJECUTAR</a:t>
            </a:r>
          </a:p>
        </p:txBody>
      </p:sp>
      <p:pic>
        <p:nvPicPr>
          <p:cNvPr id="5" name="Marcador de contenido 4">
            <a:extLst>
              <a:ext uri="{FF2B5EF4-FFF2-40B4-BE49-F238E27FC236}">
                <a16:creationId xmlns:a16="http://schemas.microsoft.com/office/drawing/2014/main" id="{8A81E943-A020-F86A-9906-D9BF69CAF790}"/>
              </a:ext>
            </a:extLst>
          </p:cNvPr>
          <p:cNvPicPr>
            <a:picLocks noGrp="1" noChangeAspect="1"/>
          </p:cNvPicPr>
          <p:nvPr>
            <p:ph idx="1"/>
          </p:nvPr>
        </p:nvPicPr>
        <p:blipFill>
          <a:blip r:embed="rId2"/>
          <a:stretch>
            <a:fillRect/>
          </a:stretch>
        </p:blipFill>
        <p:spPr>
          <a:xfrm>
            <a:off x="6497354" y="1677271"/>
            <a:ext cx="4026510" cy="4351338"/>
          </a:xfrm>
        </p:spPr>
      </p:pic>
      <p:pic>
        <p:nvPicPr>
          <p:cNvPr id="7" name="Imagen 6">
            <a:extLst>
              <a:ext uri="{FF2B5EF4-FFF2-40B4-BE49-F238E27FC236}">
                <a16:creationId xmlns:a16="http://schemas.microsoft.com/office/drawing/2014/main" id="{6435FEDE-3778-ABD6-5622-D8DE7B222F51}"/>
              </a:ext>
            </a:extLst>
          </p:cNvPr>
          <p:cNvPicPr>
            <a:picLocks noChangeAspect="1"/>
          </p:cNvPicPr>
          <p:nvPr/>
        </p:nvPicPr>
        <p:blipFill>
          <a:blip r:embed="rId3"/>
          <a:stretch>
            <a:fillRect/>
          </a:stretch>
        </p:blipFill>
        <p:spPr>
          <a:xfrm>
            <a:off x="838200" y="1690688"/>
            <a:ext cx="4829219" cy="4324503"/>
          </a:xfrm>
          <a:prstGeom prst="rect">
            <a:avLst/>
          </a:prstGeom>
        </p:spPr>
      </p:pic>
    </p:spTree>
    <p:extLst>
      <p:ext uri="{BB962C8B-B14F-4D97-AF65-F5344CB8AC3E}">
        <p14:creationId xmlns:p14="http://schemas.microsoft.com/office/powerpoint/2010/main" val="1045219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1DD40F-1B80-491A-2D76-F7852EB2828E}"/>
              </a:ext>
            </a:extLst>
          </p:cNvPr>
          <p:cNvSpPr>
            <a:spLocks noGrp="1"/>
          </p:cNvSpPr>
          <p:nvPr>
            <p:ph type="title"/>
          </p:nvPr>
        </p:nvSpPr>
        <p:spPr/>
        <p:txBody>
          <a:bodyPr/>
          <a:lstStyle/>
          <a:p>
            <a:endParaRPr lang="es-MX" dirty="0"/>
          </a:p>
        </p:txBody>
      </p:sp>
      <p:pic>
        <p:nvPicPr>
          <p:cNvPr id="5" name="Marcador de contenido 4">
            <a:extLst>
              <a:ext uri="{FF2B5EF4-FFF2-40B4-BE49-F238E27FC236}">
                <a16:creationId xmlns:a16="http://schemas.microsoft.com/office/drawing/2014/main" id="{F08FE407-786F-1718-FE1D-DC2771FB95CE}"/>
              </a:ext>
            </a:extLst>
          </p:cNvPr>
          <p:cNvPicPr>
            <a:picLocks noGrp="1" noChangeAspect="1"/>
          </p:cNvPicPr>
          <p:nvPr>
            <p:ph idx="1"/>
          </p:nvPr>
        </p:nvPicPr>
        <p:blipFill>
          <a:blip r:embed="rId2"/>
          <a:stretch>
            <a:fillRect/>
          </a:stretch>
        </p:blipFill>
        <p:spPr>
          <a:xfrm>
            <a:off x="191827" y="1813475"/>
            <a:ext cx="3578789" cy="3893143"/>
          </a:xfrm>
        </p:spPr>
      </p:pic>
      <p:pic>
        <p:nvPicPr>
          <p:cNvPr id="7" name="Imagen 6">
            <a:extLst>
              <a:ext uri="{FF2B5EF4-FFF2-40B4-BE49-F238E27FC236}">
                <a16:creationId xmlns:a16="http://schemas.microsoft.com/office/drawing/2014/main" id="{60BEE85E-1B00-A57A-1CD1-6673515D7752}"/>
              </a:ext>
            </a:extLst>
          </p:cNvPr>
          <p:cNvPicPr>
            <a:picLocks noChangeAspect="1"/>
          </p:cNvPicPr>
          <p:nvPr/>
        </p:nvPicPr>
        <p:blipFill>
          <a:blip r:embed="rId3"/>
          <a:stretch>
            <a:fillRect/>
          </a:stretch>
        </p:blipFill>
        <p:spPr>
          <a:xfrm>
            <a:off x="4247196" y="1774255"/>
            <a:ext cx="3546821" cy="3893143"/>
          </a:xfrm>
          <a:prstGeom prst="rect">
            <a:avLst/>
          </a:prstGeom>
        </p:spPr>
      </p:pic>
      <p:pic>
        <p:nvPicPr>
          <p:cNvPr id="9" name="Imagen 8">
            <a:extLst>
              <a:ext uri="{FF2B5EF4-FFF2-40B4-BE49-F238E27FC236}">
                <a16:creationId xmlns:a16="http://schemas.microsoft.com/office/drawing/2014/main" id="{925DC5BB-85A8-510C-CB8E-F053CA909164}"/>
              </a:ext>
            </a:extLst>
          </p:cNvPr>
          <p:cNvPicPr>
            <a:picLocks noChangeAspect="1"/>
          </p:cNvPicPr>
          <p:nvPr/>
        </p:nvPicPr>
        <p:blipFill>
          <a:blip r:embed="rId4"/>
          <a:stretch>
            <a:fillRect/>
          </a:stretch>
        </p:blipFill>
        <p:spPr>
          <a:xfrm>
            <a:off x="8146711" y="1774254"/>
            <a:ext cx="3567206" cy="3893143"/>
          </a:xfrm>
          <a:prstGeom prst="rect">
            <a:avLst/>
          </a:prstGeom>
        </p:spPr>
      </p:pic>
    </p:spTree>
    <p:extLst>
      <p:ext uri="{BB962C8B-B14F-4D97-AF65-F5344CB8AC3E}">
        <p14:creationId xmlns:p14="http://schemas.microsoft.com/office/powerpoint/2010/main" val="2091116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180E78-7402-1255-32F5-CD32F3608AC8}"/>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6EFA63E4-51A3-9BA0-6BA3-E92B16E441EE}"/>
              </a:ext>
            </a:extLst>
          </p:cNvPr>
          <p:cNvSpPr>
            <a:spLocks noGrp="1"/>
          </p:cNvSpPr>
          <p:nvPr>
            <p:ph idx="1"/>
          </p:nvPr>
        </p:nvSpPr>
        <p:spPr/>
        <p:txBody>
          <a:bodyPr>
            <a:normAutofit fontScale="92500" lnSpcReduction="10000"/>
          </a:bodyPr>
          <a:lstStyle/>
          <a:p>
            <a:pPr marL="0" indent="0">
              <a:buNone/>
            </a:pPr>
            <a:r>
              <a:rPr lang="es-MX" dirty="0"/>
              <a:t>En conclusión, el proyecto desarrollado cumple con el objetivo de demostrar de manera clara y funcional el uso de la </a:t>
            </a:r>
            <a:r>
              <a:rPr lang="es-MX" b="1" dirty="0"/>
              <a:t>recursividad en Java</a:t>
            </a:r>
            <a:r>
              <a:rPr lang="es-MX" dirty="0"/>
              <a:t> a través de una aplicación gráfica. La implementación de ejercicios como el factorial, Fibonacci y la suma recursiva permite observar el comportamiento de los métodos recursivos de forma práctica.</a:t>
            </a:r>
          </a:p>
          <a:p>
            <a:pPr marL="0" indent="0">
              <a:buNone/>
            </a:pPr>
            <a:r>
              <a:rPr lang="es-MX" dirty="0"/>
              <a:t>El uso de </a:t>
            </a:r>
            <a:r>
              <a:rPr lang="es-MX" dirty="0" err="1"/>
              <a:t>JavaFX</a:t>
            </a:r>
            <a:r>
              <a:rPr lang="es-MX" dirty="0"/>
              <a:t> y la estructura MVC aportan orden, claridad y escalabilidad al sistema, además de promover buenas prácticas de programación. Este trabajo refuerza los conocimientos adquiridos en clase y sirve como base para futuros proyectos que requieran el uso de algoritmos, interfaces gráficas y estructuras de programación avanzadas.</a:t>
            </a:r>
          </a:p>
          <a:p>
            <a:pPr marL="0" indent="0">
              <a:buNone/>
            </a:pPr>
            <a:endParaRPr lang="es-MX" dirty="0"/>
          </a:p>
        </p:txBody>
      </p:sp>
    </p:spTree>
    <p:extLst>
      <p:ext uri="{BB962C8B-B14F-4D97-AF65-F5344CB8AC3E}">
        <p14:creationId xmlns:p14="http://schemas.microsoft.com/office/powerpoint/2010/main" val="2269553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7B7586-2869-A2F4-3A33-87B6359477FC}"/>
              </a:ext>
            </a:extLst>
          </p:cNvPr>
          <p:cNvSpPr>
            <a:spLocks noGrp="1"/>
          </p:cNvSpPr>
          <p:nvPr>
            <p:ph type="title"/>
          </p:nvPr>
        </p:nvSpPr>
        <p:spPr/>
        <p:txBody>
          <a:bodyPr/>
          <a:lstStyle/>
          <a:p>
            <a:r>
              <a:rPr lang="es-MX" dirty="0"/>
              <a:t>Anexo link de </a:t>
            </a:r>
            <a:r>
              <a:rPr lang="es-MX" dirty="0" err="1"/>
              <a:t>git</a:t>
            </a:r>
            <a:r>
              <a:rPr lang="es-MX" dirty="0"/>
              <a:t> </a:t>
            </a:r>
            <a:r>
              <a:rPr lang="es-MX" dirty="0" err="1"/>
              <a:t>hub</a:t>
            </a:r>
            <a:r>
              <a:rPr lang="es-MX" dirty="0"/>
              <a:t> del ejercicio solicitado</a:t>
            </a:r>
          </a:p>
        </p:txBody>
      </p:sp>
      <p:sp>
        <p:nvSpPr>
          <p:cNvPr id="3" name="Marcador de contenido 2">
            <a:extLst>
              <a:ext uri="{FF2B5EF4-FFF2-40B4-BE49-F238E27FC236}">
                <a16:creationId xmlns:a16="http://schemas.microsoft.com/office/drawing/2014/main" id="{19EECB92-B3D4-B912-A674-BCAEF33A7EA3}"/>
              </a:ext>
            </a:extLst>
          </p:cNvPr>
          <p:cNvSpPr>
            <a:spLocks noGrp="1"/>
          </p:cNvSpPr>
          <p:nvPr>
            <p:ph idx="1"/>
          </p:nvPr>
        </p:nvSpPr>
        <p:spPr>
          <a:xfrm>
            <a:off x="913775" y="2367094"/>
            <a:ext cx="10364452" cy="838444"/>
          </a:xfrm>
        </p:spPr>
        <p:txBody>
          <a:bodyPr/>
          <a:lstStyle/>
          <a:p>
            <a:pPr marL="0" indent="0">
              <a:buNone/>
            </a:pPr>
            <a:r>
              <a:rPr lang="es-MX" dirty="0">
                <a:hlinkClick r:id="rId2"/>
              </a:rPr>
              <a:t>https://github.com/Cynthia21Morales/EstructuraDeDatos_CynthiaJasmineMT/tree/main/ED-Tema-2/Recursivida</a:t>
            </a:r>
          </a:p>
        </p:txBody>
      </p:sp>
    </p:spTree>
    <p:extLst>
      <p:ext uri="{BB962C8B-B14F-4D97-AF65-F5344CB8AC3E}">
        <p14:creationId xmlns:p14="http://schemas.microsoft.com/office/powerpoint/2010/main" val="3532146428"/>
      </p:ext>
    </p:extLst>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Gota</Template>
  <TotalTime>34</TotalTime>
  <Words>428</Words>
  <Application>Microsoft Office PowerPoint</Application>
  <PresentationFormat>Panorámica</PresentationFormat>
  <Paragraphs>38</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Bahnschrift</vt:lpstr>
      <vt:lpstr>Tw Cen MT</vt:lpstr>
      <vt:lpstr>Gota</vt:lpstr>
      <vt:lpstr>Presentación de PowerPoint</vt:lpstr>
      <vt:lpstr>Introducción </vt:lpstr>
      <vt:lpstr>Justificación </vt:lpstr>
      <vt:lpstr>RECURSIVIDAD</vt:lpstr>
      <vt:lpstr>RESULTADOS AL EJECUTAR</vt:lpstr>
      <vt:lpstr>Presentación de PowerPoint</vt:lpstr>
      <vt:lpstr>Conclusión </vt:lpstr>
      <vt:lpstr>Anexo link de git hub del ejercicio solicitado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2</cp:revision>
  <dcterms:created xsi:type="dcterms:W3CDTF">2025-12-14T21:39:35Z</dcterms:created>
  <dcterms:modified xsi:type="dcterms:W3CDTF">2025-12-14T22:15:36Z</dcterms:modified>
</cp:coreProperties>
</file>