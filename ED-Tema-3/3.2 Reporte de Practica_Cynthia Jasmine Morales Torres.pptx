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9" r:id="rId1"/>
  </p:sldMasterIdLst>
  <p:sldIdLst>
    <p:sldId id="256" r:id="rId2"/>
    <p:sldId id="260" r:id="rId3"/>
    <p:sldId id="262" r:id="rId4"/>
    <p:sldId id="263" r:id="rId5"/>
    <p:sldId id="264" r:id="rId6"/>
    <p:sldId id="265" r:id="rId7"/>
    <p:sldId id="266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1880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8969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59075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72581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98572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78646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2751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86080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94443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69460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010266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425806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2694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3604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16512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196986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94500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72A63ED-A474-4EED-92B8-EA8361CA006A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99812ABE-3F6D-41E4-B6D6-D891A490F4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133390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  <p:sldLayoutId id="2147483801" r:id="rId12"/>
    <p:sldLayoutId id="2147483802" r:id="rId13"/>
    <p:sldLayoutId id="2147483803" r:id="rId14"/>
    <p:sldLayoutId id="2147483804" r:id="rId15"/>
    <p:sldLayoutId id="2147483805" r:id="rId16"/>
    <p:sldLayoutId id="214748380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3E5793E7-32E5-ACDF-0A9A-437A405C47C9}"/>
              </a:ext>
            </a:extLst>
          </p:cNvPr>
          <p:cNvSpPr txBox="1"/>
          <p:nvPr/>
        </p:nvSpPr>
        <p:spPr>
          <a:xfrm>
            <a:off x="3047144" y="1692989"/>
            <a:ext cx="609771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Instituto Tecnológico de Frontera Comalapa</a:t>
            </a:r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Modalidad Mixta</a:t>
            </a:r>
          </a:p>
          <a:p>
            <a:pPr algn="ctr" rtl="0"/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Materia: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Estructura de Datos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Semestre: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Quinto semestre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Especialidad: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Ingeniería en Sistemas Computacionales.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alumno: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/>
            <a:r>
              <a:rPr lang="es-MX" sz="1600" b="0" i="0" dirty="0">
                <a:effectLst/>
                <a:latin typeface="Bahnschrift" panose="020B0502040204020203" pitchFamily="34" charset="0"/>
              </a:rPr>
              <a:t>Cynthia Jasmine Morales Torres/231260014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docente: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Ing. Francisco Javier Mingo Velázquez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trabajo: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3.2 REPORTE DE PRACTICA</a:t>
            </a: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Fecha de entrega: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Frontera Comalapa, Chiapas. A </a:t>
            </a:r>
            <a:r>
              <a:rPr lang="es-MX" sz="1600" dirty="0">
                <a:latin typeface="Bahnschrift" panose="020B0502040204020203" pitchFamily="34" charset="0"/>
              </a:rPr>
              <a:t>12</a:t>
            </a:r>
            <a:r>
              <a:rPr lang="es-MX" sz="1600" b="0" i="0" dirty="0">
                <a:effectLst/>
                <a:latin typeface="Bahnschrift" panose="020B0502040204020203" pitchFamily="34" charset="0"/>
              </a:rPr>
              <a:t> de noviembre de 2025</a:t>
            </a:r>
            <a:endParaRPr lang="es-MX" sz="1600" dirty="0">
              <a:effectLst/>
              <a:latin typeface="Bahnschrift" panose="020B0502040204020203" pitchFamily="34" charset="0"/>
            </a:endParaRP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DC34335D-5D13-7AD4-2A80-01B7CEB108CA}"/>
              </a:ext>
            </a:extLst>
          </p:cNvPr>
          <p:cNvSpPr/>
          <p:nvPr/>
        </p:nvSpPr>
        <p:spPr>
          <a:xfrm>
            <a:off x="2149354" y="282918"/>
            <a:ext cx="2207213" cy="943199"/>
          </a:xfrm>
          <a:custGeom>
            <a:avLst/>
            <a:gdLst/>
            <a:ahLst/>
            <a:cxnLst/>
            <a:rect l="l" t="t" r="r" b="b"/>
            <a:pathLst>
              <a:path w="2207213" h="943199">
                <a:moveTo>
                  <a:pt x="0" y="0"/>
                </a:moveTo>
                <a:lnTo>
                  <a:pt x="2207213" y="0"/>
                </a:lnTo>
                <a:lnTo>
                  <a:pt x="2207213" y="943198"/>
                </a:lnTo>
                <a:lnTo>
                  <a:pt x="0" y="9431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55B97E20-BC9A-0F10-1E1F-83BF254722DC}"/>
              </a:ext>
            </a:extLst>
          </p:cNvPr>
          <p:cNvSpPr/>
          <p:nvPr/>
        </p:nvSpPr>
        <p:spPr>
          <a:xfrm>
            <a:off x="8621238" y="282918"/>
            <a:ext cx="1421408" cy="943199"/>
          </a:xfrm>
          <a:custGeom>
            <a:avLst/>
            <a:gdLst/>
            <a:ahLst/>
            <a:cxnLst/>
            <a:rect l="l" t="t" r="r" b="b"/>
            <a:pathLst>
              <a:path w="1421408" h="1163491">
                <a:moveTo>
                  <a:pt x="0" y="0"/>
                </a:moveTo>
                <a:lnTo>
                  <a:pt x="1421408" y="0"/>
                </a:lnTo>
                <a:lnTo>
                  <a:pt x="1421408" y="1163491"/>
                </a:lnTo>
                <a:lnTo>
                  <a:pt x="0" y="11634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226D117C-9FE2-12AC-B607-400B85D7FFF4}"/>
              </a:ext>
            </a:extLst>
          </p:cNvPr>
          <p:cNvSpPr/>
          <p:nvPr/>
        </p:nvSpPr>
        <p:spPr>
          <a:xfrm>
            <a:off x="4649462" y="432016"/>
            <a:ext cx="3117507" cy="645001"/>
          </a:xfrm>
          <a:custGeom>
            <a:avLst/>
            <a:gdLst/>
            <a:ahLst/>
            <a:cxnLst/>
            <a:rect l="l" t="t" r="r" b="b"/>
            <a:pathLst>
              <a:path w="3117507" h="645001">
                <a:moveTo>
                  <a:pt x="0" y="0"/>
                </a:moveTo>
                <a:lnTo>
                  <a:pt x="3117506" y="0"/>
                </a:lnTo>
                <a:lnTo>
                  <a:pt x="3117506" y="645002"/>
                </a:lnTo>
                <a:lnTo>
                  <a:pt x="0" y="6450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325238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54AC49-7C64-5AC9-7489-7CF042B89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0" y="182460"/>
            <a:ext cx="3719245" cy="1507067"/>
          </a:xfrm>
        </p:spPr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B2FC07-7DC8-B8F4-C11E-B67945934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800" y="2031715"/>
            <a:ext cx="8534400" cy="361526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Las </a:t>
            </a:r>
            <a:r>
              <a:rPr lang="es-MX" b="1" dirty="0"/>
              <a:t>estructuras lineales</a:t>
            </a:r>
            <a:r>
              <a:rPr lang="es-MX" dirty="0"/>
              <a:t> son un concepto fundamental en la programación y en la informática, ya que permiten organizar y almacenar datos de manera secuencial, siguiendo un orden específico. En estas estructuras, cada elemento tiene un </a:t>
            </a:r>
            <a:r>
              <a:rPr lang="es-MX" b="1" dirty="0"/>
              <a:t>predecesor y un sucesor</a:t>
            </a:r>
            <a:r>
              <a:rPr lang="es-MX" dirty="0"/>
              <a:t>, lo que facilita la inserción, eliminación y recorrido de los datos. Entre las estructuras lineales más comunes se encuentran las </a:t>
            </a:r>
            <a:r>
              <a:rPr lang="es-MX" b="1" dirty="0"/>
              <a:t>listas</a:t>
            </a:r>
            <a:r>
              <a:rPr lang="es-MX" dirty="0"/>
              <a:t>, las </a:t>
            </a:r>
            <a:r>
              <a:rPr lang="es-MX" b="1" dirty="0"/>
              <a:t>colas</a:t>
            </a:r>
            <a:r>
              <a:rPr lang="es-MX" dirty="0"/>
              <a:t> y las </a:t>
            </a:r>
            <a:r>
              <a:rPr lang="es-MX" b="1" dirty="0"/>
              <a:t>pilas</a:t>
            </a:r>
            <a:r>
              <a:rPr lang="es-MX" dirty="0"/>
              <a:t>, cada una con características particulares que las hacen útiles según el tipo de problema que se desea resolver. Comprender las estructuras lineales es esencial para desarrollar algoritmos eficientes y optimizar el manejo de información en cualquier sistema o aplicación.</a:t>
            </a:r>
          </a:p>
        </p:txBody>
      </p:sp>
    </p:spTree>
    <p:extLst>
      <p:ext uri="{BB962C8B-B14F-4D97-AF65-F5344CB8AC3E}">
        <p14:creationId xmlns:p14="http://schemas.microsoft.com/office/powerpoint/2010/main" val="643240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175AC9-350A-2DD1-F34B-F00C873F8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80" y="233831"/>
            <a:ext cx="8534400" cy="1507067"/>
          </a:xfrm>
        </p:spPr>
        <p:txBody>
          <a:bodyPr/>
          <a:lstStyle/>
          <a:p>
            <a:r>
              <a:rPr lang="es-MX" dirty="0"/>
              <a:t>Estructuras lineales 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2F4CCF9-70F8-05DA-8EEE-94C7A341D2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11074" y="1740898"/>
            <a:ext cx="5552326" cy="3722453"/>
          </a:xfr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632DF03-F843-7BA6-AE3C-11CC238D8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778" y="120659"/>
            <a:ext cx="2650372" cy="282047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2DCF680D-EA12-20F5-A706-C39D9D959F41}"/>
              </a:ext>
            </a:extLst>
          </p:cNvPr>
          <p:cNvSpPr txBox="1"/>
          <p:nvPr/>
        </p:nvSpPr>
        <p:spPr>
          <a:xfrm>
            <a:off x="670389" y="1989729"/>
            <a:ext cx="610798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Cada estructura de datos cuenta con: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Una </a:t>
            </a:r>
            <a:r>
              <a:rPr lang="es-MX" b="1" dirty="0"/>
              <a:t>clase lógica</a:t>
            </a:r>
            <a:r>
              <a:rPr lang="es-MX" dirty="0"/>
              <a:t> (Pila, Cola o Lista)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Un </a:t>
            </a:r>
            <a:r>
              <a:rPr lang="es-MX" b="1" dirty="0" err="1"/>
              <a:t>Controller</a:t>
            </a:r>
            <a:r>
              <a:rPr lang="es-MX" dirty="0"/>
              <a:t>, que ejecuta los métodos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Una </a:t>
            </a:r>
            <a:r>
              <a:rPr lang="es-MX" b="1" dirty="0"/>
              <a:t>Vista (FXML)</a:t>
            </a:r>
            <a:r>
              <a:rPr lang="es-MX" dirty="0"/>
              <a:t>, que permite la interacción del usuario</a:t>
            </a:r>
          </a:p>
          <a:p>
            <a:r>
              <a:rPr lang="es-MX" dirty="0"/>
              <a:t>Esta separación permite un diseño ordenado, facilitando la comprensión del código, su mantenimiento y futuras ampliaciones.</a:t>
            </a:r>
          </a:p>
        </p:txBody>
      </p:sp>
    </p:spTree>
    <p:extLst>
      <p:ext uri="{BB962C8B-B14F-4D97-AF65-F5344CB8AC3E}">
        <p14:creationId xmlns:p14="http://schemas.microsoft.com/office/powerpoint/2010/main" val="805775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6BA36-7950-16C6-4460-05D59BAFD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76" y="78840"/>
            <a:ext cx="2695985" cy="1082140"/>
          </a:xfrm>
        </p:spPr>
        <p:txBody>
          <a:bodyPr/>
          <a:lstStyle/>
          <a:p>
            <a:r>
              <a:rPr lang="es-MX" dirty="0"/>
              <a:t>PILA (FIFO)</a:t>
            </a:r>
          </a:p>
        </p:txBody>
      </p:sp>
      <p:pic>
        <p:nvPicPr>
          <p:cNvPr id="4" name="Marcador de contenido 4">
            <a:extLst>
              <a:ext uri="{FF2B5EF4-FFF2-40B4-BE49-F238E27FC236}">
                <a16:creationId xmlns:a16="http://schemas.microsoft.com/office/drawing/2014/main" id="{74D342FB-6653-E21B-FB35-1B2E85D8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50973" y="3369638"/>
            <a:ext cx="3131314" cy="332586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5488D94-AFF1-5AAA-A32B-EF9331935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68" y="1238140"/>
            <a:ext cx="5175745" cy="526200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727EF41D-C452-1BEF-7076-64D43DE3BCE8}"/>
              </a:ext>
            </a:extLst>
          </p:cNvPr>
          <p:cNvSpPr txBox="1"/>
          <p:nvPr/>
        </p:nvSpPr>
        <p:spPr>
          <a:xfrm>
            <a:off x="6945329" y="1160980"/>
            <a:ext cx="494260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solidFill>
                  <a:schemeClr val="bg1"/>
                </a:solidFill>
              </a:rPr>
              <a:t>La </a:t>
            </a:r>
            <a:r>
              <a:rPr lang="es-MX" b="1" dirty="0">
                <a:solidFill>
                  <a:schemeClr val="bg1"/>
                </a:solidFill>
              </a:rPr>
              <a:t>clase Pila</a:t>
            </a:r>
            <a:r>
              <a:rPr lang="es-MX" dirty="0">
                <a:solidFill>
                  <a:schemeClr val="bg1"/>
                </a:solidFill>
              </a:rPr>
              <a:t> implementa una estructura LIFO, donde el último elemento agregado es el primero en eliminarse. En el código, la pila permite apilar y </a:t>
            </a:r>
            <a:r>
              <a:rPr lang="es-MX" dirty="0" err="1">
                <a:solidFill>
                  <a:schemeClr val="bg1"/>
                </a:solidFill>
              </a:rPr>
              <a:t>desapilar</a:t>
            </a:r>
            <a:r>
              <a:rPr lang="es-MX" dirty="0">
                <a:solidFill>
                  <a:schemeClr val="bg1"/>
                </a:solidFill>
              </a:rPr>
              <a:t> datos ingresados por el usuario desde la interfaz gráfica, mostrando el resultado de cada operación.</a:t>
            </a:r>
          </a:p>
        </p:txBody>
      </p:sp>
    </p:spTree>
    <p:extLst>
      <p:ext uri="{BB962C8B-B14F-4D97-AF65-F5344CB8AC3E}">
        <p14:creationId xmlns:p14="http://schemas.microsoft.com/office/powerpoint/2010/main" val="3508595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F30BAC-4BAC-B731-5C62-43507AB1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45" y="0"/>
            <a:ext cx="3148049" cy="836772"/>
          </a:xfrm>
        </p:spPr>
        <p:txBody>
          <a:bodyPr/>
          <a:lstStyle/>
          <a:p>
            <a:r>
              <a:rPr lang="es-MX" dirty="0"/>
              <a:t>COLA (FIFO)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5FAAE37-B0E7-9DB9-073B-14369421C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021" y="942654"/>
            <a:ext cx="5316282" cy="5592024"/>
          </a:xfr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BA0F847-BC66-5660-0022-6461A4111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8089" y="3269557"/>
            <a:ext cx="3344711" cy="3337722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7870680B-CC7E-A888-3750-3473573937D2}"/>
              </a:ext>
            </a:extLst>
          </p:cNvPr>
          <p:cNvSpPr txBox="1"/>
          <p:nvPr/>
        </p:nvSpPr>
        <p:spPr>
          <a:xfrm>
            <a:off x="7366570" y="942654"/>
            <a:ext cx="431390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solidFill>
                  <a:schemeClr val="bg1"/>
                </a:solidFill>
              </a:rPr>
              <a:t>La </a:t>
            </a:r>
            <a:r>
              <a:rPr lang="es-MX" b="1" dirty="0">
                <a:solidFill>
                  <a:schemeClr val="bg1"/>
                </a:solidFill>
              </a:rPr>
              <a:t>clase Cola</a:t>
            </a:r>
            <a:r>
              <a:rPr lang="es-MX" dirty="0">
                <a:solidFill>
                  <a:schemeClr val="bg1"/>
                </a:solidFill>
              </a:rPr>
              <a:t> implementa una estructura FIFO, en la cual el primer elemento en entrar es el primero en salir. El código permite encolar y desencolar elementos, manteniendo el orden de llegada y reflejando los cambios en pantalla.</a:t>
            </a:r>
          </a:p>
        </p:txBody>
      </p:sp>
    </p:spTree>
    <p:extLst>
      <p:ext uri="{BB962C8B-B14F-4D97-AF65-F5344CB8AC3E}">
        <p14:creationId xmlns:p14="http://schemas.microsoft.com/office/powerpoint/2010/main" val="679168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6E0E6A-8B6F-6715-3099-AA9C90F3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520" y="0"/>
            <a:ext cx="1319249" cy="670295"/>
          </a:xfrm>
        </p:spPr>
        <p:txBody>
          <a:bodyPr/>
          <a:lstStyle/>
          <a:p>
            <a:r>
              <a:rPr lang="es-MX" dirty="0"/>
              <a:t>LISTA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76CDEA9-80BB-1B6A-7926-7DDB2730BD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529" y="872593"/>
            <a:ext cx="6880624" cy="5773951"/>
          </a:xfr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33DC3A8-21E3-D243-E9C0-33405D69C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1264" y="3284638"/>
            <a:ext cx="3171824" cy="342423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1358DF7-7715-C8B4-97DC-F4F973141E3F}"/>
              </a:ext>
            </a:extLst>
          </p:cNvPr>
          <p:cNvSpPr txBox="1"/>
          <p:nvPr/>
        </p:nvSpPr>
        <p:spPr>
          <a:xfrm>
            <a:off x="8071264" y="422316"/>
            <a:ext cx="362843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solidFill>
                  <a:schemeClr val="bg1"/>
                </a:solidFill>
              </a:rPr>
              <a:t>La </a:t>
            </a:r>
            <a:r>
              <a:rPr lang="es-MX" b="1" dirty="0">
                <a:solidFill>
                  <a:schemeClr val="bg1"/>
                </a:solidFill>
              </a:rPr>
              <a:t>clase Lista</a:t>
            </a:r>
            <a:r>
              <a:rPr lang="es-MX" dirty="0">
                <a:solidFill>
                  <a:schemeClr val="bg1"/>
                </a:solidFill>
              </a:rPr>
              <a:t> representa una estructura lineal flexible que permite agregar y eliminar elementos sin un orden estricto. El usuario puede modificar la lista dinámicamente y visualizar los resultados de cada acción.</a:t>
            </a:r>
          </a:p>
        </p:txBody>
      </p:sp>
    </p:spTree>
    <p:extLst>
      <p:ext uri="{BB962C8B-B14F-4D97-AF65-F5344CB8AC3E}">
        <p14:creationId xmlns:p14="http://schemas.microsoft.com/office/powerpoint/2010/main" val="2609618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F307A-08A8-0BC1-794F-837BAE347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344089"/>
            <a:ext cx="8534400" cy="1507067"/>
          </a:xfrm>
        </p:spPr>
        <p:txBody>
          <a:bodyPr/>
          <a:lstStyle/>
          <a:p>
            <a:r>
              <a:rPr lang="es-MX" dirty="0"/>
              <a:t>Pantallas finales</a:t>
            </a:r>
          </a:p>
        </p:txBody>
      </p:sp>
      <p:pic>
        <p:nvPicPr>
          <p:cNvPr id="4" name="Marcador de contenido 4">
            <a:extLst>
              <a:ext uri="{FF2B5EF4-FFF2-40B4-BE49-F238E27FC236}">
                <a16:creationId xmlns:a16="http://schemas.microsoft.com/office/drawing/2014/main" id="{14200D4C-AB8B-355A-B98F-5AD073D1E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9" y="1582608"/>
            <a:ext cx="3223933" cy="342423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2D190D3-6BC3-E813-87BF-39110675CB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5843" y="1582608"/>
            <a:ext cx="3431407" cy="342423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C3BC67E-26A1-56C7-7C81-32E3020DD5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9500" y="1582608"/>
            <a:ext cx="3171824" cy="342423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904BAB07-5AEA-7EEB-F81D-A336CAA30094}"/>
              </a:ext>
            </a:extLst>
          </p:cNvPr>
          <p:cNvSpPr txBox="1"/>
          <p:nvPr/>
        </p:nvSpPr>
        <p:spPr>
          <a:xfrm>
            <a:off x="3042007" y="5275392"/>
            <a:ext cx="6107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solidFill>
                  <a:schemeClr val="bg1"/>
                </a:solidFill>
              </a:rPr>
              <a:t>Cada estructura está conectada a su respectivo controlador y vista, lo que permite una interacción sencilla entre el usuario y el código.</a:t>
            </a:r>
          </a:p>
        </p:txBody>
      </p:sp>
    </p:spTree>
    <p:extLst>
      <p:ext uri="{BB962C8B-B14F-4D97-AF65-F5344CB8AC3E}">
        <p14:creationId xmlns:p14="http://schemas.microsoft.com/office/powerpoint/2010/main" val="999510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849591-7302-12F4-4208-E4D21D766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2059" y="59076"/>
            <a:ext cx="8534400" cy="1507067"/>
          </a:xfrm>
        </p:spPr>
        <p:txBody>
          <a:bodyPr/>
          <a:lstStyle/>
          <a:p>
            <a:r>
              <a:rPr lang="es-MX" dirty="0"/>
              <a:t>Conclusión 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3C1E499-3082-0BA6-3B19-841253881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1484" y="1621366"/>
            <a:ext cx="8534400" cy="361526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Este código demuestra el funcionamiento de las estructuras lineales pila, cola y lista mediante interfaces gráficas en </a:t>
            </a:r>
            <a:r>
              <a:rPr lang="es-MX" dirty="0" err="1"/>
              <a:t>JavaFX</a:t>
            </a:r>
            <a:r>
              <a:rPr lang="es-MX" dirty="0"/>
              <a:t>. Cada estructura se implementa en una clase independiente, lo que permite respetar su comportamiento específico. De forma similar a la recursividad, cada operación tiene condiciones de control que evitan errores y aseguran un flujo correcto de ejecución.</a:t>
            </a:r>
          </a:p>
        </p:txBody>
      </p:sp>
    </p:spTree>
    <p:extLst>
      <p:ext uri="{BB962C8B-B14F-4D97-AF65-F5344CB8AC3E}">
        <p14:creationId xmlns:p14="http://schemas.microsoft.com/office/powerpoint/2010/main" val="3541858479"/>
      </p:ext>
    </p:extLst>
  </p:cSld>
  <p:clrMapOvr>
    <a:masterClrMapping/>
  </p:clrMapOvr>
</p:sld>
</file>

<file path=ppt/theme/theme1.xml><?xml version="1.0" encoding="utf-8"?>
<a:theme xmlns:a="http://schemas.openxmlformats.org/drawingml/2006/main" name="Sector">
  <a:themeElements>
    <a:clrScheme name="Sector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ctor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ctor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134</TotalTime>
  <Words>457</Words>
  <Application>Microsoft Office PowerPoint</Application>
  <PresentationFormat>Panorámica</PresentationFormat>
  <Paragraphs>38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Bahnschrift</vt:lpstr>
      <vt:lpstr>Century Gothic</vt:lpstr>
      <vt:lpstr>Wingdings 3</vt:lpstr>
      <vt:lpstr>Sector</vt:lpstr>
      <vt:lpstr>Presentación de PowerPoint</vt:lpstr>
      <vt:lpstr>Introducción </vt:lpstr>
      <vt:lpstr>Estructuras lineales </vt:lpstr>
      <vt:lpstr>PILA (FIFO)</vt:lpstr>
      <vt:lpstr>COLA (FIFO)</vt:lpstr>
      <vt:lpstr>LISTA</vt:lpstr>
      <vt:lpstr>Pantallas finales</vt:lpstr>
      <vt:lpstr>Conclusión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4</cp:revision>
  <dcterms:created xsi:type="dcterms:W3CDTF">2025-11-25T18:10:59Z</dcterms:created>
  <dcterms:modified xsi:type="dcterms:W3CDTF">2025-12-14T23:47:37Z</dcterms:modified>
</cp:coreProperties>
</file>