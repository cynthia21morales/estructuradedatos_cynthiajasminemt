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9" r:id="rId1"/>
  </p:sldMasterIdLst>
  <p:sldIdLst>
    <p:sldId id="256" r:id="rId2"/>
    <p:sldId id="258" r:id="rId3"/>
    <p:sldId id="259" r:id="rId4"/>
    <p:sldId id="260" r:id="rId5"/>
    <p:sldId id="261" r:id="rId6"/>
    <p:sldId id="257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2" d="100"/>
          <a:sy n="62" d="100"/>
        </p:scale>
        <p:origin x="804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838160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06385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369455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046403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2869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49429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82994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4686704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92175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5619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7836654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568438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766538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793677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7090644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3104439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8159680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FB655BF-CC47-6209-6EFF-0E01B0702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1CF9762-01FB-3F88-C5A8-84369D01E2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F0F4DE3-5DEA-BBE0-5945-9090243BF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1CCF981-E710-9B44-770F-2A169CC0C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74C01139-ACDD-DBB0-9896-49EAF7988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2934779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49B4709-7BFD-406A-B4EE-60160F38B9ED}" type="datetimeFigureOut">
              <a:rPr lang="es-MX" smtClean="0"/>
              <a:t>14/12/2025</a:t>
            </a:fld>
            <a:endParaRPr lang="es-MX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5ABCF574-1864-43F1-B6B4-B938CD32AC2B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853324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81" r:id="rId2"/>
    <p:sldLayoutId id="2147483682" r:id="rId3"/>
    <p:sldLayoutId id="2147483683" r:id="rId4"/>
    <p:sldLayoutId id="2147483684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0" r:id="rId11"/>
    <p:sldLayoutId id="2147483691" r:id="rId12"/>
    <p:sldLayoutId id="2147483692" r:id="rId13"/>
    <p:sldLayoutId id="2147483693" r:id="rId14"/>
    <p:sldLayoutId id="2147483694" r:id="rId15"/>
    <p:sldLayoutId id="2147483695" r:id="rId16"/>
    <p:sldLayoutId id="2147483696" r:id="rId17"/>
    <p:sldLayoutId id="214748369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ynthia21Morales/EstructuraDeDatos_CynthiaJasmineMT/tree/main/ED-Tema-3/EstructurasLineales1" TargetMode="Externa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3D6AAE98-E4C1-B833-701B-98F7CFB2C115}"/>
              </a:ext>
            </a:extLst>
          </p:cNvPr>
          <p:cNvSpPr txBox="1"/>
          <p:nvPr/>
        </p:nvSpPr>
        <p:spPr>
          <a:xfrm>
            <a:off x="3047144" y="1692989"/>
            <a:ext cx="6097712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Instituto Tecnológico de Frontera Comalapa</a:t>
            </a:r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1" i="0" dirty="0">
                <a:effectLst/>
                <a:latin typeface="Bahnschrift" panose="020B0502040204020203" pitchFamily="34" charset="0"/>
              </a:rPr>
              <a:t>Modalidad Mixta</a:t>
            </a:r>
          </a:p>
          <a:p>
            <a:pPr algn="ctr" rtl="0"/>
            <a:endParaRPr lang="es-MX" sz="1600" b="1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Materia: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Estructura de Datos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Semestre: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Quinto semestre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Especialidad: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Ingeniería en Sistemas Computacionales.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alumno: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/>
            <a:r>
              <a:rPr lang="es-MX" sz="1600" b="0" i="0" dirty="0">
                <a:effectLst/>
                <a:latin typeface="Bahnschrift" panose="020B0502040204020203" pitchFamily="34" charset="0"/>
              </a:rPr>
              <a:t>Cynthia Jasmine Morales Torres/231260014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docente: 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Ing. Francisco Javier Mingo Velázquez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Nombre del trabajo: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3.3 Ejercicios de estructuras lineales</a:t>
            </a: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latin typeface="Bahnschrift" panose="020B0502040204020203" pitchFamily="34" charset="0"/>
            </a:endParaRPr>
          </a:p>
          <a:p>
            <a:pPr algn="ctr" rtl="0"/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Fecha de entrega:</a:t>
            </a:r>
            <a:endParaRPr lang="es-MX" sz="1600" dirty="0">
              <a:effectLst/>
              <a:latin typeface="Bahnschrift" panose="020B0502040204020203" pitchFamily="34" charset="0"/>
            </a:endParaRPr>
          </a:p>
          <a:p>
            <a:pPr algn="ctr" rtl="0"/>
            <a:r>
              <a:rPr lang="es-MX" sz="1600" b="0" i="0" dirty="0">
                <a:effectLst/>
                <a:latin typeface="Bahnschrift" panose="020B0502040204020203" pitchFamily="34" charset="0"/>
              </a:rPr>
              <a:t>Frontera Comalapa, Chiapas. A </a:t>
            </a:r>
            <a:r>
              <a:rPr lang="es-MX" sz="1600" dirty="0">
                <a:latin typeface="Bahnschrift" panose="020B0502040204020203" pitchFamily="34" charset="0"/>
              </a:rPr>
              <a:t>19</a:t>
            </a:r>
            <a:r>
              <a:rPr lang="es-MX" sz="1600" b="0" i="0" dirty="0">
                <a:effectLst/>
                <a:latin typeface="Bahnschrift" panose="020B0502040204020203" pitchFamily="34" charset="0"/>
              </a:rPr>
              <a:t> de noviembre de 2025</a:t>
            </a:r>
            <a:endParaRPr lang="es-MX" sz="1600" dirty="0">
              <a:effectLst/>
              <a:latin typeface="Bahnschrift" panose="020B0502040204020203" pitchFamily="34" charset="0"/>
            </a:endParaRPr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E1534A31-12E7-BD17-E91D-9D68793E1115}"/>
              </a:ext>
            </a:extLst>
          </p:cNvPr>
          <p:cNvSpPr/>
          <p:nvPr/>
        </p:nvSpPr>
        <p:spPr>
          <a:xfrm>
            <a:off x="2149354" y="282918"/>
            <a:ext cx="2207213" cy="943199"/>
          </a:xfrm>
          <a:custGeom>
            <a:avLst/>
            <a:gdLst/>
            <a:ahLst/>
            <a:cxnLst/>
            <a:rect l="l" t="t" r="r" b="b"/>
            <a:pathLst>
              <a:path w="2207213" h="943199">
                <a:moveTo>
                  <a:pt x="0" y="0"/>
                </a:moveTo>
                <a:lnTo>
                  <a:pt x="2207213" y="0"/>
                </a:lnTo>
                <a:lnTo>
                  <a:pt x="2207213" y="943198"/>
                </a:lnTo>
                <a:lnTo>
                  <a:pt x="0" y="94319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6" name="Freeform 4">
            <a:extLst>
              <a:ext uri="{FF2B5EF4-FFF2-40B4-BE49-F238E27FC236}">
                <a16:creationId xmlns:a16="http://schemas.microsoft.com/office/drawing/2014/main" id="{2495B25B-0124-0912-E08A-50A49FB142FE}"/>
              </a:ext>
            </a:extLst>
          </p:cNvPr>
          <p:cNvSpPr/>
          <p:nvPr/>
        </p:nvSpPr>
        <p:spPr>
          <a:xfrm>
            <a:off x="8621238" y="282918"/>
            <a:ext cx="1421408" cy="943199"/>
          </a:xfrm>
          <a:custGeom>
            <a:avLst/>
            <a:gdLst/>
            <a:ahLst/>
            <a:cxnLst/>
            <a:rect l="l" t="t" r="r" b="b"/>
            <a:pathLst>
              <a:path w="1421408" h="1163491">
                <a:moveTo>
                  <a:pt x="0" y="0"/>
                </a:moveTo>
                <a:lnTo>
                  <a:pt x="1421408" y="0"/>
                </a:lnTo>
                <a:lnTo>
                  <a:pt x="1421408" y="1163491"/>
                </a:lnTo>
                <a:lnTo>
                  <a:pt x="0" y="11634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7" name="Freeform 5">
            <a:extLst>
              <a:ext uri="{FF2B5EF4-FFF2-40B4-BE49-F238E27FC236}">
                <a16:creationId xmlns:a16="http://schemas.microsoft.com/office/drawing/2014/main" id="{88FB151B-5844-D101-2980-2B8427FC0D68}"/>
              </a:ext>
            </a:extLst>
          </p:cNvPr>
          <p:cNvSpPr/>
          <p:nvPr/>
        </p:nvSpPr>
        <p:spPr>
          <a:xfrm>
            <a:off x="4649462" y="432016"/>
            <a:ext cx="3117507" cy="645001"/>
          </a:xfrm>
          <a:custGeom>
            <a:avLst/>
            <a:gdLst/>
            <a:ahLst/>
            <a:cxnLst/>
            <a:rect l="l" t="t" r="r" b="b"/>
            <a:pathLst>
              <a:path w="3117507" h="645001">
                <a:moveTo>
                  <a:pt x="0" y="0"/>
                </a:moveTo>
                <a:lnTo>
                  <a:pt x="3117506" y="0"/>
                </a:lnTo>
                <a:lnTo>
                  <a:pt x="3117506" y="645002"/>
                </a:lnTo>
                <a:lnTo>
                  <a:pt x="0" y="6450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</p:spTree>
    <p:extLst>
      <p:ext uri="{BB962C8B-B14F-4D97-AF65-F5344CB8AC3E}">
        <p14:creationId xmlns:p14="http://schemas.microsoft.com/office/powerpoint/2010/main" val="28687120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0194865-216D-F041-A132-29AA7A64F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Introducción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E8BB3A5-4FE6-09BB-9F70-A158E5713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MX" dirty="0"/>
              <a:t>Las </a:t>
            </a:r>
            <a:r>
              <a:rPr lang="es-MX" b="1" dirty="0"/>
              <a:t>estructuras de datos lineales</a:t>
            </a:r>
            <a:r>
              <a:rPr lang="es-MX" dirty="0"/>
              <a:t> son fundamentales en el desarrollo de software, ya que permiten almacenar y organizar información de manera secuencial. Entre las más importantes se encuentran las </a:t>
            </a:r>
            <a:r>
              <a:rPr lang="es-MX" b="1" dirty="0"/>
              <a:t>pilas</a:t>
            </a:r>
            <a:r>
              <a:rPr lang="es-MX" dirty="0"/>
              <a:t>, </a:t>
            </a:r>
            <a:r>
              <a:rPr lang="es-MX" b="1" dirty="0"/>
              <a:t>colas</a:t>
            </a:r>
            <a:r>
              <a:rPr lang="es-MX" dirty="0"/>
              <a:t> y </a:t>
            </a:r>
            <a:r>
              <a:rPr lang="es-MX" b="1" dirty="0"/>
              <a:t>listas</a:t>
            </a:r>
            <a:r>
              <a:rPr lang="es-MX" dirty="0"/>
              <a:t>, las cuales ofrecen diferentes formas de acceso y manipulación de los datos.</a:t>
            </a:r>
          </a:p>
          <a:p>
            <a:r>
              <a:rPr lang="es-MX" dirty="0"/>
              <a:t>Este proyecto tiene como propósito implementar estas estructuras utilizando </a:t>
            </a:r>
            <a:r>
              <a:rPr lang="es-MX" b="1" dirty="0"/>
              <a:t>Java y </a:t>
            </a:r>
            <a:r>
              <a:rPr lang="es-MX" b="1" dirty="0" err="1"/>
              <a:t>JavaFX</a:t>
            </a:r>
            <a:r>
              <a:rPr lang="es-MX" dirty="0"/>
              <a:t>, facilitando su comprensión mediante una interfaz gráfica interactiva.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603955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39433B-FEF7-5ED1-4256-4237079E33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Justificación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7930FE8-19BC-842F-97AB-0BFEB83818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MX" dirty="0"/>
              <a:t>La implementación de pilas, colas y listas es esencial en la formación de un estudiante de programación, ya que estas estructuras se utilizan constantemente en algoritmos y sistemas reales. Desarrollar este proyecto permite: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Comprender el comportamiento interno de cada estructura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Aplicar conceptos de </a:t>
            </a:r>
            <a:r>
              <a:rPr lang="es-MX" b="1" dirty="0"/>
              <a:t>programación orientada a objetos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Reforzar el uso del patrón </a:t>
            </a:r>
            <a:r>
              <a:rPr lang="es-MX" b="1" dirty="0"/>
              <a:t>Modelo–Vista–Controlador (MVC)</a:t>
            </a:r>
            <a:endParaRPr lang="es-MX" dirty="0"/>
          </a:p>
          <a:p>
            <a:pPr>
              <a:buFont typeface="Arial" panose="020B0604020202020204" pitchFamily="34" charset="0"/>
              <a:buChar char="•"/>
            </a:pPr>
            <a:r>
              <a:rPr lang="es-MX" dirty="0"/>
              <a:t>Facilitar el aprendizaje mediante una interfaz visual en lugar de solo consola</a:t>
            </a:r>
          </a:p>
          <a:p>
            <a:pPr marL="0" indent="0">
              <a:buNone/>
            </a:pPr>
            <a:r>
              <a:rPr lang="es-MX" dirty="0"/>
              <a:t>Por estas razones, el proyecto representa una herramienta didáctica eficaz para el estudio de estructuras de datos lineales.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8705651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E9145C3-9EB7-6356-0CB0-4956462E20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Estructuras lineales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B23B8020-3752-C9D4-BBA4-43361B95B20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27124" y="2214694"/>
            <a:ext cx="5107514" cy="3424237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8ACC5FA-C446-1135-D362-2A99D02FF6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5819" y="1783180"/>
            <a:ext cx="4332393" cy="4610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42820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350483D-AEFA-3AB6-1AEA-B29E88C13E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-128684"/>
            <a:ext cx="10364451" cy="1596177"/>
          </a:xfrm>
        </p:spPr>
        <p:txBody>
          <a:bodyPr/>
          <a:lstStyle/>
          <a:p>
            <a:r>
              <a:rPr lang="es-MX" dirty="0"/>
              <a:t>Ejecución final de las tres pantallas</a:t>
            </a:r>
          </a:p>
        </p:txBody>
      </p:sp>
      <p:pic>
        <p:nvPicPr>
          <p:cNvPr id="5" name="Marcador de contenido 4">
            <a:extLst>
              <a:ext uri="{FF2B5EF4-FFF2-40B4-BE49-F238E27FC236}">
                <a16:creationId xmlns:a16="http://schemas.microsoft.com/office/drawing/2014/main" id="{EEC2418D-12A1-D234-2300-1BA2788604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0951" y="1467493"/>
            <a:ext cx="3223933" cy="3424237"/>
          </a:xfr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F7BDEF47-AF23-1D3C-B700-2402F76FF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7996" y="1467492"/>
            <a:ext cx="3431407" cy="342423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B3A57783-609A-BDD9-15F2-6D61C629DF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15" y="1467492"/>
            <a:ext cx="3171824" cy="3424237"/>
          </a:xfrm>
          <a:prstGeom prst="rect">
            <a:avLst/>
          </a:prstGeom>
        </p:spPr>
      </p:pic>
      <p:sp>
        <p:nvSpPr>
          <p:cNvPr id="10" name="Rectangle 1">
            <a:extLst>
              <a:ext uri="{FF2B5EF4-FFF2-40B4-BE49-F238E27FC236}">
                <a16:creationId xmlns:a16="http://schemas.microsoft.com/office/drawing/2014/main" id="{9FFB41BC-495A-C5BF-5DDA-BD02412C75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5482" y="5380672"/>
            <a:ext cx="319940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/>
              <a:t>Último en entrar, primero en salir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/>
              <a:t>Es como una pila de platos: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/>
              <a:t>El último plato que pones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/>
              <a:t>Es el primero que quitas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/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06770927-67D5-118C-A444-6B0A79912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26112" y="5380672"/>
            <a:ext cx="3326232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/>
              <a:t>Primero en entrar, primero en salir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/>
              <a:t>Como una fila: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/>
              <a:t>El primero que llega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/>
              <a:t>Es el primero que se va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/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D123EA96-041D-B71B-4A58-62096982BB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78432" y="4891729"/>
            <a:ext cx="3065907" cy="2031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/>
              <a:t>Estructura flexible, sin regla estricta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s-MX" altLang="es-MX" dirty="0"/>
              <a:t>Permite: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Agregar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Eliminar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lang="es-MX" altLang="es-MX" dirty="0"/>
              <a:t>Manipular datos libremente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s-MX" altLang="es-MX" dirty="0"/>
          </a:p>
        </p:txBody>
      </p:sp>
    </p:spTree>
    <p:extLst>
      <p:ext uri="{BB962C8B-B14F-4D97-AF65-F5344CB8AC3E}">
        <p14:creationId xmlns:p14="http://schemas.microsoft.com/office/powerpoint/2010/main" val="382307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59EFDDA-730D-BB49-5808-622CD2C700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CONCLUSION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1C59280-734D-8463-F9B5-3CFFEAAAE8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MX" dirty="0"/>
              <a:t>En conclusión, el proyecto de </a:t>
            </a:r>
            <a:r>
              <a:rPr lang="es-MX" b="1" dirty="0"/>
              <a:t>estructuras lineales</a:t>
            </a:r>
            <a:r>
              <a:rPr lang="es-MX" dirty="0"/>
              <a:t> permite comprender de manera clara y práctica el funcionamiento de las </a:t>
            </a:r>
            <a:r>
              <a:rPr lang="es-MX" b="1" dirty="0"/>
              <a:t>pilas, colas y listas</a:t>
            </a:r>
            <a:r>
              <a:rPr lang="es-MX" dirty="0"/>
              <a:t>, mostrando cómo se almacenan y manipulan los datos en forma secuencial. La integración de </a:t>
            </a:r>
            <a:r>
              <a:rPr lang="es-MX" b="1" dirty="0" err="1"/>
              <a:t>JavaFX</a:t>
            </a:r>
            <a:r>
              <a:rPr lang="es-MX" dirty="0"/>
              <a:t> mejora la experiencia del usuario, permitiendo interactuar fácilmente con cada estructura.</a:t>
            </a:r>
          </a:p>
          <a:p>
            <a:pPr marL="0" indent="0">
              <a:buNone/>
            </a:pPr>
            <a:r>
              <a:rPr lang="es-MX" dirty="0"/>
              <a:t>La correcta separación entre la lógica del programa y la interfaz gráfica favorece la organización del código y demuestra el uso adecuado de buenas prácticas de programación. Este proyecto fortalece los conocimientos en </a:t>
            </a:r>
            <a:r>
              <a:rPr lang="es-MX" b="1" dirty="0"/>
              <a:t>estructuras de datos</a:t>
            </a:r>
            <a:r>
              <a:rPr lang="es-MX" dirty="0"/>
              <a:t>, </a:t>
            </a:r>
            <a:r>
              <a:rPr lang="es-MX" b="1" dirty="0"/>
              <a:t>programación orientada a objetos</a:t>
            </a:r>
            <a:r>
              <a:rPr lang="es-MX" dirty="0"/>
              <a:t> y </a:t>
            </a:r>
            <a:r>
              <a:rPr lang="es-MX" b="1" dirty="0"/>
              <a:t>desarrollo de interfaces gráficas</a:t>
            </a:r>
            <a:r>
              <a:rPr lang="es-MX" dirty="0"/>
              <a:t>, sirviendo como una base sólida para proyectos más avanzados.</a:t>
            </a:r>
          </a:p>
          <a:p>
            <a:pPr marL="0" indent="0">
              <a:buNone/>
            </a:pP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712111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2613F3-5D66-27CD-36EF-9F8FA3C37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dirty="0"/>
              <a:t>ANEXO LINK DE LA ACTIVIDAD DE EJERCICIOS SOLICITADA EN GIT HUB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7451286-03AF-CD7A-D159-45B14345F3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75" y="2367093"/>
            <a:ext cx="10364452" cy="889815"/>
          </a:xfrm>
        </p:spPr>
        <p:txBody>
          <a:bodyPr/>
          <a:lstStyle/>
          <a:p>
            <a:pPr marL="0" indent="0">
              <a:buNone/>
            </a:pPr>
            <a:r>
              <a:rPr lang="es-MX" dirty="0">
                <a:solidFill>
                  <a:srgbClr val="00B0F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https://github.com/Cynthia21Morales/EstructuraDeDatos_CynthiaJasmineMT/tree/main/ED-Tema-3/EstructurasLineales1</a:t>
            </a:r>
          </a:p>
        </p:txBody>
      </p:sp>
    </p:spTree>
    <p:extLst>
      <p:ext uri="{BB962C8B-B14F-4D97-AF65-F5344CB8AC3E}">
        <p14:creationId xmlns:p14="http://schemas.microsoft.com/office/powerpoint/2010/main" val="3265715257"/>
      </p:ext>
    </p:extLst>
  </p:cSld>
  <p:clrMapOvr>
    <a:masterClrMapping/>
  </p:clrMapOvr>
</p:sld>
</file>

<file path=ppt/theme/theme1.xml><?xml version="1.0" encoding="utf-8"?>
<a:theme xmlns:a="http://schemas.openxmlformats.org/drawingml/2006/main" name="Gota">
  <a:themeElements>
    <a:clrScheme name="Gota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Gota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ota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Gota</Template>
  <TotalTime>86</TotalTime>
  <Words>446</Words>
  <Application>Microsoft Office PowerPoint</Application>
  <PresentationFormat>Panorámica</PresentationFormat>
  <Paragraphs>50</Paragraphs>
  <Slides>7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1" baseType="lpstr">
      <vt:lpstr>Arial</vt:lpstr>
      <vt:lpstr>Bahnschrift</vt:lpstr>
      <vt:lpstr>Tw Cen MT</vt:lpstr>
      <vt:lpstr>Gota</vt:lpstr>
      <vt:lpstr>Presentación de PowerPoint</vt:lpstr>
      <vt:lpstr>Introducción </vt:lpstr>
      <vt:lpstr>Justificación </vt:lpstr>
      <vt:lpstr>Estructuras lineales</vt:lpstr>
      <vt:lpstr>Ejecución final de las tres pantallas</vt:lpstr>
      <vt:lpstr>CONCLUSION </vt:lpstr>
      <vt:lpstr>ANEXO LINK DE LA ACTIVIDAD DE EJERCICIOS SOLICITADA EN GIT HUB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 840 G5</dc:creator>
  <cp:lastModifiedBy>HP 840 G5</cp:lastModifiedBy>
  <cp:revision>2</cp:revision>
  <dcterms:created xsi:type="dcterms:W3CDTF">2025-12-14T22:22:59Z</dcterms:created>
  <dcterms:modified xsi:type="dcterms:W3CDTF">2025-12-14T23:50:53Z</dcterms:modified>
</cp:coreProperties>
</file>