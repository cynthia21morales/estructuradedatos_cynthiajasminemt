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43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29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45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347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76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99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5550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82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40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523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32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260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9387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96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177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486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893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E60E8F0-E53A-4538-9703-51547DDCF772}" type="datetimeFigureOut">
              <a:rPr lang="es-MX" smtClean="0"/>
              <a:t>24/11/2025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219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E7F12B1-67D0-09DC-0622-5777C45B66D1}"/>
              </a:ext>
            </a:extLst>
          </p:cNvPr>
          <p:cNvSpPr txBox="1"/>
          <p:nvPr/>
        </p:nvSpPr>
        <p:spPr>
          <a:xfrm>
            <a:off x="3048856" y="1446409"/>
            <a:ext cx="60977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MX" sz="1600" b="1" i="0" dirty="0">
                <a:effectLst/>
                <a:latin typeface="Bahnschrift" panose="020B0502040204020203" pitchFamily="34" charset="0"/>
              </a:rPr>
              <a:t>Instituto Tecnológico de Frontera Comalapa</a:t>
            </a:r>
            <a:endParaRPr lang="es-MX" sz="1600" b="1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1" i="0" dirty="0">
                <a:effectLst/>
                <a:latin typeface="Bahnschrift" panose="020B0502040204020203" pitchFamily="34" charset="0"/>
              </a:rPr>
              <a:t>Modalidad Mixta</a:t>
            </a:r>
          </a:p>
          <a:p>
            <a:pPr algn="ctr" rtl="0"/>
            <a:endParaRPr lang="es-MX" sz="1600" b="1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Materia: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Redes De Computadoras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Semestre: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Quinto semestre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Especialidad: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Ingeniería en Sistemas Computacionales.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alumno: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/>
            <a:r>
              <a:rPr lang="es-MX" sz="1600" b="0" i="0" dirty="0">
                <a:effectLst/>
                <a:latin typeface="Bahnschrift" panose="020B0502040204020203" pitchFamily="34" charset="0"/>
              </a:rPr>
              <a:t>Cynthia Jasmine Morales Torres/231260014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docente: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Ing. Francisco Javier Mingo Velázquez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trabajo: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2.2 PRACTICA DE RECURSIVIDAD</a:t>
            </a:r>
          </a:p>
          <a:p>
            <a:pPr algn="ctr" rtl="0"/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endParaRPr lang="es-MX" sz="1600" dirty="0">
              <a:latin typeface="Bahnschrift" panose="020B0502040204020203" pitchFamily="34" charset="0"/>
            </a:endParaRPr>
          </a:p>
          <a:p>
            <a:pPr algn="ctr" rtl="0"/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Fecha de entrega: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Frontera Comalapa, Chiapas. A 29 de noviembre de 2025</a:t>
            </a:r>
            <a:endParaRPr lang="es-MX" sz="1600" dirty="0"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36EE9D4D-AFA0-4C95-D622-16E8BE86E40F}"/>
              </a:ext>
            </a:extLst>
          </p:cNvPr>
          <p:cNvSpPr/>
          <p:nvPr/>
        </p:nvSpPr>
        <p:spPr>
          <a:xfrm>
            <a:off x="2149354" y="282918"/>
            <a:ext cx="2207213" cy="943199"/>
          </a:xfrm>
          <a:custGeom>
            <a:avLst/>
            <a:gdLst/>
            <a:ahLst/>
            <a:cxnLst/>
            <a:rect l="l" t="t" r="r" b="b"/>
            <a:pathLst>
              <a:path w="2207213" h="943199">
                <a:moveTo>
                  <a:pt x="0" y="0"/>
                </a:moveTo>
                <a:lnTo>
                  <a:pt x="2207213" y="0"/>
                </a:lnTo>
                <a:lnTo>
                  <a:pt x="2207213" y="943198"/>
                </a:lnTo>
                <a:lnTo>
                  <a:pt x="0" y="94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87BABE2C-E15D-FBD4-CAC4-4E39F0A71D96}"/>
              </a:ext>
            </a:extLst>
          </p:cNvPr>
          <p:cNvSpPr/>
          <p:nvPr/>
        </p:nvSpPr>
        <p:spPr>
          <a:xfrm>
            <a:off x="8621238" y="282918"/>
            <a:ext cx="1421408" cy="943199"/>
          </a:xfrm>
          <a:custGeom>
            <a:avLst/>
            <a:gdLst/>
            <a:ahLst/>
            <a:cxnLst/>
            <a:rect l="l" t="t" r="r" b="b"/>
            <a:pathLst>
              <a:path w="1421408" h="1163491">
                <a:moveTo>
                  <a:pt x="0" y="0"/>
                </a:moveTo>
                <a:lnTo>
                  <a:pt x="1421408" y="0"/>
                </a:lnTo>
                <a:lnTo>
                  <a:pt x="1421408" y="1163491"/>
                </a:lnTo>
                <a:lnTo>
                  <a:pt x="0" y="1163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1FA5133A-2972-A1C4-17F7-1F91F86DB1A0}"/>
              </a:ext>
            </a:extLst>
          </p:cNvPr>
          <p:cNvSpPr/>
          <p:nvPr/>
        </p:nvSpPr>
        <p:spPr>
          <a:xfrm>
            <a:off x="4649462" y="432016"/>
            <a:ext cx="3117507" cy="645001"/>
          </a:xfrm>
          <a:custGeom>
            <a:avLst/>
            <a:gdLst/>
            <a:ahLst/>
            <a:cxnLst/>
            <a:rect l="l" t="t" r="r" b="b"/>
            <a:pathLst>
              <a:path w="3117507" h="645001">
                <a:moveTo>
                  <a:pt x="0" y="0"/>
                </a:moveTo>
                <a:lnTo>
                  <a:pt x="3117506" y="0"/>
                </a:lnTo>
                <a:lnTo>
                  <a:pt x="3117506" y="645002"/>
                </a:lnTo>
                <a:lnTo>
                  <a:pt x="0" y="64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9913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7D4D5-9462-5C98-19B0-3CB94E816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1C6637-0A12-F1C7-E1D6-8837CB450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La </a:t>
            </a:r>
            <a:r>
              <a:rPr lang="es-MX" b="1" dirty="0"/>
              <a:t>recursividad</a:t>
            </a:r>
            <a:r>
              <a:rPr lang="es-MX" dirty="0"/>
              <a:t> es uno de los conceptos más elegantes y poderosos en la informática. No es un simple truco de programación, sino una forma fundamental de </a:t>
            </a:r>
            <a:r>
              <a:rPr lang="es-MX" b="1" dirty="0"/>
              <a:t>pensamiento algorítmico</a:t>
            </a:r>
            <a:r>
              <a:rPr lang="es-MX" dirty="0"/>
              <a:t> donde la solución a un problema se basa en la solución de versiones más pequeñas de ese mismo problema.</a:t>
            </a:r>
          </a:p>
        </p:txBody>
      </p:sp>
    </p:spTree>
    <p:extLst>
      <p:ext uri="{BB962C8B-B14F-4D97-AF65-F5344CB8AC3E}">
        <p14:creationId xmlns:p14="http://schemas.microsoft.com/office/powerpoint/2010/main" val="2873583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E2B8EC6-0BC4-34B7-2828-1C13C21650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327" y="1253331"/>
            <a:ext cx="4623952" cy="4351338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EC94A90-6AB2-B024-AB80-E23A2AF3C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" y="-9174499"/>
            <a:ext cx="45719" cy="18394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568" tIns="101568" rIns="101568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rgbClr val="E3E3E3"/>
                </a:solidFill>
                <a:effectLst/>
                <a:latin typeface="Google Sans Flex"/>
                <a:cs typeface="Times New Roman" panose="02020603050405020304" pitchFamily="18" charset="0"/>
              </a:rPr>
              <a:t>¡Claro! Con gusto te explico esta parte del código Java, que parece ser un controlador para una aplicación </a:t>
            </a:r>
            <a:r>
              <a:rPr kumimoji="0" lang="es-MX" altLang="es-MX" sz="1200" b="1" i="0" u="none" strike="noStrike" cap="none" normalizeH="0" baseline="0">
                <a:ln>
                  <a:noFill/>
                </a:ln>
                <a:solidFill>
                  <a:srgbClr val="E3E3E3"/>
                </a:solidFill>
                <a:effectLst/>
                <a:latin typeface="Google Sans Flex"/>
                <a:cs typeface="Times New Roman" panose="02020603050405020304" pitchFamily="18" charset="0"/>
              </a:rPr>
              <a:t>JavaFX</a:t>
            </a:r>
            <a: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rgbClr val="E3E3E3"/>
                </a:solidFill>
                <a:effectLst/>
                <a:latin typeface="Google Sans Flex"/>
                <a:cs typeface="Times New Roman" panose="02020603050405020304" pitchFamily="18" charset="0"/>
              </a:rPr>
              <a:t>.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A97BCA-3E74-18B6-C5DF-485329C52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588" y="0"/>
            <a:ext cx="777411" cy="206716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C1AE4D4-A7CE-918A-5A4B-C684D10B5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7788" y="2045786"/>
            <a:ext cx="5485599" cy="347782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50784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/>
              <a:t>La Función factorial(</a:t>
            </a:r>
            <a:r>
              <a:rPr lang="es-MX" altLang="es-MX" b="1" dirty="0" err="1"/>
              <a:t>int</a:t>
            </a:r>
            <a:r>
              <a:rPr lang="es-MX" altLang="es-MX" b="1" dirty="0"/>
              <a:t> 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La parte más importante es el método factorial, el cual calcula el factorial de un número entero 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 err="1"/>
              <a:t>public</a:t>
            </a:r>
            <a:r>
              <a:rPr lang="es-MX" altLang="es-MX" dirty="0"/>
              <a:t> </a:t>
            </a:r>
            <a:r>
              <a:rPr lang="es-MX" altLang="es-MX" dirty="0" err="1"/>
              <a:t>long</a:t>
            </a:r>
            <a:r>
              <a:rPr lang="es-MX" altLang="es-MX" dirty="0"/>
              <a:t> factorial(</a:t>
            </a:r>
            <a:r>
              <a:rPr lang="es-MX" altLang="es-MX" dirty="0" err="1"/>
              <a:t>int</a:t>
            </a:r>
            <a:r>
              <a:rPr lang="es-MX" altLang="es-MX" dirty="0"/>
              <a:t> n) { ...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dirty="0"/>
              <a:t>Es un método público que acepta un argumento entero (</a:t>
            </a:r>
            <a:r>
              <a:rPr lang="es-MX" altLang="es-MX" dirty="0" err="1"/>
              <a:t>int</a:t>
            </a:r>
            <a:r>
              <a:rPr lang="es-MX" altLang="es-MX" dirty="0"/>
              <a:t> n) y devuelve un número entero largo (</a:t>
            </a:r>
            <a:r>
              <a:rPr lang="es-MX" altLang="es-MX" dirty="0" err="1"/>
              <a:t>long</a:t>
            </a:r>
            <a:r>
              <a:rPr lang="es-MX" altLang="es-MX" dirty="0"/>
              <a:t>) para evitar desbordamiento si el factorial es grande.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MX" altLang="es-MX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dirty="0"/>
              <a:t>Utiliza un enfoque llamado recursión (la función se llama a sí misma) para realizar el cálculo.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418A83F-A58B-911B-0725-471620602F91}"/>
              </a:ext>
            </a:extLst>
          </p:cNvPr>
          <p:cNvSpPr txBox="1"/>
          <p:nvPr/>
        </p:nvSpPr>
        <p:spPr>
          <a:xfrm>
            <a:off x="5510279" y="545445"/>
            <a:ext cx="33942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/>
              <a:t>Recursividad Parte 1</a:t>
            </a:r>
          </a:p>
        </p:txBody>
      </p:sp>
    </p:spTree>
    <p:extLst>
      <p:ext uri="{BB962C8B-B14F-4D97-AF65-F5344CB8AC3E}">
        <p14:creationId xmlns:p14="http://schemas.microsoft.com/office/powerpoint/2010/main" val="1995974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1AA8D-71EF-7694-D529-3AE41BC6A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808" y="0"/>
            <a:ext cx="1865614" cy="631860"/>
          </a:xfrm>
        </p:spPr>
        <p:txBody>
          <a:bodyPr>
            <a:normAutofit fontScale="90000"/>
          </a:bodyPr>
          <a:lstStyle/>
          <a:p>
            <a:r>
              <a:rPr lang="es-MX" dirty="0"/>
              <a:t>Parte 2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40F4DB4-8B36-4B82-7D87-CA30E501E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24" y="37627"/>
            <a:ext cx="4953983" cy="3391373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D7861CA-4FB0-6C03-E903-A67908E18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819" y="850811"/>
            <a:ext cx="660444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try { ... }: Contiene el código que se debe intentar ejecutar. Si todo va bien, se ejecuta este bloque.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catch (</a:t>
            </a:r>
            <a:r>
              <a:rPr lang="es-MX" altLang="es-MX" dirty="0" err="1"/>
              <a:t>NumberFormatException</a:t>
            </a:r>
            <a:r>
              <a:rPr lang="es-MX" altLang="es-MX" dirty="0"/>
              <a:t> e) { ... }: Contiene el código que se ejecuta solo si ocurre un error específico dentro del bloque try. En este caso, el error que se maneja es el </a:t>
            </a:r>
            <a:r>
              <a:rPr lang="es-MX" altLang="es-MX" dirty="0" err="1"/>
              <a:t>NumberFormatException</a:t>
            </a:r>
            <a:r>
              <a:rPr lang="es-MX" altLang="es-MX" dirty="0"/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02D383C-43D3-B809-E15C-F5709D13C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44" y="3429000"/>
            <a:ext cx="1112312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inputNumber.getText</a:t>
            </a:r>
            <a:r>
              <a:rPr lang="es-MX" altLang="es-MX" dirty="0"/>
              <a:t>(): Obtiene el texto (lo que escribió el usuario) del campo de texto de la interfaz.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MX" altLang="es-MX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Integer.parseInt</a:t>
            </a:r>
            <a:r>
              <a:rPr lang="es-MX" altLang="es-MX" dirty="0"/>
              <a:t>(...): Intenta convertir esa cadena de texto en un número entero (</a:t>
            </a:r>
            <a:r>
              <a:rPr lang="es-MX" altLang="es-MX" dirty="0" err="1"/>
              <a:t>int</a:t>
            </a:r>
            <a:r>
              <a:rPr lang="es-MX" altLang="es-MX" dirty="0"/>
              <a:t>). Si el usuario ingresó algo que no es un número (como "hola" o "5.5"), aquí es donde ocurrirá el </a:t>
            </a:r>
            <a:r>
              <a:rPr lang="es-MX" altLang="es-MX" dirty="0" err="1"/>
              <a:t>NumberFormatException</a:t>
            </a:r>
            <a:r>
              <a:rPr lang="es-MX" altLang="es-MX" dirty="0"/>
              <a:t> y el programa saltará al bloque catch.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C2C5B82-7718-2B47-CB72-C259AC7CF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47" y="4906327"/>
            <a:ext cx="88919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/>
              <a:t>Actualiza la etiqueta de resultado (resultLabel) en la interfaz para mostrar el resultado del cálculo.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DF21C92-66FC-1F8E-25C1-19152484F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228" y="5407023"/>
            <a:ext cx="106633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catch (</a:t>
            </a:r>
            <a:r>
              <a:rPr lang="es-MX" altLang="es-MX" dirty="0" err="1"/>
              <a:t>NumberFormatException</a:t>
            </a:r>
            <a:r>
              <a:rPr lang="es-MX" altLang="es-MX" dirty="0"/>
              <a:t> e) { </a:t>
            </a:r>
            <a:r>
              <a:rPr lang="es-MX" altLang="es-MX" dirty="0" err="1"/>
              <a:t>resultLabel.setText</a:t>
            </a:r>
            <a:r>
              <a:rPr lang="es-MX" altLang="es-MX" dirty="0"/>
              <a:t>("Ingresa un número válido.");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Si la conversión a número falla (porque el texto no era un entero), el programa ejecuta este bloque.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Muestra un mensaje de error claro en la etiqueta de resultado, guiando al usuario para que ingrese un número válido.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3617238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E0ED2-ABD1-6062-3139-1C476EA4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 de recursividad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9902927-674F-6C86-D0B4-8F0F656DE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2969" y="2547721"/>
            <a:ext cx="5326062" cy="3317875"/>
          </a:xfrm>
        </p:spPr>
      </p:pic>
    </p:spTree>
    <p:extLst>
      <p:ext uri="{BB962C8B-B14F-4D97-AF65-F5344CB8AC3E}">
        <p14:creationId xmlns:p14="http://schemas.microsoft.com/office/powerpoint/2010/main" val="175605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2355F-6854-6C1B-2C4A-2DBA485F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0EC658-809B-0D0D-1390-AC5CD1659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La recursividad es una herramienta indispensable en el repertorio de un programador. Permite traducir la </a:t>
            </a:r>
            <a:r>
              <a:rPr lang="es-MX" b="1" dirty="0"/>
              <a:t>definición matemática o lógica</a:t>
            </a:r>
            <a:r>
              <a:rPr lang="es-MX" dirty="0"/>
              <a:t> de un problema directamente al código, lo que resulta en soluciones concisas y a menudo intuitivas para tareas complejas.</a:t>
            </a:r>
          </a:p>
          <a:p>
            <a:r>
              <a:rPr lang="es-MX" dirty="0"/>
              <a:t>Sin embargo, su poder viene con una necesidad de </a:t>
            </a:r>
            <a:r>
              <a:rPr lang="es-MX" b="1" dirty="0"/>
              <a:t>cuidado y comprensión</a:t>
            </a:r>
            <a:r>
              <a:rPr lang="es-MX" dirty="0"/>
              <a:t>. Cada llamada recursiva consume memoria del sistema al crear un nuevo </a:t>
            </a:r>
            <a:r>
              <a:rPr lang="es-MX" b="1" dirty="0"/>
              <a:t>marco de pila</a:t>
            </a:r>
            <a:r>
              <a:rPr lang="es-MX" dirty="0"/>
              <a:t> (</a:t>
            </a:r>
            <a:r>
              <a:rPr lang="es-MX" i="1" dirty="0" err="1"/>
              <a:t>stack</a:t>
            </a:r>
            <a:r>
              <a:rPr lang="es-MX" i="1" dirty="0"/>
              <a:t> </a:t>
            </a:r>
            <a:r>
              <a:rPr lang="es-MX" i="1" dirty="0" err="1"/>
              <a:t>frame</a:t>
            </a:r>
            <a:r>
              <a:rPr lang="es-MX" dirty="0"/>
              <a:t>). Una recursión mal definida, sin un caso base correcto o con un caso base demasiado lejano, puede llevar a un error de </a:t>
            </a:r>
            <a:r>
              <a:rPr lang="es-MX" b="1" dirty="0"/>
              <a:t>desbordamiento de pila</a:t>
            </a:r>
            <a:r>
              <a:rPr lang="es-MX" dirty="0"/>
              <a:t> (</a:t>
            </a:r>
            <a:r>
              <a:rPr lang="es-MX" i="1" dirty="0" err="1"/>
              <a:t>Stack</a:t>
            </a:r>
            <a:r>
              <a:rPr lang="es-MX" i="1" dirty="0"/>
              <a:t> </a:t>
            </a:r>
            <a:r>
              <a:rPr lang="es-MX" i="1" dirty="0" err="1"/>
              <a:t>Overflow</a:t>
            </a:r>
            <a:r>
              <a:rPr lang="es-MX" dirty="0"/>
              <a:t>), deteniendo la ejecución del programa.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13907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EB17A-0669-F88A-173A-FAAF2EBE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Link anexado de los ejercicios solicitados en GitHub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970543-7162-770F-3947-FDE8BA25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49643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516</TotalTime>
  <Words>564</Words>
  <Application>Microsoft Office PowerPoint</Application>
  <PresentationFormat>Panorámica</PresentationFormat>
  <Paragraphs>47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Bahnschrift</vt:lpstr>
      <vt:lpstr>Garamond</vt:lpstr>
      <vt:lpstr>Google Sans Flex</vt:lpstr>
      <vt:lpstr>Orgánico</vt:lpstr>
      <vt:lpstr>Presentación de PowerPoint</vt:lpstr>
      <vt:lpstr>Introducción </vt:lpstr>
      <vt:lpstr>Presentación de PowerPoint</vt:lpstr>
      <vt:lpstr>Parte 2</vt:lpstr>
      <vt:lpstr>Resultado de recursividad</vt:lpstr>
      <vt:lpstr>Conclusión </vt:lpstr>
      <vt:lpstr>Link anexado de los ejercicios solicitados en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1</cp:revision>
  <dcterms:created xsi:type="dcterms:W3CDTF">2025-11-25T03:59:59Z</dcterms:created>
  <dcterms:modified xsi:type="dcterms:W3CDTF">2025-11-25T12:36:09Z</dcterms:modified>
</cp:coreProperties>
</file>