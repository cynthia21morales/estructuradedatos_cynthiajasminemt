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451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6" y="2354670"/>
            <a:ext cx="6595533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364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1440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957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038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5706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2681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707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693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8221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464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094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4439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7502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546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59268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2453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5355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4251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555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/>
            </a:pPr>
            <a:r>
              <a:t>Presentación: Recursividad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defRPr sz="2800"/>
            </a:pPr>
            <a:r>
              <a:t>Conceptos, Ejemplos y Aplicaciones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85B9911-BC65-8B86-9828-543004C7C16F}"/>
              </a:ext>
            </a:extLst>
          </p:cNvPr>
          <p:cNvSpPr txBox="1"/>
          <p:nvPr/>
        </p:nvSpPr>
        <p:spPr>
          <a:xfrm>
            <a:off x="688368" y="1590247"/>
            <a:ext cx="796247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s-MX" sz="1600" b="0" i="0" dirty="0">
                <a:effectLst/>
                <a:latin typeface="Arial Black" panose="020B0A04020102020204" pitchFamily="34" charset="0"/>
              </a:rPr>
              <a:t>Instituto Tecnológico de Frontera Comalapa</a:t>
            </a:r>
            <a:endParaRPr lang="es-MX" sz="1600" dirty="0">
              <a:effectLst/>
              <a:latin typeface="Arial Black" panose="020B0A04020102020204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Arial Black" panose="020B0A04020102020204" pitchFamily="34" charset="0"/>
              </a:rPr>
              <a:t>Modalidad Mixta</a:t>
            </a:r>
          </a:p>
          <a:p>
            <a:pPr algn="ctr" rtl="0"/>
            <a:endParaRPr lang="es-MX" sz="1600" dirty="0">
              <a:effectLst/>
              <a:latin typeface="Arial Black" panose="020B0A04020102020204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Materia: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Redes De Computadoras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Semestre: 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Quinto semestre 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Especialidad: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Ingeniería en Sistemas Computacionales.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Nombre del alumno: 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/>
            <a:r>
              <a:rPr lang="es-MX" sz="1600" b="0" i="0" dirty="0">
                <a:effectLst/>
                <a:latin typeface="Bahnschrift" panose="020B0502040204020203" pitchFamily="34" charset="0"/>
              </a:rPr>
              <a:t>Cynthia Jasmine Morales Torres/231260014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Nombre del docente: 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Ing. Francisco Javier Mingo Velázquez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Nombre del trabajo: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2.1 PRESENTACION ELECTRONICA</a:t>
            </a:r>
          </a:p>
          <a:p>
            <a:pPr algn="ctr" rtl="0"/>
            <a:endParaRPr lang="es-MX" sz="1600" dirty="0">
              <a:effectLst/>
              <a:latin typeface="Arial Black" panose="020B0A04020102020204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Fecha de entrega: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Frontera Comalapa, Chiapas. A 25 de octubre de 2025</a:t>
            </a:r>
            <a:endParaRPr lang="es-MX" sz="1600" dirty="0">
              <a:effectLst/>
              <a:latin typeface="Bahnschrift" panose="020B0502040204020203" pitchFamily="34" charset="0"/>
            </a:endParaRP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7FA165B5-62D9-1E98-44A8-601DA938D0CD}"/>
              </a:ext>
            </a:extLst>
          </p:cNvPr>
          <p:cNvSpPr/>
          <p:nvPr/>
        </p:nvSpPr>
        <p:spPr>
          <a:xfrm>
            <a:off x="443844" y="432016"/>
            <a:ext cx="2207213" cy="943199"/>
          </a:xfrm>
          <a:custGeom>
            <a:avLst/>
            <a:gdLst/>
            <a:ahLst/>
            <a:cxnLst/>
            <a:rect l="l" t="t" r="r" b="b"/>
            <a:pathLst>
              <a:path w="2207213" h="943199">
                <a:moveTo>
                  <a:pt x="0" y="0"/>
                </a:moveTo>
                <a:lnTo>
                  <a:pt x="2207213" y="0"/>
                </a:lnTo>
                <a:lnTo>
                  <a:pt x="2207213" y="943198"/>
                </a:lnTo>
                <a:lnTo>
                  <a:pt x="0" y="943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351529FD-46BA-2E33-D073-C6D9A1D17C84}"/>
              </a:ext>
            </a:extLst>
          </p:cNvPr>
          <p:cNvSpPr/>
          <p:nvPr/>
        </p:nvSpPr>
        <p:spPr>
          <a:xfrm>
            <a:off x="7229431" y="432016"/>
            <a:ext cx="1421408" cy="1163491"/>
          </a:xfrm>
          <a:custGeom>
            <a:avLst/>
            <a:gdLst/>
            <a:ahLst/>
            <a:cxnLst/>
            <a:rect l="l" t="t" r="r" b="b"/>
            <a:pathLst>
              <a:path w="1421408" h="1163491">
                <a:moveTo>
                  <a:pt x="0" y="0"/>
                </a:moveTo>
                <a:lnTo>
                  <a:pt x="1421408" y="0"/>
                </a:lnTo>
                <a:lnTo>
                  <a:pt x="1421408" y="1163491"/>
                </a:lnTo>
                <a:lnTo>
                  <a:pt x="0" y="11634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5D387A7B-B4DE-9AF6-58BE-28657D50AE67}"/>
              </a:ext>
            </a:extLst>
          </p:cNvPr>
          <p:cNvSpPr/>
          <p:nvPr/>
        </p:nvSpPr>
        <p:spPr>
          <a:xfrm>
            <a:off x="3280836" y="432016"/>
            <a:ext cx="3117507" cy="645001"/>
          </a:xfrm>
          <a:custGeom>
            <a:avLst/>
            <a:gdLst/>
            <a:ahLst/>
            <a:cxnLst/>
            <a:rect l="l" t="t" r="r" b="b"/>
            <a:pathLst>
              <a:path w="3117507" h="645001">
                <a:moveTo>
                  <a:pt x="0" y="0"/>
                </a:moveTo>
                <a:lnTo>
                  <a:pt x="3117506" y="0"/>
                </a:lnTo>
                <a:lnTo>
                  <a:pt x="3117506" y="645002"/>
                </a:lnTo>
                <a:lnTo>
                  <a:pt x="0" y="6450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09229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E1E1E"/>
                </a:solidFill>
              </a:defRPr>
            </a:pPr>
            <a:r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La </a:t>
            </a:r>
            <a:r>
              <a:rPr dirty="0" err="1"/>
              <a:t>recursividad</a:t>
            </a:r>
            <a:r>
              <a:rPr dirty="0"/>
              <a:t> </a:t>
            </a:r>
            <a:r>
              <a:rPr dirty="0" err="1"/>
              <a:t>permite</a:t>
            </a:r>
            <a:r>
              <a:rPr dirty="0"/>
              <a:t> resolver </a:t>
            </a:r>
            <a:r>
              <a:rPr dirty="0" err="1"/>
              <a:t>problemas</a:t>
            </a:r>
            <a:r>
              <a:rPr dirty="0"/>
              <a:t> </a:t>
            </a:r>
            <a:r>
              <a:rPr dirty="0" err="1"/>
              <a:t>dividiendo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problema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subproblemas</a:t>
            </a:r>
            <a:r>
              <a:rPr dirty="0"/>
              <a:t>.</a:t>
            </a:r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Fundamental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programación</a:t>
            </a:r>
            <a:r>
              <a:rPr dirty="0"/>
              <a:t>, </a:t>
            </a:r>
            <a:r>
              <a:rPr dirty="0" err="1"/>
              <a:t>matemáticas</a:t>
            </a:r>
            <a:r>
              <a:rPr dirty="0"/>
              <a:t> y </a:t>
            </a:r>
            <a:r>
              <a:rPr dirty="0" err="1"/>
              <a:t>estructuras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.</a:t>
            </a:r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</a:t>
            </a:r>
            <a:r>
              <a:rPr dirty="0" err="1"/>
              <a:t>Refleja</a:t>
            </a:r>
            <a:r>
              <a:rPr dirty="0"/>
              <a:t> </a:t>
            </a:r>
            <a:r>
              <a:rPr dirty="0" err="1"/>
              <a:t>comportamientos</a:t>
            </a:r>
            <a:r>
              <a:rPr dirty="0"/>
              <a:t> naturales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fractales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E1E1E"/>
                </a:solidFill>
              </a:defRPr>
            </a:pPr>
            <a:r>
              <a:t>¿Qué es la Recursividad?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Una </a:t>
            </a:r>
            <a:r>
              <a:rPr dirty="0" err="1"/>
              <a:t>función</a:t>
            </a:r>
            <a:r>
              <a:rPr dirty="0"/>
              <a:t> que se llama a </a:t>
            </a:r>
            <a:r>
              <a:rPr dirty="0" err="1"/>
              <a:t>sí</a:t>
            </a:r>
            <a:r>
              <a:rPr dirty="0"/>
              <a:t> </a:t>
            </a:r>
            <a:r>
              <a:rPr dirty="0" err="1"/>
              <a:t>misma</a:t>
            </a:r>
            <a:r>
              <a:rPr dirty="0"/>
              <a:t>.</a:t>
            </a:r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</a:t>
            </a:r>
            <a:r>
              <a:rPr dirty="0" err="1"/>
              <a:t>Requiere</a:t>
            </a:r>
            <a:r>
              <a:rPr dirty="0"/>
              <a:t> un </a:t>
            </a:r>
            <a:r>
              <a:rPr dirty="0" err="1"/>
              <a:t>caso</a:t>
            </a:r>
            <a:r>
              <a:rPr dirty="0"/>
              <a:t> base.</a:t>
            </a:r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</a:t>
            </a:r>
            <a:r>
              <a:rPr dirty="0" err="1"/>
              <a:t>Útil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un </a:t>
            </a:r>
            <a:r>
              <a:rPr dirty="0" err="1"/>
              <a:t>problema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dividirse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subproblemas</a:t>
            </a:r>
            <a:r>
              <a:rPr dirty="0"/>
              <a:t> </a:t>
            </a:r>
            <a:r>
              <a:rPr dirty="0" err="1"/>
              <a:t>similares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E1E1E"/>
                </a:solidFill>
              </a:defRPr>
            </a:pPr>
            <a:r>
              <a:t>Importancia del Caso 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</a:t>
            </a:r>
            <a:r>
              <a:rPr dirty="0" err="1"/>
              <a:t>Impide</a:t>
            </a:r>
            <a:r>
              <a:rPr dirty="0"/>
              <a:t> </a:t>
            </a:r>
            <a:r>
              <a:rPr dirty="0" err="1"/>
              <a:t>ciclos</a:t>
            </a:r>
            <a:r>
              <a:rPr dirty="0"/>
              <a:t> </a:t>
            </a:r>
            <a:r>
              <a:rPr dirty="0" err="1"/>
              <a:t>infinitos</a:t>
            </a:r>
            <a:r>
              <a:rPr dirty="0"/>
              <a:t>.</a:t>
            </a:r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</a:t>
            </a:r>
            <a:r>
              <a:rPr dirty="0" err="1"/>
              <a:t>Permite</a:t>
            </a:r>
            <a:r>
              <a:rPr dirty="0"/>
              <a:t> que la </a:t>
            </a:r>
            <a:r>
              <a:rPr dirty="0" err="1"/>
              <a:t>función</a:t>
            </a:r>
            <a:r>
              <a:rPr dirty="0"/>
              <a:t> </a:t>
            </a:r>
            <a:r>
              <a:rPr dirty="0" err="1"/>
              <a:t>regrese</a:t>
            </a:r>
            <a:r>
              <a:rPr dirty="0"/>
              <a:t> </a:t>
            </a:r>
            <a:r>
              <a:rPr dirty="0" err="1"/>
              <a:t>valores</a:t>
            </a:r>
            <a:r>
              <a:rPr dirty="0"/>
              <a:t>.</a:t>
            </a:r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Evita </a:t>
            </a:r>
            <a:r>
              <a:rPr dirty="0" err="1"/>
              <a:t>desbordamientos</a:t>
            </a:r>
            <a:r>
              <a:rPr dirty="0"/>
              <a:t> de pila.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E1E1E"/>
                </a:solidFill>
              </a:defRPr>
            </a:pPr>
            <a:r>
              <a:t>Ejemplo: Factorial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n! = n × (n−1) × ... × 1.</a:t>
            </a:r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</a:t>
            </a:r>
            <a:r>
              <a:rPr dirty="0" err="1"/>
              <a:t>Ejemplo</a:t>
            </a:r>
            <a:r>
              <a:rPr dirty="0"/>
              <a:t> </a:t>
            </a:r>
            <a:r>
              <a:rPr dirty="0" err="1"/>
              <a:t>clásico</a:t>
            </a:r>
            <a:r>
              <a:rPr dirty="0"/>
              <a:t> de </a:t>
            </a:r>
            <a:r>
              <a:rPr dirty="0" err="1"/>
              <a:t>recursividad</a:t>
            </a:r>
            <a:r>
              <a:rPr dirty="0"/>
              <a:t>.</a:t>
            </a:r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generar</a:t>
            </a:r>
            <a:r>
              <a:rPr dirty="0"/>
              <a:t> </a:t>
            </a:r>
            <a:r>
              <a:rPr dirty="0" err="1"/>
              <a:t>RecursionError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hay </a:t>
            </a:r>
            <a:r>
              <a:rPr dirty="0" err="1"/>
              <a:t>demasiadas</a:t>
            </a:r>
            <a:r>
              <a:rPr dirty="0"/>
              <a:t> </a:t>
            </a:r>
            <a:r>
              <a:rPr dirty="0" err="1"/>
              <a:t>llamadas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400" b="1">
                <a:solidFill>
                  <a:srgbClr val="1E1E1E"/>
                </a:solidFill>
              </a:defRPr>
            </a:pPr>
            <a:r>
              <a:t>Ejemplo: Serie de Fibonacci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Cada </a:t>
            </a:r>
            <a:r>
              <a:rPr dirty="0" err="1"/>
              <a:t>número</a:t>
            </a:r>
            <a:r>
              <a:rPr dirty="0"/>
              <a:t> = </a:t>
            </a:r>
            <a:r>
              <a:rPr dirty="0" err="1"/>
              <a:t>suma</a:t>
            </a:r>
            <a:r>
              <a:rPr dirty="0"/>
              <a:t> de </a:t>
            </a:r>
            <a:r>
              <a:rPr dirty="0" err="1"/>
              <a:t>los</a:t>
            </a:r>
            <a:r>
              <a:rPr dirty="0"/>
              <a:t> dos </a:t>
            </a:r>
            <a:r>
              <a:rPr dirty="0" err="1"/>
              <a:t>anteriores</a:t>
            </a:r>
            <a:r>
              <a:rPr dirty="0"/>
              <a:t>.</a:t>
            </a:r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</a:t>
            </a:r>
            <a:r>
              <a:rPr dirty="0" err="1"/>
              <a:t>Fácil</a:t>
            </a:r>
            <a:r>
              <a:rPr dirty="0"/>
              <a:t> de </a:t>
            </a:r>
            <a:r>
              <a:rPr dirty="0" err="1"/>
              <a:t>implementar</a:t>
            </a:r>
            <a:r>
              <a:rPr dirty="0"/>
              <a:t> </a:t>
            </a:r>
            <a:r>
              <a:rPr dirty="0" err="1"/>
              <a:t>recursivamente</a:t>
            </a:r>
            <a:r>
              <a:rPr dirty="0"/>
              <a:t>.</a:t>
            </a:r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Poco </a:t>
            </a:r>
            <a:r>
              <a:rPr dirty="0" err="1"/>
              <a:t>eficiente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no se </a:t>
            </a:r>
            <a:r>
              <a:rPr dirty="0" err="1"/>
              <a:t>optimiza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E1E1E"/>
                </a:solidFill>
              </a:defRPr>
            </a:pPr>
            <a:r>
              <a:t>Recursividad en Fractales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Como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copo</a:t>
            </a:r>
            <a:r>
              <a:rPr dirty="0"/>
              <a:t> de </a:t>
            </a:r>
            <a:r>
              <a:rPr dirty="0" err="1"/>
              <a:t>nieve</a:t>
            </a:r>
            <a:r>
              <a:rPr dirty="0"/>
              <a:t> de Koch.</a:t>
            </a:r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</a:t>
            </a:r>
            <a:r>
              <a:rPr dirty="0" err="1"/>
              <a:t>Patrones</a:t>
            </a:r>
            <a:r>
              <a:rPr dirty="0"/>
              <a:t> que se </a:t>
            </a:r>
            <a:r>
              <a:rPr dirty="0" err="1"/>
              <a:t>repiten</a:t>
            </a:r>
            <a:r>
              <a:rPr dirty="0"/>
              <a:t> a </a:t>
            </a:r>
            <a:r>
              <a:rPr dirty="0" err="1"/>
              <a:t>distintas</a:t>
            </a:r>
            <a:r>
              <a:rPr dirty="0"/>
              <a:t> </a:t>
            </a:r>
            <a:r>
              <a:rPr dirty="0" err="1"/>
              <a:t>escalas</a:t>
            </a:r>
            <a:r>
              <a:rPr dirty="0"/>
              <a:t>.</a:t>
            </a:r>
            <a:endParaRPr lang="es-MX" dirty="0"/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</a:t>
            </a:r>
            <a:r>
              <a:rPr dirty="0" err="1"/>
              <a:t>Representación</a:t>
            </a:r>
            <a:r>
              <a:rPr dirty="0"/>
              <a:t> </a:t>
            </a:r>
            <a:r>
              <a:rPr dirty="0" err="1"/>
              <a:t>clara</a:t>
            </a:r>
            <a:r>
              <a:rPr dirty="0"/>
              <a:t> de </a:t>
            </a:r>
            <a:r>
              <a:rPr dirty="0" err="1"/>
              <a:t>autosimilitud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E1E1E"/>
                </a:solidFill>
              </a:defRPr>
            </a:pPr>
            <a:r>
              <a:t>Árboles Binarios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Cada </a:t>
            </a:r>
            <a:r>
              <a:rPr dirty="0" err="1"/>
              <a:t>nodo</a:t>
            </a:r>
            <a:r>
              <a:rPr dirty="0"/>
              <a:t> </a:t>
            </a:r>
            <a:r>
              <a:rPr dirty="0" err="1"/>
              <a:t>contiene</a:t>
            </a:r>
            <a:r>
              <a:rPr dirty="0"/>
              <a:t> dos </a:t>
            </a:r>
            <a:r>
              <a:rPr dirty="0" err="1"/>
              <a:t>subárboles</a:t>
            </a:r>
            <a:r>
              <a:rPr dirty="0"/>
              <a:t>.</a:t>
            </a:r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Son </a:t>
            </a:r>
            <a:r>
              <a:rPr dirty="0" err="1"/>
              <a:t>estructuras</a:t>
            </a:r>
            <a:r>
              <a:rPr dirty="0"/>
              <a:t> </a:t>
            </a:r>
            <a:r>
              <a:rPr dirty="0" err="1"/>
              <a:t>naturalmente</a:t>
            </a:r>
            <a:r>
              <a:rPr dirty="0"/>
              <a:t> </a:t>
            </a:r>
            <a:r>
              <a:rPr dirty="0" err="1"/>
              <a:t>recursivas</a:t>
            </a:r>
            <a:r>
              <a:rPr dirty="0"/>
              <a:t>.</a:t>
            </a:r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</a:t>
            </a:r>
            <a:r>
              <a:rPr dirty="0" err="1"/>
              <a:t>Recorridos</a:t>
            </a:r>
            <a:r>
              <a:rPr dirty="0"/>
              <a:t>: </a:t>
            </a:r>
            <a:r>
              <a:rPr dirty="0" err="1"/>
              <a:t>Preorden</a:t>
            </a:r>
            <a:r>
              <a:rPr dirty="0"/>
              <a:t>, </a:t>
            </a:r>
            <a:r>
              <a:rPr dirty="0" err="1"/>
              <a:t>Inorden</a:t>
            </a:r>
            <a:r>
              <a:rPr dirty="0"/>
              <a:t>, </a:t>
            </a:r>
            <a:r>
              <a:rPr dirty="0" err="1"/>
              <a:t>Posorden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E1E1E"/>
                </a:solidFill>
              </a:defRPr>
            </a:pPr>
            <a:r>
              <a:t>Divide y Vencerás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</a:t>
            </a:r>
            <a:r>
              <a:rPr dirty="0" err="1"/>
              <a:t>Problemas</a:t>
            </a:r>
            <a:r>
              <a:rPr dirty="0"/>
              <a:t> </a:t>
            </a:r>
            <a:r>
              <a:rPr dirty="0" err="1"/>
              <a:t>grandes</a:t>
            </a:r>
            <a:r>
              <a:rPr dirty="0"/>
              <a:t> → </a:t>
            </a:r>
            <a:r>
              <a:rPr dirty="0" err="1"/>
              <a:t>subproblemas</a:t>
            </a:r>
            <a:r>
              <a:rPr dirty="0"/>
              <a:t> </a:t>
            </a:r>
            <a:r>
              <a:rPr dirty="0" err="1"/>
              <a:t>pequeños</a:t>
            </a:r>
            <a:r>
              <a:rPr dirty="0"/>
              <a:t>.</a:t>
            </a:r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</a:t>
            </a:r>
            <a:r>
              <a:rPr dirty="0" err="1"/>
              <a:t>Ejemplos</a:t>
            </a:r>
            <a:r>
              <a:rPr dirty="0"/>
              <a:t>: Quicksort, </a:t>
            </a:r>
            <a:r>
              <a:rPr dirty="0" err="1"/>
              <a:t>Mergesort</a:t>
            </a:r>
            <a:r>
              <a:rPr dirty="0"/>
              <a:t>, </a:t>
            </a:r>
            <a:r>
              <a:rPr dirty="0" err="1"/>
              <a:t>Búsqueda</a:t>
            </a:r>
            <a:r>
              <a:rPr dirty="0"/>
              <a:t> </a:t>
            </a:r>
            <a:r>
              <a:rPr dirty="0" err="1"/>
              <a:t>binaria</a:t>
            </a:r>
            <a:r>
              <a:rPr dirty="0"/>
              <a:t>.</a:t>
            </a:r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</a:t>
            </a:r>
            <a:r>
              <a:rPr dirty="0" err="1"/>
              <a:t>Recursividad</a:t>
            </a:r>
            <a:r>
              <a:rPr dirty="0"/>
              <a:t> = clave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rendimiento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E1E1E"/>
                </a:solidFill>
              </a:defRPr>
            </a:pPr>
            <a:r>
              <a:t>Recursividad de Cola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La </a:t>
            </a:r>
            <a:r>
              <a:rPr dirty="0" err="1"/>
              <a:t>llamada</a:t>
            </a:r>
            <a:r>
              <a:rPr dirty="0"/>
              <a:t> </a:t>
            </a:r>
            <a:r>
              <a:rPr dirty="0" err="1"/>
              <a:t>recursiva</a:t>
            </a:r>
            <a:r>
              <a:rPr dirty="0"/>
              <a:t> es la </a:t>
            </a:r>
            <a:r>
              <a:rPr dirty="0" err="1"/>
              <a:t>última</a:t>
            </a:r>
            <a:r>
              <a:rPr dirty="0"/>
              <a:t> </a:t>
            </a:r>
            <a:r>
              <a:rPr dirty="0" err="1"/>
              <a:t>instrucción</a:t>
            </a:r>
            <a:r>
              <a:rPr dirty="0"/>
              <a:t>.</a:t>
            </a:r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optimización</a:t>
            </a:r>
            <a:r>
              <a:rPr dirty="0"/>
              <a:t> de </a:t>
            </a:r>
            <a:r>
              <a:rPr dirty="0" err="1"/>
              <a:t>memoria</a:t>
            </a:r>
            <a:r>
              <a:rPr dirty="0"/>
              <a:t>.</a:t>
            </a:r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No </a:t>
            </a:r>
            <a:r>
              <a:rPr dirty="0" err="1"/>
              <a:t>implementada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Python </a:t>
            </a:r>
            <a:r>
              <a:rPr dirty="0" err="1"/>
              <a:t>pero</a:t>
            </a:r>
            <a:r>
              <a:rPr dirty="0"/>
              <a:t> </a:t>
            </a:r>
            <a:r>
              <a:rPr dirty="0" err="1"/>
              <a:t>útil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otros</a:t>
            </a:r>
            <a:r>
              <a:rPr dirty="0"/>
              <a:t> </a:t>
            </a:r>
            <a:r>
              <a:rPr dirty="0" err="1"/>
              <a:t>lenguajes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E1E1E"/>
                </a:solidFill>
              </a:defRPr>
            </a:pPr>
            <a:r>
              <a:t>Aplicaciones Reales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Web scraping y crawling.</a:t>
            </a:r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</a:t>
            </a:r>
            <a:r>
              <a:rPr dirty="0" err="1"/>
              <a:t>Procesamiento</a:t>
            </a:r>
            <a:r>
              <a:rPr dirty="0"/>
              <a:t> de </a:t>
            </a:r>
            <a:r>
              <a:rPr dirty="0" err="1"/>
              <a:t>imágenes</a:t>
            </a:r>
            <a:r>
              <a:rPr dirty="0"/>
              <a:t>.</a:t>
            </a:r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</a:t>
            </a:r>
            <a:r>
              <a:rPr dirty="0" err="1"/>
              <a:t>Inteligencia</a:t>
            </a:r>
            <a:r>
              <a:rPr dirty="0"/>
              <a:t> artificial y redes.</a:t>
            </a:r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</a:t>
            </a:r>
            <a:r>
              <a:rPr dirty="0" err="1"/>
              <a:t>Compresión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 y </a:t>
            </a:r>
            <a:r>
              <a:rPr dirty="0" err="1"/>
              <a:t>estructuras</a:t>
            </a:r>
            <a:r>
              <a:rPr dirty="0"/>
              <a:t> </a:t>
            </a:r>
            <a:r>
              <a:rPr dirty="0" err="1"/>
              <a:t>jerárquicas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400" b="1">
                <a:solidFill>
                  <a:srgbClr val="1E1E1E"/>
                </a:solidFill>
              </a:defRPr>
            </a:pPr>
            <a:r>
              <a:t>Cuándo NO usar Recursividad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Cuando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solución</a:t>
            </a:r>
            <a:r>
              <a:rPr dirty="0"/>
              <a:t> </a:t>
            </a:r>
            <a:r>
              <a:rPr dirty="0" err="1"/>
              <a:t>iterativa</a:t>
            </a:r>
            <a:r>
              <a:rPr dirty="0"/>
              <a:t> es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eficiente</a:t>
            </a:r>
            <a:r>
              <a:rPr dirty="0"/>
              <a:t>.</a:t>
            </a:r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Cuando la </a:t>
            </a:r>
            <a:r>
              <a:rPr dirty="0" err="1"/>
              <a:t>profundidad</a:t>
            </a:r>
            <a:r>
              <a:rPr dirty="0"/>
              <a:t> es </a:t>
            </a:r>
            <a:r>
              <a:rPr dirty="0" err="1"/>
              <a:t>muy</a:t>
            </a:r>
            <a:r>
              <a:rPr dirty="0"/>
              <a:t> </a:t>
            </a:r>
            <a:r>
              <a:rPr dirty="0" err="1"/>
              <a:t>grande</a:t>
            </a:r>
            <a:r>
              <a:rPr dirty="0"/>
              <a:t>.</a:t>
            </a:r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Si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problema</a:t>
            </a:r>
            <a:r>
              <a:rPr dirty="0"/>
              <a:t> no es </a:t>
            </a:r>
            <a:r>
              <a:rPr dirty="0" err="1"/>
              <a:t>naturalmente</a:t>
            </a:r>
            <a:r>
              <a:rPr dirty="0"/>
              <a:t> </a:t>
            </a:r>
            <a:r>
              <a:rPr dirty="0" err="1"/>
              <a:t>recursivo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E1E1E"/>
                </a:solidFill>
              </a:defRPr>
            </a:pPr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La </a:t>
            </a:r>
            <a:r>
              <a:rPr dirty="0" err="1"/>
              <a:t>recursividad</a:t>
            </a:r>
            <a:r>
              <a:rPr dirty="0"/>
              <a:t> es </a:t>
            </a:r>
            <a:r>
              <a:rPr dirty="0" err="1"/>
              <a:t>poderosa</a:t>
            </a:r>
            <a:r>
              <a:rPr dirty="0"/>
              <a:t> y </a:t>
            </a:r>
            <a:r>
              <a:rPr dirty="0" err="1"/>
              <a:t>versátil</a:t>
            </a:r>
            <a:r>
              <a:rPr dirty="0"/>
              <a:t>.</a:t>
            </a:r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</a:t>
            </a:r>
            <a:r>
              <a:rPr dirty="0" err="1"/>
              <a:t>Permite</a:t>
            </a:r>
            <a:r>
              <a:rPr dirty="0"/>
              <a:t> resolver </a:t>
            </a:r>
            <a:r>
              <a:rPr dirty="0" err="1"/>
              <a:t>problemas</a:t>
            </a:r>
            <a:r>
              <a:rPr dirty="0"/>
              <a:t> </a:t>
            </a:r>
            <a:r>
              <a:rPr dirty="0" err="1"/>
              <a:t>complejos</a:t>
            </a:r>
            <a:r>
              <a:rPr dirty="0"/>
              <a:t> con </a:t>
            </a:r>
            <a:r>
              <a:rPr dirty="0" err="1"/>
              <a:t>soluciones</a:t>
            </a:r>
            <a:r>
              <a:rPr dirty="0"/>
              <a:t> elegantes.</a:t>
            </a:r>
          </a:p>
          <a:p>
            <a:pPr marL="0" indent="0">
              <a:buNone/>
              <a:defRPr sz="2400">
                <a:solidFill>
                  <a:srgbClr val="3C3C3C"/>
                </a:solidFill>
              </a:defRPr>
            </a:pPr>
            <a:r>
              <a:rPr dirty="0"/>
              <a:t>• Es fundamental </a:t>
            </a:r>
            <a:r>
              <a:rPr dirty="0" err="1"/>
              <a:t>comprenderla</a:t>
            </a:r>
            <a:r>
              <a:rPr dirty="0"/>
              <a:t> para </a:t>
            </a:r>
            <a:r>
              <a:rPr dirty="0" err="1"/>
              <a:t>algoritmos</a:t>
            </a:r>
            <a:r>
              <a:rPr dirty="0"/>
              <a:t> y </a:t>
            </a:r>
            <a:r>
              <a:rPr dirty="0" err="1"/>
              <a:t>estructuras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A635C4-750B-DAC0-F12E-D0C8E2651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FUENTES DE INFORMACION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397847F-05D0-B615-60A6-3FBB07F39D79}"/>
              </a:ext>
            </a:extLst>
          </p:cNvPr>
          <p:cNvSpPr txBox="1"/>
          <p:nvPr/>
        </p:nvSpPr>
        <p:spPr>
          <a:xfrm>
            <a:off x="554804" y="2383604"/>
            <a:ext cx="817823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 Recursividad. (s. f.). El Libro de Python. https://ellibrodepython.com/recursividad </a:t>
            </a:r>
          </a:p>
          <a:p>
            <a:endParaRPr lang="es-MX" dirty="0"/>
          </a:p>
          <a:p>
            <a:r>
              <a:rPr lang="es-MX" dirty="0"/>
              <a:t>¿Cómo funciona la recursión y cuáles son sus ventajas? | Lenovo España. (2023, 28 mayo). https://www.lenovo.com/es/es/glossary/recursion/?orgRef=https%253A%252F%252Fwww.google.com%252F&amp;srsltid=AfmBOoql63Sn_iWk_hrYNwM0YspOSqayfrydYbRd5XAKnzVKQ8WRZo9a </a:t>
            </a:r>
          </a:p>
          <a:p>
            <a:endParaRPr lang="es-MX" dirty="0"/>
          </a:p>
          <a:p>
            <a:r>
              <a:rPr lang="es-MX" dirty="0"/>
              <a:t>Recursividad –  acervo para el mejoramiento del aprendizaje de alumnos de  ingeniería, en Inteligencia Artificial. (s. f.). https://virtual.cuautitlan.unam.mx/intar/?page_id=185</a:t>
            </a:r>
          </a:p>
        </p:txBody>
      </p:sp>
    </p:spTree>
    <p:extLst>
      <p:ext uri="{BB962C8B-B14F-4D97-AF65-F5344CB8AC3E}">
        <p14:creationId xmlns:p14="http://schemas.microsoft.com/office/powerpoint/2010/main" val="1798274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610A98-AC76-E08C-2CDF-25B393418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Link anexado de GitHub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C83DB2-38F9-6897-37F8-2A670F481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sz="1600" dirty="0"/>
              <a:t>https://github.com/Cynthia21Morales/EstructuraDeDatos_CynthiaJasmineMT/blob/main/Unidad%202/2.1%20PRESENTACION%20ELECTRONICA-CYNTHIA%20JASMINE%20MORALES%20TORRES.pptx</a:t>
            </a:r>
          </a:p>
        </p:txBody>
      </p:sp>
    </p:spTree>
    <p:extLst>
      <p:ext uri="{BB962C8B-B14F-4D97-AF65-F5344CB8AC3E}">
        <p14:creationId xmlns:p14="http://schemas.microsoft.com/office/powerpoint/2010/main" val="8835474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ánico">
  <a:themeElements>
    <a:clrScheme name="Orgá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4"/>
      </a:accent6>
      <a:hlink>
        <a:srgbClr val="BB7826"/>
      </a:hlink>
      <a:folHlink>
        <a:srgbClr val="CF9C5F"/>
      </a:folHlink>
    </a:clrScheme>
    <a:fontScheme name="Orgá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á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15</TotalTime>
  <Words>573</Words>
  <Application>Microsoft Office PowerPoint</Application>
  <PresentationFormat>Presentación en pantalla (4:3)</PresentationFormat>
  <Paragraphs>89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Arial Black</vt:lpstr>
      <vt:lpstr>Bahnschrift</vt:lpstr>
      <vt:lpstr>Garamond</vt:lpstr>
      <vt:lpstr>Orgánico</vt:lpstr>
      <vt:lpstr>Presentación: Recursividad</vt:lpstr>
      <vt:lpstr>Presentación de PowerPoint</vt:lpstr>
      <vt:lpstr>Introducción</vt:lpstr>
      <vt:lpstr>¿Qué es la Recursividad?</vt:lpstr>
      <vt:lpstr>Importancia del Caso Base</vt:lpstr>
      <vt:lpstr>Ejemplo: Factorial</vt:lpstr>
      <vt:lpstr>Ejemplo: Serie de Fibonacci</vt:lpstr>
      <vt:lpstr>Recursividad en Fractales</vt:lpstr>
      <vt:lpstr>Árboles Binarios</vt:lpstr>
      <vt:lpstr>Divide y Vencerás</vt:lpstr>
      <vt:lpstr>Recursividad de Cola</vt:lpstr>
      <vt:lpstr>Aplicaciones Reales</vt:lpstr>
      <vt:lpstr>Cuándo NO usar Recursividad</vt:lpstr>
      <vt:lpstr>Conclusión</vt:lpstr>
      <vt:lpstr>FUENTES DE INFORMACION</vt:lpstr>
      <vt:lpstr>Link anexado de GitHub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 840 G5</dc:creator>
  <cp:keywords/>
  <dc:description>generated using python-pptx</dc:description>
  <cp:lastModifiedBy>HP 840 G5</cp:lastModifiedBy>
  <cp:revision>4</cp:revision>
  <dcterms:created xsi:type="dcterms:W3CDTF">2013-01-27T09:14:16Z</dcterms:created>
  <dcterms:modified xsi:type="dcterms:W3CDTF">2025-11-25T04:04:37Z</dcterms:modified>
  <cp:category/>
</cp:coreProperties>
</file>